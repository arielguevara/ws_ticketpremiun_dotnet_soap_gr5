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8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sldSz cx="12192000" cy="6858000"/>
  <p:notesSz cx="6858000" cy="9144000"/>
  <p:embeddedFontLst>
    <p:embeddedFont>
      <p:font typeface="Cambria" panose="02040503050406030204" pitchFamily="18" charset="0"/>
      <p:regular r:id="rId84"/>
      <p:bold r:id="rId85"/>
      <p:italic r:id="rId86"/>
      <p:boldItalic r:id="rId87"/>
    </p:embeddedFont>
    <p:embeddedFont>
      <p:font typeface="Gill Sans" panose="020B0604020202020204" charset="0"/>
      <p:regular r:id="rId88"/>
      <p:bold r:id="rId8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0F2D98E-0062-4CEB-BF75-F90E3C6509C4}">
  <a:tblStyle styleId="{00F2D98E-0062-4CEB-BF75-F90E3C6509C4}"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fntdata"/><Relationship Id="rId89" Type="http://schemas.openxmlformats.org/officeDocument/2006/relationships/font" Target="fonts/font6.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font" Target="fonts/font2.fntdata"/><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font" Target="fonts/font5.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4.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e161cd6eb5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g3e161cd6eb5_0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e15f6a6439_0_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g3e15f6a6439_0_4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e15f6a6439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g3e15f6a6439_0_5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e15f6a6439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g3e15f6a6439_0_6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e161cd6eb5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6" name="Google Shape;176;g3e161cd6eb5_0_3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a854b3d550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4" name="Google Shape;184;g3a854b3d550_0_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a854b3d550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2" name="Google Shape;192;g3a854b3d550_0_1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a854b3d550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g3a854b3d550_0_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e161cd6eb5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8" name="Google Shape;208;g3e161cd6eb5_0_3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e15f6a6439_0_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6" name="Google Shape;216;g3e15f6a6439_0_8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a854b3d550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4" name="Google Shape;224;g3a854b3d550_0_3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e15f6a6439_0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2" name="Google Shape;232;g3e15f6a6439_0_1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e161cd6eb5_0_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1" name="Google Shape;241;g3e161cd6eb5_0_9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e161cd6eb5_0_1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1" name="Google Shape;251;g3e161cd6eb5_0_11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e161cd6eb5_0_1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0" name="Google Shape;260;g3e161cd6eb5_0_1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e161cd6eb5_0_1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9" name="Google Shape;269;g3e161cd6eb5_0_13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e161cd6eb5_0_1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9" name="Google Shape;279;g3e161cd6eb5_0_14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e161cd6eb5_0_1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8" name="Google Shape;288;g3e161cd6eb5_0_16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e161cd6eb5_0_1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8" name="Google Shape;298;g3e161cd6eb5_0_17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7" name="Google Shape;307;p4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a8551b4d4b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a8551b4d4b_1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2" name="Google Shape;322;g3a8551b4d4b_1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a8551b4d4b_1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0" name="Google Shape;330;g3a8551b4d4b_1_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a8551b4d4b_1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8" name="Google Shape;338;g3a8551b4d4b_1_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a8551b4d4b_1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6" name="Google Shape;346;g3a8551b4d4b_1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a8551b4d4b_1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4" name="Google Shape;354;g3a8551b4d4b_1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a8551b4d4b_1_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2" name="Google Shape;362;g3a8551b4d4b_1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a8551b4d4b_1_4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0" name="Google Shape;370;g3a8551b4d4b_1_4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3a8551b4d4b_1_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8" name="Google Shape;378;g3a8551b4d4b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3a8551b4d4b_1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7" name="Google Shape;387;g3a8551b4d4b_1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3a8551b4d4b_1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5" name="Google Shape;395;g3a8551b4d4b_1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3a8551b4d4b_1_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4" name="Google Shape;404;g3a8551b4d4b_1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3a8551b4d4b_1_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2" name="Google Shape;412;g3a8551b4d4b_1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3a8551b4d4b_1_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0" name="Google Shape;420;g3a8551b4d4b_1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3a8551b4d4b_1_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8" name="Google Shape;428;g3a8551b4d4b_1_9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a8551b4d4b_1_1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6" name="Google Shape;436;g3a8551b4d4b_1_10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3a8551b4d4b_1_1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5" name="Google Shape;445;g3a8551b4d4b_1_10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a8551b4d4b_1_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4" name="Google Shape;454;g3a8551b4d4b_1_11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3a8551b4d4b_1_1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3" name="Google Shape;463;g3a8551b4d4b_1_12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3a8551b4d4b_1_1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2" name="Google Shape;472;g3a8551b4d4b_1_13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3a8551b4d4b_1_1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1" name="Google Shape;481;g3a8551b4d4b_1_14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3a8551b4d4b_1_1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a8551b4d4b_1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3a8551b4d4b_1_1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7" name="Google Shape;497;g3a8551b4d4b_1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3a8551b4d4b_1_1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5" name="Google Shape;505;g3a8551b4d4b_1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a8551b4d4b_1_1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3" name="Google Shape;513;g3a8551b4d4b_1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3a8551b4d4b_1_1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1" name="Google Shape;521;g3a8551b4d4b_1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3a8551b4d4b_1_1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9" name="Google Shape;529;g3a8551b4d4b_1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3a8551b4d4b_1_1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7" name="Google Shape;537;g3a8551b4d4b_1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3a8551b4d4b_1_1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5" name="Google Shape;545;g3a8551b4d4b_1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3a8551b4d4b_1_2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3" name="Google Shape;553;g3a8551b4d4b_1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3a8551b4d4b_1_2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1" name="Google Shape;561;g3a8551b4d4b_1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3a8551b4d4b_1_2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9" name="Google Shape;569;g3a8551b4d4b_1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3a8551b4d4b_1_2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7" name="Google Shape;577;g3a8551b4d4b_1_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3a8551b4d4b_1_2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5" name="Google Shape;585;g3a8551b4d4b_1_2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3a8551b4d4b_1_2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3" name="Google Shape;593;g3a8551b4d4b_1_2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3a8551b4d4b_1_2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1" name="Google Shape;601;g3a8551b4d4b_1_24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g3a8551b4d4b_1_2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1" name="Google Shape;611;g3a8551b4d4b_1_25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3a8551b4d4b_1_2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9" name="Google Shape;619;g3a8551b4d4b_1_26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3a8551b4d4b_1_2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7" name="Google Shape;627;g3a8551b4d4b_1_26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3a8551b4d4b_1_2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5" name="Google Shape;635;g3a8551b4d4b_1_27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3a8551b4d4b_1_2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3" name="Google Shape;643;g3a8551b4d4b_1_28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3a8551b4d4b_1_2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1" name="Google Shape;651;g3a8551b4d4b_1_28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3a8551b4d4b_1_2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9" name="Google Shape;659;g3a8551b4d4b_1_29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3a8551b4d4b_1_3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8" name="Google Shape;668;g3a8551b4d4b_1_30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3a8551b4d4b_1_3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6" name="Google Shape;676;g3a8551b4d4b_1_31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3a8551b4d4b_1_3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4" name="Google Shape;684;g3a8551b4d4b_1_31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g3a8551b4d4b_1_3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2" name="Google Shape;692;g3a8551b4d4b_1_32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3a8551b4d4b_1_3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00" name="Google Shape;700;g3a8551b4d4b_1_33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3a8551b4d4b_1_3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08" name="Google Shape;708;g3a8551b4d4b_1_33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3a8551b4d4b_1_3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18" name="Google Shape;718;g3a8551b4d4b_1_34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3a8551b4d4b_1_3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26" name="Google Shape;726;g3a8551b4d4b_1_35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g3a8551b4d4b_1_3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34" name="Google Shape;734;g3a8551b4d4b_1_36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3a8551b4d4b_1_3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42" name="Google Shape;742;g3a8551b4d4b_1_36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3a8551b4d4b_1_3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50" name="Google Shape;750;g3a8551b4d4b_1_37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58" name="Google Shape;758;p4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4"/>
        <p:cNvGrpSpPr/>
        <p:nvPr/>
      </p:nvGrpSpPr>
      <p:grpSpPr>
        <a:xfrm>
          <a:off x="0" y="0"/>
          <a:ext cx="0" cy="0"/>
          <a:chOff x="0" y="0"/>
          <a:chExt cx="0" cy="0"/>
        </a:xfrm>
      </p:grpSpPr>
      <p:sp>
        <p:nvSpPr>
          <p:cNvPr id="15" name="Google Shape;15;p2"/>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18" name="Google Shape;18;p2"/>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5" name="Google Shape;25;p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8"/>
        <p:cNvGrpSpPr/>
        <p:nvPr/>
      </p:nvGrpSpPr>
      <p:grpSpPr>
        <a:xfrm>
          <a:off x="0" y="0"/>
          <a:ext cx="0" cy="0"/>
          <a:chOff x="0" y="0"/>
          <a:chExt cx="0" cy="0"/>
        </a:xfrm>
      </p:grpSpPr>
      <p:sp>
        <p:nvSpPr>
          <p:cNvPr id="29" name="Google Shape;29;p4"/>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2" name="Google Shape;32;p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5"/>
        <p:cNvGrpSpPr/>
        <p:nvPr/>
      </p:nvGrpSpPr>
      <p:grpSpPr>
        <a:xfrm>
          <a:off x="0" y="0"/>
          <a:ext cx="0" cy="0"/>
          <a:chOff x="0" y="0"/>
          <a:chExt cx="0" cy="0"/>
        </a:xfrm>
      </p:grpSpPr>
      <p:sp>
        <p:nvSpPr>
          <p:cNvPr id="36" name="Google Shape;36;p5"/>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5"/>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39" name="Google Shape;39;p5"/>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0" name="Google Shape;40;p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3"/>
        <p:cNvGrpSpPr/>
        <p:nvPr/>
      </p:nvGrpSpPr>
      <p:grpSpPr>
        <a:xfrm>
          <a:off x="0" y="0"/>
          <a:ext cx="0" cy="0"/>
          <a:chOff x="0" y="0"/>
          <a:chExt cx="0" cy="0"/>
        </a:xfrm>
      </p:grpSpPr>
      <p:sp>
        <p:nvSpPr>
          <p:cNvPr id="44" name="Google Shape;44;p6"/>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6"/>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7" name="Google Shape;47;p6"/>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8" name="Google Shape;48;p6"/>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9" name="Google Shape;49;p6"/>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0" name="Google Shape;50;p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57" name="Google Shape;57;p7"/>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7"/>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9"/>
        <p:cNvGrpSpPr/>
        <p:nvPr/>
      </p:nvGrpSpPr>
      <p:grpSpPr>
        <a:xfrm>
          <a:off x="0" y="0"/>
          <a:ext cx="0" cy="0"/>
          <a:chOff x="0" y="0"/>
          <a:chExt cx="0" cy="0"/>
        </a:xfrm>
      </p:grpSpPr>
      <p:sp>
        <p:nvSpPr>
          <p:cNvPr id="60" name="Google Shape;60;p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3"/>
        <p:cNvGrpSpPr/>
        <p:nvPr/>
      </p:nvGrpSpPr>
      <p:grpSpPr>
        <a:xfrm>
          <a:off x="0" y="0"/>
          <a:ext cx="0" cy="0"/>
          <a:chOff x="0" y="0"/>
          <a:chExt cx="0" cy="0"/>
        </a:xfrm>
      </p:grpSpPr>
      <p:sp>
        <p:nvSpPr>
          <p:cNvPr id="64" name="Google Shape;64;p9"/>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9"/>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9"/>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67" name="Google Shape;67;p9"/>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68" name="Google Shape;68;p9"/>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0"/>
          <p:cNvSpPr>
            <a:spLocks noGrp="1"/>
          </p:cNvSpPr>
          <p:nvPr>
            <p:ph type="pic" idx="2"/>
          </p:nvPr>
        </p:nvSpPr>
        <p:spPr>
          <a:xfrm>
            <a:off x="447817" y="599725"/>
            <a:ext cx="11290859" cy="3557252"/>
          </a:xfrm>
          <a:prstGeom prst="rect">
            <a:avLst/>
          </a:prstGeom>
          <a:noFill/>
          <a:ln>
            <a:noFill/>
          </a:ln>
        </p:spPr>
      </p:sp>
      <p:sp>
        <p:nvSpPr>
          <p:cNvPr id="74" name="Google Shape;74;p10"/>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5" name="Google Shape;75;p1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8"/>
        <p:cNvGrpSpPr/>
        <p:nvPr/>
      </p:nvGrpSpPr>
      <p:grpSpPr>
        <a:xfrm>
          <a:off x="0" y="0"/>
          <a:ext cx="0" cy="0"/>
          <a:chOff x="0" y="0"/>
          <a:chExt cx="0" cy="0"/>
        </a:xfrm>
      </p:grpSpPr>
      <p:sp>
        <p:nvSpPr>
          <p:cNvPr id="79" name="Google Shape;79;p11"/>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1"/>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1"/>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4"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2" name="Google Shape;82;p1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5"/>
        <p:cNvGrpSpPr/>
        <p:nvPr/>
      </p:nvGrpSpPr>
      <p:grpSpPr>
        <a:xfrm>
          <a:off x="0" y="0"/>
          <a:ext cx="0" cy="0"/>
          <a:chOff x="0" y="0"/>
          <a:chExt cx="0" cy="0"/>
        </a:xfrm>
      </p:grpSpPr>
      <p:sp>
        <p:nvSpPr>
          <p:cNvPr id="86" name="Google Shape;86;p12"/>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2"/>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2"/>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9" name="Google Shape;89;p12"/>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2"/>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2"/>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4"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8" name="Google Shape;8;p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9" name="Google Shape;9;p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0" name="Google Shape;10;p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1" name="Google Shape;11;p1"/>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1"/>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3"/>
          <p:cNvSpPr txBox="1">
            <a:spLocks noGrp="1"/>
          </p:cNvSpPr>
          <p:nvPr>
            <p:ph type="ctrTitle"/>
          </p:nvPr>
        </p:nvSpPr>
        <p:spPr>
          <a:xfrm>
            <a:off x="599226" y="3158569"/>
            <a:ext cx="10993549" cy="1578409"/>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100000"/>
              </a:lnSpc>
              <a:spcBef>
                <a:spcPts val="0"/>
              </a:spcBef>
              <a:spcAft>
                <a:spcPts val="0"/>
              </a:spcAft>
              <a:buClr>
                <a:schemeClr val="lt1"/>
              </a:buClr>
              <a:buSzPts val="3600"/>
              <a:buFont typeface="Gill Sans"/>
              <a:buNone/>
            </a:pPr>
            <a:r>
              <a:rPr lang="es-ES" dirty="0">
                <a:solidFill>
                  <a:schemeClr val="lt1"/>
                </a:solidFill>
              </a:rPr>
              <a:t>MANUAL</a:t>
            </a:r>
            <a:br>
              <a:rPr lang="es-ES" dirty="0">
                <a:solidFill>
                  <a:schemeClr val="lt1"/>
                </a:solidFill>
              </a:rPr>
            </a:br>
            <a:r>
              <a:rPr lang="es-ES" dirty="0">
                <a:solidFill>
                  <a:schemeClr val="lt1"/>
                </a:solidFill>
              </a:rPr>
              <a:t>SISTEMA TICKET PREMIUM MONSTER CON SOAP CON BDD LOCAL EN DOTNET</a:t>
            </a:r>
            <a:endParaRPr dirty="0"/>
          </a:p>
        </p:txBody>
      </p:sp>
      <p:sp>
        <p:nvSpPr>
          <p:cNvPr id="97" name="Google Shape;97;p13"/>
          <p:cNvSpPr txBox="1">
            <a:spLocks noGrp="1"/>
          </p:cNvSpPr>
          <p:nvPr>
            <p:ph type="subTitle" idx="1"/>
          </p:nvPr>
        </p:nvSpPr>
        <p:spPr>
          <a:xfrm>
            <a:off x="535852" y="5160475"/>
            <a:ext cx="4261500" cy="18129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472"/>
              <a:buFont typeface="Arial"/>
              <a:buNone/>
            </a:pPr>
            <a:endParaRPr b="1" dirty="0">
              <a:solidFill>
                <a:schemeClr val="lt1"/>
              </a:solidFill>
            </a:endParaRPr>
          </a:p>
          <a:p>
            <a:pPr marL="0" lvl="0" indent="0" algn="l" rtl="0">
              <a:spcBef>
                <a:spcPts val="920"/>
              </a:spcBef>
              <a:spcAft>
                <a:spcPts val="0"/>
              </a:spcAft>
              <a:buClr>
                <a:schemeClr val="dk1"/>
              </a:buClr>
              <a:buSzPts val="1472"/>
              <a:buFont typeface="Arial"/>
              <a:buNone/>
            </a:pPr>
            <a:r>
              <a:rPr lang="es-ES" b="1" dirty="0">
                <a:solidFill>
                  <a:schemeClr val="lt1"/>
                </a:solidFill>
              </a:rPr>
              <a:t>INTEGRANTES:</a:t>
            </a:r>
            <a:r>
              <a:rPr lang="es-ES" dirty="0">
                <a:solidFill>
                  <a:schemeClr val="lt1"/>
                </a:solidFill>
              </a:rPr>
              <a:t> 	BENAVIDES RUBEN			GUEVARA ARIEL			MUNARCO JHON</a:t>
            </a:r>
            <a:endParaRPr b="1" dirty="0">
              <a:solidFill>
                <a:schemeClr val="lt1"/>
              </a:solidFill>
            </a:endParaRPr>
          </a:p>
        </p:txBody>
      </p:sp>
      <p:pic>
        <p:nvPicPr>
          <p:cNvPr id="98" name="Google Shape;98;p13"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99" name="Google Shape;99;p13"/>
          <p:cNvSpPr txBox="1"/>
          <p:nvPr/>
        </p:nvSpPr>
        <p:spPr>
          <a:xfrm>
            <a:off x="9037063" y="5301801"/>
            <a:ext cx="4261531" cy="1235358"/>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4590B8"/>
              </a:buClr>
              <a:buSzPts val="1472"/>
              <a:buFont typeface="Noto Sans Symbols"/>
              <a:buNone/>
            </a:pPr>
            <a:r>
              <a:rPr lang="es-ES" sz="1600" b="1" i="0" u="none" strike="noStrike" cap="none" dirty="0">
                <a:solidFill>
                  <a:srgbClr val="FFFFFF"/>
                </a:solidFill>
                <a:latin typeface="Gill Sans"/>
                <a:ea typeface="Gill Sans"/>
                <a:cs typeface="Gill Sans"/>
                <a:sym typeface="Gill Sans"/>
              </a:rPr>
              <a:t>FECHA:  </a:t>
            </a:r>
            <a:r>
              <a:rPr lang="es-ES" sz="1600" b="1" dirty="0">
                <a:solidFill>
                  <a:srgbClr val="FFFFFF"/>
                </a:solidFill>
                <a:latin typeface="Gill Sans"/>
                <a:ea typeface="Gill Sans"/>
                <a:cs typeface="Gill Sans"/>
                <a:sym typeface="Gill Sans"/>
              </a:rPr>
              <a:t>19</a:t>
            </a:r>
            <a:r>
              <a:rPr lang="es-ES" sz="1600" b="1" i="0" u="none" strike="noStrike" cap="none" dirty="0">
                <a:solidFill>
                  <a:srgbClr val="FFFFFF"/>
                </a:solidFill>
                <a:latin typeface="Gill Sans"/>
                <a:ea typeface="Gill Sans"/>
                <a:cs typeface="Gill Sans"/>
                <a:sym typeface="Gill Sans"/>
              </a:rPr>
              <a:t>/</a:t>
            </a:r>
            <a:r>
              <a:rPr lang="es-ES" sz="1600" b="1" dirty="0">
                <a:solidFill>
                  <a:srgbClr val="FFFFFF"/>
                </a:solidFill>
                <a:latin typeface="Gill Sans"/>
                <a:ea typeface="Gill Sans"/>
                <a:cs typeface="Gill Sans"/>
                <a:sym typeface="Gill Sans"/>
              </a:rPr>
              <a:t>05</a:t>
            </a:r>
            <a:r>
              <a:rPr lang="es-ES" sz="1600" b="1" i="0" u="none" strike="noStrike" cap="none" dirty="0">
                <a:solidFill>
                  <a:srgbClr val="FFFFFF"/>
                </a:solidFill>
                <a:latin typeface="Gill Sans"/>
                <a:ea typeface="Gill Sans"/>
                <a:cs typeface="Gill Sans"/>
                <a:sym typeface="Gill Sans"/>
              </a:rPr>
              <a:t>/202</a:t>
            </a:r>
            <a:r>
              <a:rPr lang="es-ES" sz="1600" b="1" dirty="0">
                <a:solidFill>
                  <a:srgbClr val="FFFFFF"/>
                </a:solidFill>
                <a:latin typeface="Gill Sans"/>
                <a:ea typeface="Gill Sans"/>
                <a:cs typeface="Gill Sans"/>
                <a:sym typeface="Gill Sans"/>
              </a:rPr>
              <a:t>6</a:t>
            </a:r>
            <a:endParaRPr sz="1600" b="0" i="0" u="none" strike="noStrike" cap="none" dirty="0">
              <a:solidFill>
                <a:srgbClr val="FFFFFF"/>
              </a:solidFill>
              <a:latin typeface="Gill Sans"/>
              <a:ea typeface="Gill Sans"/>
              <a:cs typeface="Gill Sans"/>
              <a:sym typeface="Gill Sans"/>
            </a:endParaRPr>
          </a:p>
          <a:p>
            <a:pPr marL="0" marR="0" lvl="0" indent="0" algn="l" rtl="0">
              <a:lnSpc>
                <a:spcPct val="100000"/>
              </a:lnSpc>
              <a:spcBef>
                <a:spcPts val="920"/>
              </a:spcBef>
              <a:spcAft>
                <a:spcPts val="0"/>
              </a:spcAft>
              <a:buClr>
                <a:srgbClr val="4590B8"/>
              </a:buClr>
              <a:buSzPts val="1472"/>
              <a:buFont typeface="Noto Sans Symbols"/>
              <a:buNone/>
            </a:pPr>
            <a:r>
              <a:rPr lang="es-ES" sz="1600" b="1" i="0" u="none" strike="noStrike" cap="none" dirty="0">
                <a:solidFill>
                  <a:srgbClr val="FFFFFF"/>
                </a:solidFill>
                <a:latin typeface="Gill Sans"/>
                <a:ea typeface="Gill Sans"/>
                <a:cs typeface="Gill Sans"/>
                <a:sym typeface="Gill Sans"/>
              </a:rPr>
              <a:t>ING: </a:t>
            </a:r>
            <a:r>
              <a:rPr lang="es-ES" sz="1600" b="0" i="0" u="none" strike="noStrike" cap="none" dirty="0">
                <a:solidFill>
                  <a:srgbClr val="FFFFFF"/>
                </a:solidFill>
                <a:latin typeface="Gill Sans"/>
                <a:ea typeface="Gill Sans"/>
                <a:cs typeface="Gill Sans"/>
                <a:sym typeface="Gill Sans"/>
              </a:rPr>
              <a:t>CAMPAÑA MAURICIO</a:t>
            </a:r>
            <a:endParaRPr sz="1600" b="1" i="0" u="none" strike="noStrike" cap="none" dirty="0">
              <a:solidFill>
                <a:srgbClr val="FFFFFF"/>
              </a:solidFill>
              <a:latin typeface="Gill Sans"/>
              <a:ea typeface="Gill Sans"/>
              <a:cs typeface="Gill Sans"/>
              <a:sym typeface="Gill Sans"/>
            </a:endParaRPr>
          </a:p>
        </p:txBody>
      </p:sp>
      <p:sp>
        <p:nvSpPr>
          <p:cNvPr id="100" name="Google Shape;100;p13"/>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
        <p:cNvGrpSpPr/>
        <p:nvPr/>
      </p:nvGrpSpPr>
      <p:grpSpPr>
        <a:xfrm>
          <a:off x="0" y="0"/>
          <a:ext cx="0" cy="0"/>
          <a:chOff x="0" y="0"/>
          <a:chExt cx="0" cy="0"/>
        </a:xfrm>
      </p:grpSpPr>
      <p:sp>
        <p:nvSpPr>
          <p:cNvPr id="105" name="Google Shape;105;p14"/>
          <p:cNvSpPr/>
          <p:nvPr/>
        </p:nvSpPr>
        <p:spPr>
          <a:xfrm>
            <a:off x="0" y="614406"/>
            <a:ext cx="12192000" cy="62435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Gill Sans"/>
              <a:buNone/>
            </a:pPr>
            <a:endParaRPr sz="1800" b="0" i="0" u="none" strike="noStrike" cap="none">
              <a:solidFill>
                <a:srgbClr val="FFFFFF"/>
              </a:solidFill>
              <a:latin typeface="Gill Sans"/>
              <a:ea typeface="Gill Sans"/>
              <a:cs typeface="Gill Sans"/>
              <a:sym typeface="Gill Sans"/>
            </a:endParaRPr>
          </a:p>
        </p:txBody>
      </p:sp>
      <p:sp>
        <p:nvSpPr>
          <p:cNvPr id="106" name="Google Shape;106;p14"/>
          <p:cNvSpPr/>
          <p:nvPr/>
        </p:nvSpPr>
        <p:spPr>
          <a:xfrm>
            <a:off x="442377" y="614407"/>
            <a:ext cx="3707477" cy="561177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07" name="Google Shape;107;p14"/>
          <p:cNvSpPr txBox="1">
            <a:spLocks noGrp="1"/>
          </p:cNvSpPr>
          <p:nvPr>
            <p:ph type="body" idx="1"/>
          </p:nvPr>
        </p:nvSpPr>
        <p:spPr>
          <a:xfrm>
            <a:off x="596348" y="701336"/>
            <a:ext cx="3389726" cy="5424255"/>
          </a:xfrm>
          <a:prstGeom prst="rect">
            <a:avLst/>
          </a:prstGeom>
          <a:noFill/>
          <a:ln>
            <a:noFill/>
          </a:ln>
        </p:spPr>
        <p:txBody>
          <a:bodyPr spcFirstLastPara="1" wrap="square" lIns="91425" tIns="45700" rIns="91425" bIns="45700" anchor="ctr" anchorCtr="0">
            <a:normAutofit lnSpcReduction="10000"/>
          </a:bodyPr>
          <a:lstStyle/>
          <a:p>
            <a:pPr marL="306000" lvl="0" indent="-306000" algn="l" rtl="0">
              <a:lnSpc>
                <a:spcPct val="100000"/>
              </a:lnSpc>
              <a:spcBef>
                <a:spcPts val="0"/>
              </a:spcBef>
              <a:spcAft>
                <a:spcPts val="0"/>
              </a:spcAft>
              <a:buSzPts val="1656"/>
              <a:buChar char="◼"/>
            </a:pPr>
            <a:r>
              <a:rPr lang="es-ES">
                <a:solidFill>
                  <a:schemeClr val="lt1"/>
                </a:solidFill>
              </a:rPr>
              <a:t>DESARROLLO</a:t>
            </a:r>
            <a:endParaRPr/>
          </a:p>
          <a:p>
            <a:pPr marL="630000" lvl="1" indent="-320020" algn="l" rtl="0">
              <a:lnSpc>
                <a:spcPct val="100000"/>
              </a:lnSpc>
              <a:spcBef>
                <a:spcPts val="872"/>
              </a:spcBef>
              <a:spcAft>
                <a:spcPts val="0"/>
              </a:spcAft>
              <a:buSzPts val="1472"/>
              <a:buChar char="◼"/>
            </a:pPr>
            <a:r>
              <a:rPr lang="es-ES">
                <a:solidFill>
                  <a:schemeClr val="lt1"/>
                </a:solidFill>
              </a:rPr>
              <a:t>OBJETIVO</a:t>
            </a:r>
            <a:endParaRPr/>
          </a:p>
          <a:p>
            <a:pPr marL="630000" lvl="1" indent="-320020" algn="l" rtl="0">
              <a:lnSpc>
                <a:spcPct val="100000"/>
              </a:lnSpc>
              <a:spcBef>
                <a:spcPts val="872"/>
              </a:spcBef>
              <a:spcAft>
                <a:spcPts val="0"/>
              </a:spcAft>
              <a:buSzPts val="1472"/>
              <a:buChar char="◼"/>
            </a:pPr>
            <a:r>
              <a:rPr lang="es-ES">
                <a:solidFill>
                  <a:schemeClr val="lt1"/>
                </a:solidFill>
              </a:rPr>
              <a:t>CREACIÓN DEL SERVIDOR SOAP</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CONSOLA</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ESCRITORIO</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WEB</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MÓVIL</a:t>
            </a:r>
            <a:endParaRPr/>
          </a:p>
          <a:p>
            <a:pPr marL="306000" marR="0" lvl="0" indent="-306000" algn="l" rtl="0">
              <a:lnSpc>
                <a:spcPct val="100000"/>
              </a:lnSpc>
              <a:spcBef>
                <a:spcPts val="906"/>
              </a:spcBef>
              <a:spcAft>
                <a:spcPts val="0"/>
              </a:spcAft>
              <a:buSzPts val="1656"/>
              <a:buChar char="◼"/>
            </a:pPr>
            <a:r>
              <a:rPr lang="es-ES">
                <a:solidFill>
                  <a:schemeClr val="lt1"/>
                </a:solidFill>
              </a:rPr>
              <a:t>CONCLUSIONES</a:t>
            </a:r>
            <a:endParaRPr/>
          </a:p>
          <a:p>
            <a:pPr marL="306000" marR="0" lvl="0" indent="-306000" algn="l" rtl="0">
              <a:lnSpc>
                <a:spcPct val="100000"/>
              </a:lnSpc>
              <a:spcBef>
                <a:spcPts val="906"/>
              </a:spcBef>
              <a:spcAft>
                <a:spcPts val="0"/>
              </a:spcAft>
              <a:buSzPts val="1656"/>
              <a:buChar char="◼"/>
            </a:pPr>
            <a:r>
              <a:rPr lang="es-ES">
                <a:solidFill>
                  <a:schemeClr val="lt1"/>
                </a:solidFill>
              </a:rPr>
              <a:t>RECOMENDACIONES</a:t>
            </a:r>
            <a:endParaRPr/>
          </a:p>
        </p:txBody>
      </p:sp>
      <p:pic>
        <p:nvPicPr>
          <p:cNvPr id="108" name="Google Shape;108;p14" descr="Resultado de imagen para AGENDA PNG"/>
          <p:cNvPicPr preferRelativeResize="0"/>
          <p:nvPr/>
        </p:nvPicPr>
        <p:blipFill rotWithShape="1">
          <a:blip r:embed="rId3">
            <a:alphaModFix/>
          </a:blip>
          <a:srcRect/>
          <a:stretch/>
        </p:blipFill>
        <p:spPr>
          <a:xfrm>
            <a:off x="4791522" y="1935576"/>
            <a:ext cx="6489819" cy="3007477"/>
          </a:xfrm>
          <a:prstGeom prst="rect">
            <a:avLst/>
          </a:prstGeom>
          <a:noFill/>
          <a:ln>
            <a:noFill/>
          </a:ln>
        </p:spPr>
      </p:pic>
      <p:sp>
        <p:nvSpPr>
          <p:cNvPr id="109" name="Google Shape;109;p14"/>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2</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15" name="Google Shape;115;p15"/>
          <p:cNvSpPr txBox="1">
            <a:spLocks noGrp="1"/>
          </p:cNvSpPr>
          <p:nvPr>
            <p:ph type="body" idx="1"/>
          </p:nvPr>
        </p:nvSpPr>
        <p:spPr>
          <a:xfrm>
            <a:off x="581192" y="2180496"/>
            <a:ext cx="8589441" cy="3678303"/>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Char char="∙"/>
            </a:pPr>
            <a:r>
              <a:rPr lang="es-ES" b="1" dirty="0">
                <a:latin typeface="Cambria"/>
                <a:ea typeface="Cambria"/>
                <a:cs typeface="Cambria"/>
                <a:sym typeface="Cambria"/>
              </a:rPr>
              <a:t>1</a:t>
            </a:r>
            <a:r>
              <a:rPr lang="es-ES" sz="1800" b="1" dirty="0">
                <a:latin typeface="Cambria"/>
                <a:ea typeface="Cambria"/>
                <a:cs typeface="Cambria"/>
                <a:sym typeface="Cambria"/>
              </a:rPr>
              <a:t>.1	OBJETIVO</a:t>
            </a:r>
            <a:endParaRPr b="1" dirty="0"/>
          </a:p>
          <a:p>
            <a:pPr marL="342900" marR="0" lvl="0" indent="-237744"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a:p>
            <a:pPr marL="457200" lvl="0" indent="-333756" algn="just" rtl="0">
              <a:lnSpc>
                <a:spcPct val="107000"/>
              </a:lnSpc>
              <a:spcBef>
                <a:spcPts val="0"/>
              </a:spcBef>
              <a:spcAft>
                <a:spcPts val="0"/>
              </a:spcAft>
              <a:buSzPts val="1656"/>
              <a:buChar char="∙"/>
            </a:pPr>
            <a:r>
              <a:rPr lang="es-ES" dirty="0">
                <a:latin typeface="Cambria"/>
                <a:ea typeface="Cambria"/>
                <a:cs typeface="Cambria"/>
                <a:sym typeface="Cambria"/>
              </a:rPr>
              <a:t>Desarrollar e ??????????????????????????????????????????</a:t>
            </a:r>
            <a:endParaRPr dirty="0">
              <a:latin typeface="Cambria"/>
              <a:ea typeface="Cambria"/>
              <a:cs typeface="Cambria"/>
              <a:sym typeface="Cambria"/>
            </a:endParaRPr>
          </a:p>
        </p:txBody>
      </p:sp>
      <p:sp>
        <p:nvSpPr>
          <p:cNvPr id="116" name="Google Shape;116;p15"/>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OBJETIVO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213" y="1905575"/>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1.2.1 	Creación del Proyecto</a:t>
            </a:r>
            <a:endParaRPr sz="1929" b="1">
              <a:latin typeface="Cambria"/>
              <a:ea typeface="Cambria"/>
              <a:cs typeface="Cambria"/>
              <a:sym typeface="Cambria"/>
            </a:endParaRPr>
          </a:p>
          <a:p>
            <a:pPr marL="0" marR="0" lvl="0" indent="0" algn="just" rtl="0">
              <a:lnSpc>
                <a:spcPct val="107000"/>
              </a:lnSpc>
              <a:spcBef>
                <a:spcPts val="0"/>
              </a:spcBef>
              <a:spcAft>
                <a:spcPts val="0"/>
              </a:spcAft>
              <a:buSzPts val="1948"/>
              <a:buNone/>
            </a:pP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En primer lugar, en Visual Studio, al crear un nuevo proyecto se debe buscar la plantilla Aplicación de servicios WCF (WCF Service Application) basada en .NET Framework</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Google Shape;124;p16"/>
          <p:cNvPicPr preferRelativeResize="0"/>
          <p:nvPr/>
        </p:nvPicPr>
        <p:blipFill>
          <a:blip r:embed="rId3">
            <a:alphaModFix/>
          </a:blip>
          <a:stretch>
            <a:fillRect/>
          </a:stretch>
        </p:blipFill>
        <p:spPr>
          <a:xfrm>
            <a:off x="2353850" y="3317625"/>
            <a:ext cx="5734050" cy="3438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30" name="Google Shape;130;p17"/>
          <p:cNvSpPr txBox="1">
            <a:spLocks noGrp="1"/>
          </p:cNvSpPr>
          <p:nvPr>
            <p:ph type="body" idx="1"/>
          </p:nvPr>
        </p:nvSpPr>
        <p:spPr>
          <a:xfrm>
            <a:off x="581200" y="1781575"/>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Una vez creada la aplicación, se aplica el nombre del proyecto como ‘ServidorDotNet_Grupo05’.</a:t>
            </a:r>
            <a:endParaRPr>
              <a:latin typeface="Cambria"/>
              <a:ea typeface="Cambria"/>
              <a:cs typeface="Cambria"/>
              <a:sym typeface="Cambria"/>
            </a:endParaRPr>
          </a:p>
          <a:p>
            <a:pPr marL="457200" marR="0" lvl="0" indent="0" algn="just" rtl="0">
              <a:lnSpc>
                <a:spcPct val="107000"/>
              </a:lnSpc>
              <a:spcBef>
                <a:spcPts val="0"/>
              </a:spcBef>
              <a:spcAft>
                <a:spcPts val="0"/>
              </a:spcAft>
              <a:buNone/>
            </a:pPr>
            <a:endParaRPr>
              <a:latin typeface="Cambria"/>
              <a:ea typeface="Cambria"/>
              <a:cs typeface="Cambria"/>
              <a:sym typeface="Cambria"/>
            </a:endParaRPr>
          </a:p>
        </p:txBody>
      </p:sp>
      <p:sp>
        <p:nvSpPr>
          <p:cNvPr id="131" name="Google Shape;131;p1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32" name="Google Shape;132;p17"/>
          <p:cNvPicPr preferRelativeResize="0"/>
          <p:nvPr/>
        </p:nvPicPr>
        <p:blipFill>
          <a:blip r:embed="rId3">
            <a:alphaModFix/>
          </a:blip>
          <a:stretch>
            <a:fillRect/>
          </a:stretch>
        </p:blipFill>
        <p:spPr>
          <a:xfrm>
            <a:off x="1724900" y="2932125"/>
            <a:ext cx="6461925" cy="3692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38" name="Google Shape;138;p18"/>
          <p:cNvSpPr txBox="1">
            <a:spLocks noGrp="1"/>
          </p:cNvSpPr>
          <p:nvPr>
            <p:ph type="body" idx="1"/>
          </p:nvPr>
        </p:nvSpPr>
        <p:spPr>
          <a:xfrm>
            <a:off x="500045" y="3039100"/>
            <a:ext cx="3561000" cy="1248600"/>
          </a:xfrm>
          <a:prstGeom prst="rect">
            <a:avLst/>
          </a:prstGeom>
          <a:noFill/>
          <a:ln>
            <a:noFill/>
          </a:ln>
        </p:spPr>
        <p:txBody>
          <a:bodyPr spcFirstLastPara="1" wrap="square" lIns="91425" tIns="45700" rIns="91425" bIns="45700" anchor="ctr" anchorCtr="0">
            <a:noAutofit/>
          </a:bodyPr>
          <a:lstStyle/>
          <a:p>
            <a:pPr marL="457200" lvl="0" indent="-354546" algn="just" rtl="0">
              <a:lnSpc>
                <a:spcPct val="97000"/>
              </a:lnSpc>
              <a:spcBef>
                <a:spcPts val="0"/>
              </a:spcBef>
              <a:spcAft>
                <a:spcPts val="0"/>
              </a:spcAft>
              <a:buSzPts val="1983"/>
              <a:buChar char="∙"/>
            </a:pPr>
            <a:r>
              <a:rPr lang="es-ES" sz="1708" b="1">
                <a:latin typeface="Cambria"/>
                <a:ea typeface="Cambria"/>
                <a:cs typeface="Cambria"/>
                <a:sym typeface="Cambria"/>
              </a:rPr>
              <a:t>Estructuración del proyecto</a:t>
            </a:r>
            <a:endParaRPr sz="1708" b="1">
              <a:latin typeface="Cambria"/>
              <a:ea typeface="Cambria"/>
              <a:cs typeface="Cambria"/>
              <a:sym typeface="Cambria"/>
            </a:endParaRPr>
          </a:p>
          <a:p>
            <a:pPr marL="457200" lvl="0" indent="0" algn="just" rtl="0">
              <a:lnSpc>
                <a:spcPct val="97000"/>
              </a:lnSpc>
              <a:spcBef>
                <a:spcPts val="0"/>
              </a:spcBef>
              <a:spcAft>
                <a:spcPts val="0"/>
              </a:spcAft>
              <a:buSzPts val="853"/>
              <a:buNone/>
            </a:pPr>
            <a:endParaRPr sz="1708">
              <a:latin typeface="Cambria"/>
              <a:ea typeface="Cambria"/>
              <a:cs typeface="Cambria"/>
              <a:sym typeface="Cambria"/>
            </a:endParaRPr>
          </a:p>
          <a:p>
            <a:pPr marL="457200" lvl="0" indent="-354546" algn="just" rtl="0">
              <a:lnSpc>
                <a:spcPct val="97000"/>
              </a:lnSpc>
              <a:spcBef>
                <a:spcPts val="0"/>
              </a:spcBef>
              <a:spcAft>
                <a:spcPts val="0"/>
              </a:spcAft>
              <a:buSzPts val="1983"/>
              <a:buChar char="∙"/>
            </a:pPr>
            <a:r>
              <a:rPr lang="es-ES" sz="1708">
                <a:latin typeface="Cambria"/>
                <a:ea typeface="Cambria"/>
                <a:cs typeface="Cambria"/>
                <a:sym typeface="Cambria"/>
              </a:rPr>
              <a:t>Una vez generado el proyecto, procedemos a segmentar el sistema bajo un diseño de Arquitectura Orientada a Servicios (SOA) con bajo acoplamiento. Se crean las carpetas para separar responsabilidades: controladores, mapeadores, seguridad, servicios y utilidades.</a:t>
            </a:r>
            <a:endParaRPr sz="1708">
              <a:latin typeface="Cambria"/>
              <a:ea typeface="Cambria"/>
              <a:cs typeface="Cambria"/>
              <a:sym typeface="Cambria"/>
            </a:endParaRPr>
          </a:p>
        </p:txBody>
      </p:sp>
      <p:sp>
        <p:nvSpPr>
          <p:cNvPr id="139" name="Google Shape;139;p1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40" name="Google Shape;140;p18"/>
          <p:cNvPicPr preferRelativeResize="0"/>
          <p:nvPr/>
        </p:nvPicPr>
        <p:blipFill>
          <a:blip r:embed="rId3">
            <a:alphaModFix/>
          </a:blip>
          <a:stretch>
            <a:fillRect/>
          </a:stretch>
        </p:blipFill>
        <p:spPr>
          <a:xfrm>
            <a:off x="4829000" y="2061325"/>
            <a:ext cx="3632175" cy="47600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46" name="Google Shape;146;p19"/>
          <p:cNvSpPr txBox="1">
            <a:spLocks noGrp="1"/>
          </p:cNvSpPr>
          <p:nvPr>
            <p:ph type="body" idx="1"/>
          </p:nvPr>
        </p:nvSpPr>
        <p:spPr>
          <a:xfrm>
            <a:off x="581200" y="1715850"/>
            <a:ext cx="8589300" cy="1633500"/>
          </a:xfrm>
          <a:prstGeom prst="rect">
            <a:avLst/>
          </a:prstGeom>
          <a:noFill/>
          <a:ln>
            <a:noFill/>
          </a:ln>
        </p:spPr>
        <p:txBody>
          <a:bodyPr spcFirstLastPara="1" wrap="square" lIns="91425" tIns="45700" rIns="91425" bIns="45700" anchor="ctr" anchorCtr="0">
            <a:normAutofit/>
          </a:bodyPr>
          <a:lstStyle/>
          <a:p>
            <a:pPr marL="457200" lvl="0" indent="-341948" algn="just" rtl="0">
              <a:lnSpc>
                <a:spcPct val="107000"/>
              </a:lnSpc>
              <a:spcBef>
                <a:spcPts val="0"/>
              </a:spcBef>
              <a:spcAft>
                <a:spcPts val="0"/>
              </a:spcAft>
              <a:buClr>
                <a:srgbClr val="000000"/>
              </a:buClr>
              <a:buSzPts val="1785"/>
              <a:buFont typeface="Arial"/>
              <a:buChar char="∙"/>
            </a:pPr>
            <a:r>
              <a:rPr lang="es-ES" sz="1929" b="1">
                <a:solidFill>
                  <a:srgbClr val="000000"/>
                </a:solidFill>
                <a:latin typeface="Cambria"/>
                <a:ea typeface="Cambria"/>
                <a:cs typeface="Cambria"/>
                <a:sym typeface="Cambria"/>
              </a:rPr>
              <a:t>1.2.2 	Definición del Contrato de Servicio</a:t>
            </a:r>
            <a:endParaRPr sz="1400">
              <a:solidFill>
                <a:srgbClr val="000000"/>
              </a:solidFill>
              <a:latin typeface="Cambria"/>
              <a:ea typeface="Cambria"/>
              <a:cs typeface="Cambria"/>
              <a:sym typeface="Cambria"/>
            </a:endParaRPr>
          </a:p>
          <a:p>
            <a:pPr marL="457200" lvl="0" indent="-333756" algn="just" rtl="0">
              <a:lnSpc>
                <a:spcPct val="107000"/>
              </a:lnSpc>
              <a:spcBef>
                <a:spcPts val="0"/>
              </a:spcBef>
              <a:spcAft>
                <a:spcPts val="0"/>
              </a:spcAft>
              <a:buClr>
                <a:srgbClr val="000000"/>
              </a:buClr>
              <a:buSzPts val="1656"/>
              <a:buChar char="∙"/>
            </a:pPr>
            <a:r>
              <a:rPr lang="es-ES" sz="1400">
                <a:solidFill>
                  <a:srgbClr val="000000"/>
                </a:solidFill>
                <a:latin typeface="Cambria"/>
                <a:ea typeface="Cambria"/>
                <a:cs typeface="Cambria"/>
                <a:sym typeface="Cambria"/>
              </a:rPr>
              <a:t>En WCF, antes de programar la lógica, es obligatorio definir un Contrato de Servicio. Dentro de la carpeta servicios, se crea una interfaz llamada IWSConversorUnidades.cs.</a:t>
            </a:r>
            <a:endParaRPr>
              <a:latin typeface="Cambria"/>
              <a:ea typeface="Cambria"/>
              <a:cs typeface="Cambria"/>
              <a:sym typeface="Cambria"/>
            </a:endParaRPr>
          </a:p>
        </p:txBody>
      </p:sp>
      <p:sp>
        <p:nvSpPr>
          <p:cNvPr id="147" name="Google Shape;147;p1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48" name="Google Shape;148;p19"/>
          <p:cNvGraphicFramePr/>
          <p:nvPr/>
        </p:nvGraphicFramePr>
        <p:xfrm>
          <a:off x="1416200" y="2960225"/>
          <a:ext cx="3000000" cy="3000000"/>
        </p:xfrm>
        <a:graphic>
          <a:graphicData uri="http://schemas.openxmlformats.org/drawingml/2006/table">
            <a:tbl>
              <a:tblPr>
                <a:noFill/>
                <a:tableStyleId>{00F2D98E-0062-4CEB-BF75-F90E3C6509C4}</a:tableStyleId>
              </a:tblPr>
              <a:tblGrid>
                <a:gridCol w="671670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using System.ServiceModel;</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namespace ec.edu.monster.Servicios</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[ServiceContract(Name = "WSConversorUnidades")]</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interface IWSConversorUnidades</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[OperationContract(Name = "login")]</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string Login(string usuario, string contrasenia);</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[OperationContract(Name = "cambiarContrasenia")]</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bool CambiarContrasenia(string contraseniaActual, string nuevaContrasenia);</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[OperationContract(Name = "convertirLongitud")]</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double ConvertirLongitud(double valor, string unidadInicial, string unidadFinal);</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[OperationContract(Name = "convertirMasa")]</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double ConvertirMasa(double valor, string unidadInicial, string unidadFinal);</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[OperationContract(Name = "convertirTemperatura")]</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double ConvertirTemperatura(double valor, string unidadInicial, string unidadFinal);</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a:t>
            </a:r>
            <a:r>
              <a:rPr lang="es-ES" sz="1200" b="1">
                <a:solidFill>
                  <a:srgbClr val="FFFF00"/>
                </a:solidFill>
                <a:latin typeface="Gill Sans"/>
                <a:ea typeface="Gill Sans"/>
                <a:cs typeface="Gill Sans"/>
                <a:sym typeface="Gill Sans"/>
              </a:rPr>
              <a:t>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55" name="Google Shape;155;p20"/>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fontScale="85000" lnSpcReduction="10000"/>
          </a:bodyPr>
          <a:lstStyle/>
          <a:p>
            <a:pPr marL="457200" lvl="0" indent="-319116" algn="just" rtl="0">
              <a:lnSpc>
                <a:spcPct val="107000"/>
              </a:lnSpc>
              <a:spcBef>
                <a:spcPts val="0"/>
              </a:spcBef>
              <a:spcAft>
                <a:spcPts val="0"/>
              </a:spcAft>
              <a:buSzPct val="100000"/>
              <a:buFont typeface="Cambria"/>
              <a:buChar char="∙"/>
            </a:pPr>
            <a:r>
              <a:rPr lang="es-ES" sz="1677" b="1">
                <a:latin typeface="Cambria"/>
                <a:ea typeface="Cambria"/>
                <a:cs typeface="Cambria"/>
                <a:sym typeface="Cambria"/>
              </a:rPr>
              <a:t>Implementación del servicio y lógica de conversión</a:t>
            </a:r>
            <a:endParaRPr sz="1677" b="1">
              <a:latin typeface="Cambria"/>
              <a:ea typeface="Cambria"/>
              <a:cs typeface="Cambria"/>
              <a:sym typeface="Cambria"/>
            </a:endParaRPr>
          </a:p>
          <a:p>
            <a:pPr marL="457200" lvl="0" indent="0" algn="just" rtl="0">
              <a:lnSpc>
                <a:spcPct val="107000"/>
              </a:lnSpc>
              <a:spcBef>
                <a:spcPts val="0"/>
              </a:spcBef>
              <a:spcAft>
                <a:spcPts val="0"/>
              </a:spcAft>
              <a:buNone/>
            </a:pPr>
            <a:endParaRPr sz="1677" b="1">
              <a:latin typeface="Cambria"/>
              <a:ea typeface="Cambria"/>
              <a:cs typeface="Cambria"/>
              <a:sym typeface="Cambria"/>
            </a:endParaRPr>
          </a:p>
          <a:p>
            <a:pPr marL="457200" lvl="0" indent="-319116" algn="just" rtl="0">
              <a:lnSpc>
                <a:spcPct val="107000"/>
              </a:lnSpc>
              <a:spcBef>
                <a:spcPts val="0"/>
              </a:spcBef>
              <a:spcAft>
                <a:spcPts val="0"/>
              </a:spcAft>
              <a:buSzPct val="100000"/>
              <a:buFont typeface="Cambria"/>
              <a:buChar char="∙"/>
            </a:pPr>
            <a:r>
              <a:rPr lang="es-ES" sz="1677">
                <a:latin typeface="Cambria"/>
                <a:ea typeface="Cambria"/>
                <a:cs typeface="Cambria"/>
                <a:sym typeface="Cambria"/>
              </a:rPr>
              <a:t>1. Se codifica el web service que implementa la interfaz creada. Además, la lógica matemática pura se delega a las clases especializadas dentro de la carpeta utilidades y controladores</a:t>
            </a:r>
            <a:endParaRPr sz="1677">
              <a:latin typeface="Cambria"/>
              <a:ea typeface="Cambria"/>
              <a:cs typeface="Cambria"/>
              <a:sym typeface="Cambria"/>
            </a:endParaRPr>
          </a:p>
          <a:p>
            <a:pPr marL="0" lvl="0" indent="0" algn="just" rtl="0">
              <a:lnSpc>
                <a:spcPct val="107000"/>
              </a:lnSpc>
              <a:spcBef>
                <a:spcPts val="0"/>
              </a:spcBef>
              <a:spcAft>
                <a:spcPts val="0"/>
              </a:spcAft>
              <a:buSzPct val="98748"/>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ct val="112508"/>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ct val="92000"/>
              <a:buFont typeface="Noto Sans Symbols"/>
              <a:buNone/>
            </a:pPr>
            <a:endParaRPr sz="1800">
              <a:latin typeface="Cambria"/>
              <a:ea typeface="Cambria"/>
              <a:cs typeface="Cambria"/>
              <a:sym typeface="Cambria"/>
            </a:endParaRPr>
          </a:p>
        </p:txBody>
      </p:sp>
      <p:graphicFrame>
        <p:nvGraphicFramePr>
          <p:cNvPr id="156" name="Google Shape;156;p20"/>
          <p:cNvGraphicFramePr/>
          <p:nvPr/>
        </p:nvGraphicFramePr>
        <p:xfrm>
          <a:off x="3395925" y="2524500"/>
          <a:ext cx="3000000" cy="3000000"/>
        </p:xfrm>
        <a:graphic>
          <a:graphicData uri="http://schemas.openxmlformats.org/drawingml/2006/table">
            <a:tbl>
              <a:tblPr>
                <a:noFill/>
                <a:tableStyleId>{00F2D98E-0062-4CEB-BF75-F90E3C6509C4}</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using Microsoft.AspNetCore.Authorization;</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using Microsoft.AspNetCore.Mvc;</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using WS_ConUni_DotNet_Rest_GR5.Modelos;</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using WS_ConUni_DotNet_Rest_GR5.Modelos.Servicios;</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157" name="Google Shape;157;p20"/>
          <p:cNvGraphicFramePr/>
          <p:nvPr/>
        </p:nvGraphicFramePr>
        <p:xfrm>
          <a:off x="3395925" y="4534525"/>
          <a:ext cx="3000000" cy="3000000"/>
        </p:xfrm>
        <a:graphic>
          <a:graphicData uri="http://schemas.openxmlformats.org/drawingml/2006/table">
            <a:tbl>
              <a:tblPr>
                <a:noFill/>
                <a:tableStyleId>{00F2D98E-0062-4CEB-BF75-F90E3C6509C4}</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using System;</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using System.ServiceModel;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using ServidorDotNet_Grupo05.servicios;</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using ServidorDotNet_Grupo05.controladores;</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using ServidorDotNet_Grupo05.utilidades;</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63" name="Google Shape;163;p21"/>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2. Métodos de Conversión y Autenticación en la implementación del Servicio</a:t>
            </a:r>
            <a:endParaRPr sz="1677">
              <a:latin typeface="Cambria"/>
              <a:ea typeface="Cambria"/>
              <a:cs typeface="Cambria"/>
              <a:sym typeface="Cambria"/>
            </a:endParaRPr>
          </a:p>
          <a:p>
            <a:pPr marL="0" lvl="0" indent="0" algn="just" rtl="0">
              <a:lnSpc>
                <a:spcPct val="107000"/>
              </a:lnSpc>
              <a:spcBef>
                <a:spcPts val="0"/>
              </a:spcBef>
              <a:spcAft>
                <a:spcPts val="0"/>
              </a:spcAft>
              <a:buNone/>
            </a:pPr>
            <a:br>
              <a:rPr lang="es-ES" sz="1677" b="1">
                <a:latin typeface="Cambria"/>
                <a:ea typeface="Cambria"/>
                <a:cs typeface="Cambria"/>
                <a:sym typeface="Cambria"/>
              </a:rPr>
            </a:br>
            <a:endParaRPr sz="1677" b="1">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64" name="Google Shape;164;p2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a:t>
            </a:r>
            <a:r>
              <a:rPr lang="es-ES" sz="1200" b="1">
                <a:solidFill>
                  <a:srgbClr val="FFFF00"/>
                </a:solidFill>
                <a:latin typeface="Gill Sans"/>
                <a:ea typeface="Gill Sans"/>
                <a:cs typeface="Gill Sans"/>
                <a:sym typeface="Gill Sans"/>
              </a:rPr>
              <a:t>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65" name="Google Shape;165;p21"/>
          <p:cNvGraphicFramePr/>
          <p:nvPr/>
        </p:nvGraphicFramePr>
        <p:xfrm>
          <a:off x="3227825" y="1877375"/>
          <a:ext cx="3000000" cy="3000000"/>
        </p:xfrm>
        <a:graphic>
          <a:graphicData uri="http://schemas.openxmlformats.org/drawingml/2006/table">
            <a:tbl>
              <a:tblPr>
                <a:noFill/>
                <a:tableStyleId>{00F2D98E-0062-4CEB-BF75-F90E3C6509C4}</a:tableStyleId>
              </a:tblPr>
              <a:tblGrid>
                <a:gridCol w="60014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public class WSConversorUnidades : IWSConversorUnidades</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private readonly ConversionesControlador _conversionesCtrl;</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private readonly SeguridadControlador _seguridadCtrl;</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WSConversorUnidades()</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_conversionesCtrl = new ConversionesControlador();</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_seguridadCtrl = new SeguridadControlador();</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 Método de autenticación (Cuerpo libre, sin token en header)</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string Login(string usuario, string contrasena)</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_seguridadCtrl.Autenticar(usuario, contrasena);</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 Métodos de conversión de lógica delegada</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double ConvertirLongitud(double valor, UnidadLongitud origen, UnidadLongitud destino)</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_conversionesCtrl.ConvertirLongitud(valor, origen, destino);</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double ConvertirMasa(double valor, UnidadMasa origen, UnidadMasa destino)</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_conversionesCtrl.ConvertirMasa(valor, origen, destino);</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71" name="Google Shape;171;p22"/>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Configuración de los Inspectores de Seguridad (Headers SOAP)</a:t>
            </a:r>
            <a:endParaRPr sz="1677" b="1">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72" name="Google Shape;172;p2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a:t>
            </a:r>
            <a:r>
              <a:rPr lang="es-ES" sz="1200" b="1">
                <a:solidFill>
                  <a:srgbClr val="FFFF00"/>
                </a:solidFill>
                <a:latin typeface="Gill Sans"/>
                <a:ea typeface="Gill Sans"/>
                <a:cs typeface="Gill Sans"/>
                <a:sym typeface="Gill Sans"/>
              </a:rPr>
              <a:t>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73" name="Google Shape;173;p22"/>
          <p:cNvPicPr preferRelativeResize="0"/>
          <p:nvPr/>
        </p:nvPicPr>
        <p:blipFill>
          <a:blip r:embed="rId3">
            <a:alphaModFix/>
          </a:blip>
          <a:stretch>
            <a:fillRect/>
          </a:stretch>
        </p:blipFill>
        <p:spPr>
          <a:xfrm>
            <a:off x="3135025" y="2648075"/>
            <a:ext cx="5734050" cy="2714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79" name="Google Shape;179;p23"/>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0" lvl="0" indent="0" algn="just" rtl="0">
              <a:lnSpc>
                <a:spcPct val="107000"/>
              </a:lnSpc>
              <a:spcBef>
                <a:spcPts val="0"/>
              </a:spcBef>
              <a:spcAft>
                <a:spcPts val="0"/>
              </a:spcAft>
              <a:buNone/>
            </a:pPr>
            <a:r>
              <a:rPr lang="es-ES" sz="1677" b="1">
                <a:latin typeface="Cambria"/>
                <a:ea typeface="Cambria"/>
                <a:cs typeface="Cambria"/>
                <a:sym typeface="Cambria"/>
              </a:rPr>
              <a:t>Implementación de la Lógica de Negocio Central</a:t>
            </a:r>
            <a:endParaRPr sz="1677" b="1">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Implementación de la lógica de negocio aislada en la capa de utilidades</a:t>
            </a:r>
            <a:endParaRPr sz="1677">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ConversorLongitud</a:t>
            </a:r>
            <a:endParaRPr sz="1677">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80" name="Google Shape;180;p2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a:t>
            </a:r>
            <a:r>
              <a:rPr lang="es-ES" sz="1200" b="1">
                <a:solidFill>
                  <a:srgbClr val="FFFF00"/>
                </a:solidFill>
                <a:latin typeface="Gill Sans"/>
                <a:ea typeface="Gill Sans"/>
                <a:cs typeface="Gill Sans"/>
                <a:sym typeface="Gill Sans"/>
              </a:rPr>
              <a:t>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81" name="Google Shape;181;p23"/>
          <p:cNvGraphicFramePr/>
          <p:nvPr/>
        </p:nvGraphicFramePr>
        <p:xfrm>
          <a:off x="3339275" y="1843475"/>
          <a:ext cx="3000000" cy="3000000"/>
        </p:xfrm>
        <a:graphic>
          <a:graphicData uri="http://schemas.openxmlformats.org/drawingml/2006/table">
            <a:tbl>
              <a:tblPr>
                <a:noFill/>
                <a:tableStyleId>{00F2D98E-0062-4CEB-BF75-F90E3C6509C4}</a:tableStyleId>
              </a:tblPr>
              <a:tblGrid>
                <a:gridCol w="5472350">
                  <a:extLst>
                    <a:ext uri="{9D8B030D-6E8A-4147-A177-3AD203B41FA5}">
                      <a16:colId xmlns:a16="http://schemas.microsoft.com/office/drawing/2014/main" val="20000"/>
                    </a:ext>
                  </a:extLst>
                </a:gridCol>
              </a:tblGrid>
              <a:tr h="4533675">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using System;</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using System.Collections.Generic;</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using ec.edu.monster.Utilidades.Enums;</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namespace ec.edu.monster.Utilidades</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class ConversorLongitud : IConversor&lt;UnidadLongitud&gt;</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private static readonly Dictionary&lt;UnidadLongitud, double&gt; Factores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new Dictionary&lt;UnidadLongitud, double&gt;</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 UnidadLongitud.MILIMETRO, 0.001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 UnidadLongitud.CENTIMETRO, 0.01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 UnidadLongitud.METRO, 1.0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 UnidadLongitud.KILOMETRO, 1000.0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 UnidadLongitud.YARDA, 0.9144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double Convertir(double valor, UnidadLongitud unidadOrigen, UnidadLongitud unidadFinal)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if (!Factores.ContainsKey(unidadOrigen) || !Factores.ContainsKey(unidadFinal))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throw new ArgumentException("Unidad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var valorEnBase = valor * Factores[unidadOrigen];</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valorEnBase / Factores[unidadFinal];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a:t>
                      </a:r>
                      <a:endParaRPr sz="8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87" name="Google Shape;187;p24"/>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0" lvl="0" indent="0" algn="just" rtl="0">
              <a:lnSpc>
                <a:spcPct val="107000"/>
              </a:lnSpc>
              <a:spcBef>
                <a:spcPts val="0"/>
              </a:spcBef>
              <a:spcAft>
                <a:spcPts val="0"/>
              </a:spcAft>
              <a:buNone/>
            </a:pPr>
            <a:r>
              <a:rPr lang="es-ES" sz="1677" b="1">
                <a:latin typeface="Cambria"/>
                <a:ea typeface="Cambria"/>
                <a:cs typeface="Cambria"/>
                <a:sym typeface="Cambria"/>
              </a:rPr>
              <a:t>Implementación de la Lógica de Negocio Central</a:t>
            </a:r>
            <a:endParaRPr sz="1677" b="1">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Implementación de la lógica de negocio aislada en la capa de utilidades</a:t>
            </a:r>
            <a:endParaRPr sz="1677">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ConversorMasa</a:t>
            </a:r>
            <a:endParaRPr sz="1677">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88" name="Google Shape;188;p2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a:t>
            </a:r>
            <a:r>
              <a:rPr lang="es-ES" sz="1200" b="1">
                <a:solidFill>
                  <a:srgbClr val="FFFF00"/>
                </a:solidFill>
                <a:latin typeface="Gill Sans"/>
                <a:ea typeface="Gill Sans"/>
                <a:cs typeface="Gill Sans"/>
                <a:sym typeface="Gill Sans"/>
              </a:rPr>
              <a:t>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89" name="Google Shape;189;p24"/>
          <p:cNvGraphicFramePr/>
          <p:nvPr/>
        </p:nvGraphicFramePr>
        <p:xfrm>
          <a:off x="3339275" y="1843475"/>
          <a:ext cx="3000000" cy="3000000"/>
        </p:xfrm>
        <a:graphic>
          <a:graphicData uri="http://schemas.openxmlformats.org/drawingml/2006/table">
            <a:tbl>
              <a:tblPr>
                <a:noFill/>
                <a:tableStyleId>{00F2D98E-0062-4CEB-BF75-F90E3C6509C4}</a:tableStyleId>
              </a:tblPr>
              <a:tblGrid>
                <a:gridCol w="5472350">
                  <a:extLst>
                    <a:ext uri="{9D8B030D-6E8A-4147-A177-3AD203B41FA5}">
                      <a16:colId xmlns:a16="http://schemas.microsoft.com/office/drawing/2014/main" val="20000"/>
                    </a:ext>
                  </a:extLst>
                </a:gridCol>
              </a:tblGrid>
              <a:tr h="4533675">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using System;</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using System.Collections.Generic;</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using ec.edu.monster.Utilidades.Enums;</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namespace ec.edu.monster.Utilidades</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class ConversorMasa : IConversor&lt;UnidadMasa&gt;</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private static readonly Dictionary&lt;UnidadMasa, double&gt; Factores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new Dictionary&lt;UnidadMasa, double&gt;</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 UnidadMasa.MILIGRAMO, 0.001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 UnidadMasa.GRAMO, 1.0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 UnidadMasa.KILOGRAMO, 1000.0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 UnidadMasa.TONELADA, 1000000.0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 UnidadMasa.ONZA, 28.3495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double Convertir(double valor, UnidadMasa unidadOrigen, UnidadMasa unidadFinal)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if (!Factores.ContainsKey(unidadOrigen) || !Factores.ContainsKey(unidadFinal))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throw new ArgumentException("Unidad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var valorEnBase = valor * Factores[unidadOrigen];</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valorEnBase / Factores[unidadFinal];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95" name="Google Shape;195;p25"/>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0" lvl="0" indent="0" algn="just" rtl="0">
              <a:lnSpc>
                <a:spcPct val="107000"/>
              </a:lnSpc>
              <a:spcBef>
                <a:spcPts val="0"/>
              </a:spcBef>
              <a:spcAft>
                <a:spcPts val="0"/>
              </a:spcAft>
              <a:buNone/>
            </a:pPr>
            <a:r>
              <a:rPr lang="es-ES" sz="1677" b="1">
                <a:latin typeface="Cambria"/>
                <a:ea typeface="Cambria"/>
                <a:cs typeface="Cambria"/>
                <a:sym typeface="Cambria"/>
              </a:rPr>
              <a:t>Implementación de la Lógica de Negocio Central</a:t>
            </a:r>
            <a:endParaRPr sz="1677" b="1">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Implementación de la lógica de negocio aislada en la capa de utilidades</a:t>
            </a:r>
            <a:endParaRPr sz="1677">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ConversorTemperatura</a:t>
            </a:r>
            <a:endParaRPr sz="1677">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96" name="Google Shape;196;p2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a:t>
            </a:r>
            <a:r>
              <a:rPr lang="es-ES" sz="1200" b="1">
                <a:solidFill>
                  <a:srgbClr val="FFFF00"/>
                </a:solidFill>
                <a:latin typeface="Gill Sans"/>
                <a:ea typeface="Gill Sans"/>
                <a:cs typeface="Gill Sans"/>
                <a:sym typeface="Gill Sans"/>
              </a:rPr>
              <a:t>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97" name="Google Shape;197;p25"/>
          <p:cNvGraphicFramePr/>
          <p:nvPr/>
        </p:nvGraphicFramePr>
        <p:xfrm>
          <a:off x="3339275" y="1843475"/>
          <a:ext cx="3000000" cy="3000000"/>
        </p:xfrm>
        <a:graphic>
          <a:graphicData uri="http://schemas.openxmlformats.org/drawingml/2006/table">
            <a:tbl>
              <a:tblPr>
                <a:noFill/>
                <a:tableStyleId>{00F2D98E-0062-4CEB-BF75-F90E3C6509C4}</a:tableStyleId>
              </a:tblPr>
              <a:tblGrid>
                <a:gridCol w="5472350">
                  <a:extLst>
                    <a:ext uri="{9D8B030D-6E8A-4147-A177-3AD203B41FA5}">
                      <a16:colId xmlns:a16="http://schemas.microsoft.com/office/drawing/2014/main" val="20000"/>
                    </a:ext>
                  </a:extLst>
                </a:gridCol>
              </a:tblGrid>
              <a:tr h="4533675">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using System;</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using ec.edu.monster.Utilidades.Enums;</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namespace ec.edu.monster.Utilidades</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class ConversorTemperatura : IConversor&lt;UnidadTemperatura&gt;</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double Convertir(double valor, UnidadTemperatura origen, UnidadTemperatura destino)</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if (origen == destino)</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valor;</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switch (origen)</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UnidadTemperatura.CELSIUS:</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switch (destino)</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UnidadTemperatura.FAHRENHEIT:</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(valor * 9.0 / 5.0) + 32.0;</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UnidadTemperatura.KELVIN:</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valor + 273.15;</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UnidadTemperatura.RANKINE:</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(valor + 273.15) * 9.0 / 5.0;</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default:</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throw new ArgumentException("Conversion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03" name="Google Shape;203;p26"/>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0" lvl="0" indent="0" algn="just" rtl="0">
              <a:lnSpc>
                <a:spcPct val="107000"/>
              </a:lnSpc>
              <a:spcBef>
                <a:spcPts val="0"/>
              </a:spcBef>
              <a:spcAft>
                <a:spcPts val="0"/>
              </a:spcAft>
              <a:buNone/>
            </a:pPr>
            <a:r>
              <a:rPr lang="es-ES" sz="1677" b="1">
                <a:latin typeface="Cambria"/>
                <a:ea typeface="Cambria"/>
                <a:cs typeface="Cambria"/>
                <a:sym typeface="Cambria"/>
              </a:rPr>
              <a:t>Implementación de la Lógica de Negocio Central</a:t>
            </a:r>
            <a:endParaRPr sz="1677" b="1">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Implementación de la lógica de negocio aislada en la capa de utilidades</a:t>
            </a:r>
            <a:endParaRPr sz="1677">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ConversorTemperatura</a:t>
            </a:r>
            <a:endParaRPr sz="1677">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204" name="Google Shape;204;p2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a:t>
            </a:r>
            <a:r>
              <a:rPr lang="es-ES" sz="1200" b="1">
                <a:solidFill>
                  <a:srgbClr val="FFFF00"/>
                </a:solidFill>
                <a:latin typeface="Gill Sans"/>
                <a:ea typeface="Gill Sans"/>
                <a:cs typeface="Gill Sans"/>
                <a:sym typeface="Gill Sans"/>
              </a:rPr>
              <a:t>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205" name="Google Shape;205;p26"/>
          <p:cNvGraphicFramePr/>
          <p:nvPr/>
        </p:nvGraphicFramePr>
        <p:xfrm>
          <a:off x="3339275" y="1843475"/>
          <a:ext cx="3000000" cy="3000000"/>
        </p:xfrm>
        <a:graphic>
          <a:graphicData uri="http://schemas.openxmlformats.org/drawingml/2006/table">
            <a:tbl>
              <a:tblPr>
                <a:noFill/>
                <a:tableStyleId>{00F2D98E-0062-4CEB-BF75-F90E3C6509C4}</a:tableStyleId>
              </a:tblPr>
              <a:tblGrid>
                <a:gridCol w="5472350">
                  <a:extLst>
                    <a:ext uri="{9D8B030D-6E8A-4147-A177-3AD203B41FA5}">
                      <a16:colId xmlns:a16="http://schemas.microsoft.com/office/drawing/2014/main" val="20000"/>
                    </a:ext>
                  </a:extLst>
                </a:gridCol>
              </a:tblGrid>
              <a:tr h="4533675">
                <a:tc>
                  <a:txBody>
                    <a:bodyPr/>
                    <a:lstStyle/>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case UnidadTemperatura.CELSIUS:</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valor - 273.15;</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case UnidadTemperatura.FAHRENHEIT:</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(valor - 273.15) * 9.0 / 5.0 + 32.0;</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case UnidadTemperatura.RANKINE:</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valor * 9.0 / 5.0;</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default:</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throw new ArgumentException("Conversion no soportada");</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case UnidadTemperatura.RANKINE:</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switch (destino)</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case UnidadTemperatura.CELSIUS:</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(valor - 491.67) * 5.0 / 9.0;</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case UnidadTemperatura.FAHRENHEIT:</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valor - 459.67;</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case UnidadTemperatura.KELVIN:</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valor * 5.0 / 9.0;</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default:</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throw new ArgumentException("Conversion no soportada");</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default:</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throw new ArgumentException("Conversion no soportada");</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11" name="Google Shape;211;p27"/>
          <p:cNvSpPr txBox="1">
            <a:spLocks noGrp="1"/>
          </p:cNvSpPr>
          <p:nvPr>
            <p:ph type="body" idx="1"/>
          </p:nvPr>
        </p:nvSpPr>
        <p:spPr>
          <a:xfrm>
            <a:off x="211775" y="2171025"/>
            <a:ext cx="2601600" cy="3965700"/>
          </a:xfrm>
          <a:prstGeom prst="rect">
            <a:avLst/>
          </a:prstGeom>
          <a:noFill/>
          <a:ln>
            <a:noFill/>
          </a:ln>
        </p:spPr>
        <p:txBody>
          <a:bodyPr spcFirstLastPara="1" wrap="square" lIns="91425" tIns="45700" rIns="91425" bIns="45700" anchor="ctr" anchorCtr="0">
            <a:normAutofit lnSpcReduction="20000"/>
          </a:bodyPr>
          <a:lstStyle/>
          <a:p>
            <a:pPr marL="0" lvl="0" indent="0" algn="just" rtl="0">
              <a:lnSpc>
                <a:spcPct val="107000"/>
              </a:lnSpc>
              <a:spcBef>
                <a:spcPts val="0"/>
              </a:spcBef>
              <a:spcAft>
                <a:spcPts val="0"/>
              </a:spcAft>
              <a:buNone/>
            </a:pPr>
            <a:r>
              <a:rPr lang="es-ES" sz="1677" b="1">
                <a:latin typeface="Cambria"/>
                <a:ea typeface="Cambria"/>
                <a:cs typeface="Cambria"/>
                <a:sym typeface="Cambria"/>
              </a:rPr>
              <a:t>Enlace de la lógica mediante el Controlador</a:t>
            </a:r>
            <a:endParaRPr sz="1677" b="1">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Para orquestar la comunicación entre el contrato WCF (WSConversorUnidades.svc) y la capa de utilidades matemáticas, se crea el ConversionesControlador en la capa de controladores.</a:t>
            </a:r>
            <a:endParaRPr sz="1677">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212" name="Google Shape;212;p2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a:t>
            </a:r>
            <a:r>
              <a:rPr lang="es-ES" sz="1200" b="1">
                <a:solidFill>
                  <a:srgbClr val="FFFF00"/>
                </a:solidFill>
                <a:latin typeface="Gill Sans"/>
                <a:ea typeface="Gill Sans"/>
                <a:cs typeface="Gill Sans"/>
                <a:sym typeface="Gill Sans"/>
              </a:rPr>
              <a:t>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213" name="Google Shape;213;p27"/>
          <p:cNvGraphicFramePr/>
          <p:nvPr/>
        </p:nvGraphicFramePr>
        <p:xfrm>
          <a:off x="3182800" y="1857125"/>
          <a:ext cx="3000000" cy="3000000"/>
        </p:xfrm>
        <a:graphic>
          <a:graphicData uri="http://schemas.openxmlformats.org/drawingml/2006/table">
            <a:tbl>
              <a:tblPr>
                <a:noFill/>
                <a:tableStyleId>{00F2D98E-0062-4CEB-BF75-F90E3C6509C4}</a:tableStyleId>
              </a:tblPr>
              <a:tblGrid>
                <a:gridCol w="6012375">
                  <a:extLst>
                    <a:ext uri="{9D8B030D-6E8A-4147-A177-3AD203B41FA5}">
                      <a16:colId xmlns:a16="http://schemas.microsoft.com/office/drawing/2014/main" val="20000"/>
                    </a:ext>
                  </a:extLst>
                </a:gridCol>
              </a:tblGrid>
              <a:tr h="4894225">
                <a:tc>
                  <a:txBody>
                    <a:bodyPr/>
                    <a:lstStyle/>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namespace ec.edu.monster.Controladores</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 Controlador de aplicacion para encapsular la logica de conversion (patron MVC interno).</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class ConversionesControlador</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private readonly ServicioConversor&lt;UnidadLongitud&gt; servicioLongitud =</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new ServicioConversor&lt;UnidadLongitud&gt;(new ConversorLongitud());</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private readonly ServicioConversor&lt;UnidadMasa&gt; servicioMasa =</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new ServicioConversor&lt;UnidadMasa&gt;(new ConversorMasa());</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private readonly ServicioConversor&lt;UnidadTemperatura&gt; servicioTemperatura =</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new ServicioConversor&lt;UnidadTemperatura&gt;(new ConversorTemperatura());</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double ConvertirLongitud(double valor, string unidadInicial, string unidadFinal)</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var origen = UnidadMapper.ToLongitud(unidadInicial);</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var destino = UnidadMapper.ToLongitud(unidadFinal);</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return servicioLongitud.Convertir(valor, origen, destino);</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double ConvertirMasa(double valor, string unidadInicial, string unidadFinal)</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var origen = UnidadMapper.ToMasa(unidadInicial);</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var destino = UnidadMapper.ToMasa(unidadFinal);</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return servicioMasa.Convertir(valor, origen, destino);</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double ConvertirTemperatura(double valor, string unidadInicial, string unidadFinal)</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var origen = UnidadMapper.ToTemperatura(unidadInicial);</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var destino = UnidadMapper.ToTemperatura(unidadFinal);</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return servicioTemperatura.Convertir(valor, origen, destino);</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19" name="Google Shape;219;p28"/>
          <p:cNvSpPr txBox="1">
            <a:spLocks noGrp="1"/>
          </p:cNvSpPr>
          <p:nvPr>
            <p:ph type="body" idx="1"/>
          </p:nvPr>
        </p:nvSpPr>
        <p:spPr>
          <a:xfrm>
            <a:off x="315950" y="2080675"/>
            <a:ext cx="2808300" cy="44937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1.2.4 	Configuración del Pipeline de WCF (Web.config)</a:t>
            </a:r>
            <a:endParaRPr>
              <a:latin typeface="Cambria"/>
              <a:ea typeface="Cambria"/>
              <a:cs typeface="Cambria"/>
              <a:sym typeface="Cambria"/>
            </a:endParaRPr>
          </a:p>
          <a:p>
            <a:pPr marL="342900" marR="0" lvl="0" indent="-323850" algn="just" rtl="0">
              <a:lnSpc>
                <a:spcPct val="107000"/>
              </a:lnSpc>
              <a:spcBef>
                <a:spcPts val="0"/>
              </a:spcBef>
              <a:spcAft>
                <a:spcPts val="0"/>
              </a:spcAft>
              <a:buSzPts val="1356"/>
              <a:buFont typeface="Cambria"/>
              <a:buChar char="∙"/>
            </a:pPr>
            <a:r>
              <a:rPr lang="es-ES" sz="1500">
                <a:latin typeface="Cambria"/>
                <a:ea typeface="Cambria"/>
                <a:cs typeface="Cambria"/>
                <a:sym typeface="Cambria"/>
              </a:rPr>
              <a:t>Aquí se registran los esquemas de red (bindings) y enlazar los inspectores de seguridad, para que el servidor IIS sepa que debe revisar las cabeceras SOAP antes de admitir cualquier petición.</a:t>
            </a:r>
            <a:endParaRPr sz="150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220" name="Google Shape;220;p2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a:t>
            </a:r>
            <a:r>
              <a:rPr lang="es-ES" sz="1200" b="1">
                <a:solidFill>
                  <a:srgbClr val="FFFF00"/>
                </a:solidFill>
                <a:latin typeface="Gill Sans"/>
                <a:ea typeface="Gill Sans"/>
                <a:cs typeface="Gill Sans"/>
                <a:sym typeface="Gill Sans"/>
              </a:rPr>
              <a:t>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221" name="Google Shape;221;p28"/>
          <p:cNvGraphicFramePr/>
          <p:nvPr/>
        </p:nvGraphicFramePr>
        <p:xfrm>
          <a:off x="3356975" y="1797050"/>
          <a:ext cx="3000000" cy="3000000"/>
        </p:xfrm>
        <a:graphic>
          <a:graphicData uri="http://schemas.openxmlformats.org/drawingml/2006/table">
            <a:tbl>
              <a:tblPr>
                <a:noFill/>
                <a:tableStyleId>{00F2D98E-0062-4CEB-BF75-F90E3C6509C4}</a:tableStyleId>
              </a:tblPr>
              <a:tblGrid>
                <a:gridCol w="5454750">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900">
                          <a:solidFill>
                            <a:srgbClr val="4F81BD"/>
                          </a:solidFill>
                          <a:latin typeface="Calibri"/>
                          <a:ea typeface="Calibri"/>
                          <a:cs typeface="Calibri"/>
                          <a:sym typeface="Calibri"/>
                        </a:rPr>
                        <a:t>&lt;system.serviceModel&gt;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&lt;!-- 1. Registro de la clase que inyectará el Inspector de Seguridad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&lt;extensions&gt;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&lt;behaviorExtensions&gt;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&lt;add name="tokenValidator"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type="ServidorDotNet_Grupo05.seguridad.TokenHeaderBehaviorExtensionElement, ServidorDotNet_Grupo05"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&lt;/behaviorExtensions&gt;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&lt;/extensions&gt;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&lt;!-- 2. Configuración de los comportamientos del extremo (Endpoint)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&lt;behaviors&gt;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&lt;endpointBehaviors&gt;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&lt;behavior name="SeguridadEndpointBehavior"&gt;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&lt;tokenValidator /&gt; &lt;!-- Se aplica la revisión de cabecera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&lt;/behavior&gt;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&lt;/endpointBehaviors&gt;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&lt;serviceBehaviors&gt;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&lt;behavior name="MetadatosBehavior"&gt;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&lt;serviceMetadata httpGetEnabled="true" httpsGetEnabled="true"/&gt;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&lt;serviceDebug includeExceptionDetailInFaults="true"/&gt;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&lt;/behavior&gt;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&lt;/serviceBehaviors&gt;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&lt;/behaviors&gt;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&lt;!-- 3. Definición del Servicio y sus Endpoints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&lt;services&gt;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&lt;service name="ServidorDotNet_Grupo05.WSConversorUnidades" behaviorConfiguration="MetadatosBehavior"&gt;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&lt;endpoint address=""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binding="basicHttpBinding"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contract="ServidorDotNet_Grupo05.servicios.IWSConversorUnidades"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behaviorConfiguration="SeguridadEndpointBehavior"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&lt;/service&gt;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&lt;/services&gt;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&lt;/system.serviceModel&gt;</a:t>
                      </a:r>
                      <a:endParaRPr sz="900">
                        <a:solidFill>
                          <a:srgbClr val="4F81BD"/>
                        </a:solidFill>
                        <a:latin typeface="Calibri"/>
                        <a:ea typeface="Calibri"/>
                        <a:cs typeface="Calibri"/>
                        <a:sym typeface="Calibri"/>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27" name="Google Shape;227;p29"/>
          <p:cNvSpPr txBox="1">
            <a:spLocks noGrp="1"/>
          </p:cNvSpPr>
          <p:nvPr>
            <p:ph type="body" idx="1"/>
          </p:nvPr>
        </p:nvSpPr>
        <p:spPr>
          <a:xfrm>
            <a:off x="315950" y="2080675"/>
            <a:ext cx="2808300" cy="44937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Verificación del Contrato WSDL</a:t>
            </a:r>
            <a:endParaRPr>
              <a:latin typeface="Cambria"/>
              <a:ea typeface="Cambria"/>
              <a:cs typeface="Cambria"/>
              <a:sym typeface="Cambria"/>
            </a:endParaRPr>
          </a:p>
          <a:p>
            <a:pPr marL="342900" marR="0" lvl="0" indent="-323850" algn="just" rtl="0">
              <a:lnSpc>
                <a:spcPct val="107000"/>
              </a:lnSpc>
              <a:spcBef>
                <a:spcPts val="0"/>
              </a:spcBef>
              <a:spcAft>
                <a:spcPts val="0"/>
              </a:spcAft>
              <a:buSzPts val="1356"/>
              <a:buFont typeface="Cambria"/>
              <a:buChar char="∙"/>
            </a:pPr>
            <a:r>
              <a:rPr lang="es-ES" sz="1500">
                <a:latin typeface="Cambria"/>
                <a:ea typeface="Cambria"/>
                <a:cs typeface="Cambria"/>
                <a:sym typeface="Cambria"/>
              </a:rPr>
              <a:t>El documento fundamental que asegura la interoperabilidad SOAP es el WSDL. Al hacer clic en el enlace provisto por el servidor, el servidor IIS genera automáticamente el contrato XML. Este enlace ?wsdl será el que los clientes consumirán</a:t>
            </a:r>
            <a:endParaRPr sz="150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228" name="Google Shape;228;p2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a:t>
            </a:r>
            <a:r>
              <a:rPr lang="es-ES" sz="1200" b="1">
                <a:solidFill>
                  <a:srgbClr val="FFFF00"/>
                </a:solidFill>
                <a:latin typeface="Gill Sans"/>
                <a:ea typeface="Gill Sans"/>
                <a:cs typeface="Gill Sans"/>
                <a:sym typeface="Gill Sans"/>
              </a:rPr>
              <a:t>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9" name="Google Shape;229;p29"/>
          <p:cNvPicPr preferRelativeResize="0"/>
          <p:nvPr/>
        </p:nvPicPr>
        <p:blipFill>
          <a:blip r:embed="rId3">
            <a:alphaModFix/>
          </a:blip>
          <a:stretch>
            <a:fillRect/>
          </a:stretch>
        </p:blipFill>
        <p:spPr>
          <a:xfrm>
            <a:off x="3337925" y="2587200"/>
            <a:ext cx="5734050" cy="2943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35" name="Google Shape;235;p30"/>
          <p:cNvSpPr txBox="1">
            <a:spLocks noGrp="1"/>
          </p:cNvSpPr>
          <p:nvPr>
            <p:ph type="body" idx="1"/>
          </p:nvPr>
        </p:nvSpPr>
        <p:spPr>
          <a:xfrm>
            <a:off x="581200" y="2018775"/>
            <a:ext cx="2685600" cy="4558800"/>
          </a:xfrm>
          <a:prstGeom prst="rect">
            <a:avLst/>
          </a:prstGeom>
          <a:noFill/>
          <a:ln>
            <a:noFill/>
          </a:ln>
        </p:spPr>
        <p:txBody>
          <a:bodyPr spcFirstLastPara="1" wrap="square" lIns="91425" tIns="45700" rIns="91425" bIns="45700" anchor="ctr" anchorCtr="0">
            <a:normAutofit lnSpcReduction="10000"/>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1.2.5 	Creación del Servidor IIS</a:t>
            </a:r>
            <a:endParaRPr sz="1929" b="1">
              <a:latin typeface="Cambria"/>
              <a:ea typeface="Cambria"/>
              <a:cs typeface="Cambria"/>
              <a:sym typeface="Cambria"/>
            </a:endParaRPr>
          </a:p>
          <a:p>
            <a:pPr marL="457200" marR="0" lvl="0" indent="0" algn="just" rtl="0">
              <a:lnSpc>
                <a:spcPct val="107000"/>
              </a:lnSpc>
              <a:spcBef>
                <a:spcPts val="0"/>
              </a:spcBef>
              <a:spcAft>
                <a:spcPts val="0"/>
              </a:spcAft>
              <a:buNone/>
            </a:pPr>
            <a:endParaRPr sz="1929" b="1">
              <a:latin typeface="Cambria"/>
              <a:ea typeface="Cambria"/>
              <a:cs typeface="Cambria"/>
              <a:sym typeface="Cambria"/>
            </a:endParaRPr>
          </a:p>
          <a:p>
            <a:pPr marL="342900" marR="0" lvl="0" indent="-323850" algn="just" rtl="0">
              <a:lnSpc>
                <a:spcPct val="107000"/>
              </a:lnSpc>
              <a:spcBef>
                <a:spcPts val="0"/>
              </a:spcBef>
              <a:spcAft>
                <a:spcPts val="0"/>
              </a:spcAft>
              <a:buSzPts val="1356"/>
              <a:buFont typeface="Cambria"/>
              <a:buChar char="∙"/>
            </a:pPr>
            <a:r>
              <a:rPr lang="es-ES" sz="1500">
                <a:latin typeface="Cambria"/>
                <a:ea typeface="Cambria"/>
                <a:cs typeface="Cambria"/>
                <a:sym typeface="Cambria"/>
              </a:rPr>
              <a:t>Una vez la codificación está completada se procede a configurar el servidor IIS. En primer lugar, se accede a la opción de publicar en el proyecto.</a:t>
            </a:r>
            <a:endParaRPr sz="1500">
              <a:latin typeface="Cambria"/>
              <a:ea typeface="Cambria"/>
              <a:cs typeface="Cambria"/>
              <a:sym typeface="Cambria"/>
            </a:endParaRPr>
          </a:p>
          <a:p>
            <a:pPr marL="457200" marR="0" lvl="0" indent="0" algn="just" rtl="0">
              <a:lnSpc>
                <a:spcPct val="107000"/>
              </a:lnSpc>
              <a:spcBef>
                <a:spcPts val="0"/>
              </a:spcBef>
              <a:spcAft>
                <a:spcPts val="0"/>
              </a:spcAft>
              <a:buNone/>
            </a:pPr>
            <a:endParaRPr sz="1500">
              <a:latin typeface="Cambria"/>
              <a:ea typeface="Cambria"/>
              <a:cs typeface="Cambria"/>
              <a:sym typeface="Cambria"/>
            </a:endParaRPr>
          </a:p>
          <a:p>
            <a:pPr marL="342900" marR="0" lvl="0" indent="-332994" algn="just" rtl="0">
              <a:lnSpc>
                <a:spcPct val="107000"/>
              </a:lnSpc>
              <a:spcBef>
                <a:spcPts val="0"/>
              </a:spcBef>
              <a:spcAft>
                <a:spcPts val="0"/>
              </a:spcAft>
              <a:buSzPts val="1500"/>
              <a:buFont typeface="Cambria"/>
              <a:buChar char="∙"/>
            </a:pPr>
            <a:r>
              <a:rPr lang="es-ES" sz="1500">
                <a:latin typeface="Cambria"/>
                <a:ea typeface="Cambria"/>
                <a:cs typeface="Cambria"/>
                <a:sym typeface="Cambria"/>
              </a:rPr>
              <a:t>Posteriormente, se procede a seleccionar una carpeta local donde se va a generar un perfil, que son básicamente los archivos compilados y ejecutables del proyecto.</a:t>
            </a:r>
            <a:endParaRPr sz="150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236" name="Google Shape;236;p3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37" name="Google Shape;237;p30"/>
          <p:cNvPicPr preferRelativeResize="0"/>
          <p:nvPr/>
        </p:nvPicPr>
        <p:blipFill>
          <a:blip r:embed="rId3">
            <a:alphaModFix/>
          </a:blip>
          <a:stretch>
            <a:fillRect/>
          </a:stretch>
        </p:blipFill>
        <p:spPr>
          <a:xfrm>
            <a:off x="4065228" y="2702850"/>
            <a:ext cx="4892775" cy="3299450"/>
          </a:xfrm>
          <a:prstGeom prst="rect">
            <a:avLst/>
          </a:prstGeom>
          <a:noFill/>
          <a:ln>
            <a:noFill/>
          </a:ln>
        </p:spPr>
      </p:pic>
      <p:sp>
        <p:nvSpPr>
          <p:cNvPr id="238" name="Google Shape;238;p3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a:t>
            </a:r>
            <a:r>
              <a:rPr lang="es-ES" sz="1200" b="1">
                <a:solidFill>
                  <a:srgbClr val="FFFF00"/>
                </a:solidFill>
                <a:latin typeface="Gill Sans"/>
                <a:ea typeface="Gill Sans"/>
                <a:cs typeface="Gill Sans"/>
                <a:sym typeface="Gill Sans"/>
              </a:rPr>
              <a:t>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44" name="Google Shape;244;p31"/>
          <p:cNvSpPr txBox="1">
            <a:spLocks noGrp="1"/>
          </p:cNvSpPr>
          <p:nvPr>
            <p:ph type="body" idx="1"/>
          </p:nvPr>
        </p:nvSpPr>
        <p:spPr>
          <a:xfrm>
            <a:off x="581200" y="2018775"/>
            <a:ext cx="2685600" cy="4558800"/>
          </a:xfrm>
          <a:prstGeom prst="rect">
            <a:avLst/>
          </a:prstGeom>
          <a:noFill/>
          <a:ln>
            <a:noFill/>
          </a:ln>
        </p:spPr>
        <p:txBody>
          <a:bodyPr spcFirstLastPara="1" wrap="square" lIns="91425" tIns="45700" rIns="91425" bIns="45700" anchor="ctr" anchorCtr="0">
            <a:normAutofit/>
          </a:bodyPr>
          <a:lstStyle/>
          <a:p>
            <a:pPr marL="342900" marR="0" lvl="0" indent="-323850" algn="just" rtl="0">
              <a:lnSpc>
                <a:spcPct val="107000"/>
              </a:lnSpc>
              <a:spcBef>
                <a:spcPts val="0"/>
              </a:spcBef>
              <a:spcAft>
                <a:spcPts val="0"/>
              </a:spcAft>
              <a:buSzPts val="1356"/>
              <a:buFont typeface="Cambria"/>
              <a:buChar char="∙"/>
            </a:pPr>
            <a:r>
              <a:rPr lang="es-ES" sz="1500">
                <a:latin typeface="Cambria"/>
                <a:ea typeface="Cambria"/>
                <a:cs typeface="Cambria"/>
                <a:sym typeface="Cambria"/>
              </a:rPr>
              <a:t>Se selecciona el directorio de la carpeta donde se va a guardar y lo dejamos en uno creado por nosotros</a:t>
            </a:r>
            <a:endParaRPr sz="1500">
              <a:latin typeface="Cambria"/>
              <a:ea typeface="Cambria"/>
              <a:cs typeface="Cambria"/>
              <a:sym typeface="Cambria"/>
            </a:endParaRPr>
          </a:p>
          <a:p>
            <a:pPr marL="457200" marR="0" lvl="0" indent="0" algn="just" rtl="0">
              <a:lnSpc>
                <a:spcPct val="107000"/>
              </a:lnSpc>
              <a:spcBef>
                <a:spcPts val="0"/>
              </a:spcBef>
              <a:spcAft>
                <a:spcPts val="0"/>
              </a:spcAft>
              <a:buNone/>
            </a:pPr>
            <a:endParaRPr sz="1500">
              <a:latin typeface="Cambria"/>
              <a:ea typeface="Cambria"/>
              <a:cs typeface="Cambria"/>
              <a:sym typeface="Cambria"/>
            </a:endParaRPr>
          </a:p>
          <a:p>
            <a:pPr marL="342900" marR="0" lvl="0" indent="-332994" algn="just" rtl="0">
              <a:lnSpc>
                <a:spcPct val="107000"/>
              </a:lnSpc>
              <a:spcBef>
                <a:spcPts val="0"/>
              </a:spcBef>
              <a:spcAft>
                <a:spcPts val="0"/>
              </a:spcAft>
              <a:buSzPts val="1500"/>
              <a:buFont typeface="Cambria"/>
              <a:buChar char="∙"/>
            </a:pPr>
            <a:r>
              <a:rPr lang="es-ES" sz="1500">
                <a:latin typeface="Cambria"/>
                <a:ea typeface="Cambria"/>
                <a:cs typeface="Cambria"/>
                <a:sym typeface="Cambria"/>
              </a:rPr>
              <a:t>Una vez que se ha confirmado que el proyecto está listo para publicar, se le da clic a Publicar.</a:t>
            </a:r>
            <a:endParaRPr sz="150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245" name="Google Shape;245;p3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3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a:t>
            </a:r>
            <a:r>
              <a:rPr lang="es-ES" sz="1200" b="1">
                <a:solidFill>
                  <a:srgbClr val="FFFF00"/>
                </a:solidFill>
                <a:latin typeface="Gill Sans"/>
                <a:ea typeface="Gill Sans"/>
                <a:cs typeface="Gill Sans"/>
                <a:sym typeface="Gill Sans"/>
              </a:rPr>
              <a:t>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7" name="Google Shape;247;p31"/>
          <p:cNvPicPr preferRelativeResize="0"/>
          <p:nvPr/>
        </p:nvPicPr>
        <p:blipFill>
          <a:blip r:embed="rId3">
            <a:alphaModFix/>
          </a:blip>
          <a:stretch>
            <a:fillRect/>
          </a:stretch>
        </p:blipFill>
        <p:spPr>
          <a:xfrm>
            <a:off x="4230475" y="4536200"/>
            <a:ext cx="4313976" cy="2321800"/>
          </a:xfrm>
          <a:prstGeom prst="rect">
            <a:avLst/>
          </a:prstGeom>
          <a:noFill/>
          <a:ln>
            <a:noFill/>
          </a:ln>
        </p:spPr>
      </p:pic>
      <p:pic>
        <p:nvPicPr>
          <p:cNvPr id="248" name="Google Shape;248;p31"/>
          <p:cNvPicPr preferRelativeResize="0"/>
          <p:nvPr/>
        </p:nvPicPr>
        <p:blipFill>
          <a:blip r:embed="rId4">
            <a:alphaModFix/>
          </a:blip>
          <a:stretch>
            <a:fillRect/>
          </a:stretch>
        </p:blipFill>
        <p:spPr>
          <a:xfrm>
            <a:off x="4514498" y="1809500"/>
            <a:ext cx="3480899" cy="24343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54" name="Google Shape;254;p32"/>
          <p:cNvSpPr txBox="1">
            <a:spLocks noGrp="1"/>
          </p:cNvSpPr>
          <p:nvPr>
            <p:ph type="body" idx="1"/>
          </p:nvPr>
        </p:nvSpPr>
        <p:spPr>
          <a:xfrm>
            <a:off x="581200" y="2018775"/>
            <a:ext cx="2685600" cy="4558800"/>
          </a:xfrm>
          <a:prstGeom prst="rect">
            <a:avLst/>
          </a:prstGeom>
          <a:noFill/>
          <a:ln>
            <a:noFill/>
          </a:ln>
        </p:spPr>
        <p:txBody>
          <a:bodyPr spcFirstLastPara="1" wrap="square" lIns="91425" tIns="45700" rIns="91425" bIns="45700" anchor="ctr" anchorCtr="0">
            <a:normAutofit/>
          </a:bodyPr>
          <a:lstStyle/>
          <a:p>
            <a:pPr marL="342900" marR="0" lvl="0" indent="-323850" algn="just" rtl="0">
              <a:lnSpc>
                <a:spcPct val="107000"/>
              </a:lnSpc>
              <a:spcBef>
                <a:spcPts val="0"/>
              </a:spcBef>
              <a:spcAft>
                <a:spcPts val="0"/>
              </a:spcAft>
              <a:buSzPts val="1356"/>
              <a:buFont typeface="Cambria"/>
              <a:buChar char="∙"/>
            </a:pPr>
            <a:r>
              <a:rPr lang="es-ES" sz="1500">
                <a:latin typeface="Cambria"/>
                <a:ea typeface="Cambria"/>
                <a:cs typeface="Cambria"/>
                <a:sym typeface="Cambria"/>
              </a:rPr>
              <a:t>Confirmamos que se hayan generado distintos tipos de archivos necesarios para la ejecución</a:t>
            </a:r>
            <a:endParaRPr sz="1800">
              <a:latin typeface="Cambria"/>
              <a:ea typeface="Cambria"/>
              <a:cs typeface="Cambria"/>
              <a:sym typeface="Cambria"/>
            </a:endParaRPr>
          </a:p>
        </p:txBody>
      </p:sp>
      <p:sp>
        <p:nvSpPr>
          <p:cNvPr id="255" name="Google Shape;255;p3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3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a:t>
            </a:r>
            <a:r>
              <a:rPr lang="es-ES" sz="1200" b="1">
                <a:solidFill>
                  <a:srgbClr val="FFFF00"/>
                </a:solidFill>
                <a:latin typeface="Gill Sans"/>
                <a:ea typeface="Gill Sans"/>
                <a:cs typeface="Gill Sans"/>
                <a:sym typeface="Gill Sans"/>
              </a:rPr>
              <a:t>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57" name="Google Shape;257;p32"/>
          <p:cNvPicPr preferRelativeResize="0"/>
          <p:nvPr/>
        </p:nvPicPr>
        <p:blipFill>
          <a:blip r:embed="rId3">
            <a:alphaModFix/>
          </a:blip>
          <a:stretch>
            <a:fillRect/>
          </a:stretch>
        </p:blipFill>
        <p:spPr>
          <a:xfrm>
            <a:off x="3458225" y="3764025"/>
            <a:ext cx="5734050" cy="914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63" name="Google Shape;263;p33"/>
          <p:cNvSpPr txBox="1">
            <a:spLocks noGrp="1"/>
          </p:cNvSpPr>
          <p:nvPr>
            <p:ph type="body" idx="1"/>
          </p:nvPr>
        </p:nvSpPr>
        <p:spPr>
          <a:xfrm>
            <a:off x="581200" y="2018775"/>
            <a:ext cx="2685600" cy="4558800"/>
          </a:xfrm>
          <a:prstGeom prst="rect">
            <a:avLst/>
          </a:prstGeom>
          <a:noFill/>
          <a:ln>
            <a:noFill/>
          </a:ln>
        </p:spPr>
        <p:txBody>
          <a:bodyPr spcFirstLastPara="1" wrap="square" lIns="91425" tIns="45700" rIns="91425" bIns="45700" anchor="ctr" anchorCtr="0">
            <a:normAutofit/>
          </a:bodyPr>
          <a:lstStyle/>
          <a:p>
            <a:pPr marL="342900" marR="0" lvl="0" indent="-323850" algn="just" rtl="0">
              <a:lnSpc>
                <a:spcPct val="107000"/>
              </a:lnSpc>
              <a:spcBef>
                <a:spcPts val="0"/>
              </a:spcBef>
              <a:spcAft>
                <a:spcPts val="0"/>
              </a:spcAft>
              <a:buSzPts val="1356"/>
              <a:buFont typeface="Cambria"/>
              <a:buChar char="∙"/>
            </a:pPr>
            <a:r>
              <a:rPr lang="es-ES" sz="1500">
                <a:latin typeface="Cambria"/>
                <a:ea typeface="Cambria"/>
                <a:cs typeface="Cambria"/>
                <a:sym typeface="Cambria"/>
              </a:rPr>
              <a:t>Ahora, dependiendo de la versión de ASP.NET Core que hayamos utilizado debemos buscar el hosting bundle installer, que es un programa que IIS requiere para hostear este tipo de aplicaciones en la máquina host.</a:t>
            </a:r>
            <a:endParaRPr sz="1800">
              <a:latin typeface="Cambria"/>
              <a:ea typeface="Cambria"/>
              <a:cs typeface="Cambria"/>
              <a:sym typeface="Cambria"/>
            </a:endParaRPr>
          </a:p>
        </p:txBody>
      </p:sp>
      <p:sp>
        <p:nvSpPr>
          <p:cNvPr id="264" name="Google Shape;264;p3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3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a:t>
            </a:r>
            <a:r>
              <a:rPr lang="es-ES" sz="1200" b="1">
                <a:solidFill>
                  <a:srgbClr val="FFFF00"/>
                </a:solidFill>
                <a:latin typeface="Gill Sans"/>
                <a:ea typeface="Gill Sans"/>
                <a:cs typeface="Gill Sans"/>
                <a:sym typeface="Gill Sans"/>
              </a:rPr>
              <a:t>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6" name="Google Shape;266;p33"/>
          <p:cNvPicPr preferRelativeResize="0"/>
          <p:nvPr/>
        </p:nvPicPr>
        <p:blipFill rotWithShape="1">
          <a:blip r:embed="rId3">
            <a:alphaModFix/>
          </a:blip>
          <a:srcRect b="72048"/>
          <a:stretch/>
        </p:blipFill>
        <p:spPr>
          <a:xfrm>
            <a:off x="4200250" y="3388650"/>
            <a:ext cx="4152900" cy="14287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72" name="Google Shape;272;p34"/>
          <p:cNvSpPr txBox="1">
            <a:spLocks noGrp="1"/>
          </p:cNvSpPr>
          <p:nvPr>
            <p:ph type="body" idx="1"/>
          </p:nvPr>
        </p:nvSpPr>
        <p:spPr>
          <a:xfrm>
            <a:off x="752000" y="1848950"/>
            <a:ext cx="2685600" cy="2831100"/>
          </a:xfrm>
          <a:prstGeom prst="rect">
            <a:avLst/>
          </a:prstGeom>
          <a:noFill/>
          <a:ln>
            <a:noFill/>
          </a:ln>
        </p:spPr>
        <p:txBody>
          <a:bodyPr spcFirstLastPara="1" wrap="square" lIns="91425" tIns="45700" rIns="91425" bIns="45700" anchor="ctr" anchorCtr="0">
            <a:normAutofit/>
          </a:bodyPr>
          <a:lstStyle/>
          <a:p>
            <a:pPr marL="342900" marR="0" lvl="0" indent="-323850" algn="just" rtl="0">
              <a:lnSpc>
                <a:spcPct val="107000"/>
              </a:lnSpc>
              <a:spcBef>
                <a:spcPts val="0"/>
              </a:spcBef>
              <a:spcAft>
                <a:spcPts val="0"/>
              </a:spcAft>
              <a:buSzPts val="1356"/>
              <a:buFont typeface="Cambria"/>
              <a:buChar char="∙"/>
            </a:pPr>
            <a:r>
              <a:rPr lang="es-ES" sz="1500">
                <a:latin typeface="Cambria"/>
                <a:ea typeface="Cambria"/>
                <a:cs typeface="Cambria"/>
                <a:sym typeface="Cambria"/>
              </a:rPr>
              <a:t>Una vez instalado, abrimos nuestra interfaz de IIS y le damos a agregar un sitio.</a:t>
            </a:r>
            <a:endParaRPr sz="1500">
              <a:latin typeface="Cambria"/>
              <a:ea typeface="Cambria"/>
              <a:cs typeface="Cambria"/>
              <a:sym typeface="Cambria"/>
            </a:endParaRPr>
          </a:p>
          <a:p>
            <a:pPr marL="457200" marR="0" lvl="0" indent="0" algn="just" rtl="0">
              <a:lnSpc>
                <a:spcPct val="107000"/>
              </a:lnSpc>
              <a:spcBef>
                <a:spcPts val="0"/>
              </a:spcBef>
              <a:spcAft>
                <a:spcPts val="0"/>
              </a:spcAft>
              <a:buNone/>
            </a:pPr>
            <a:endParaRPr sz="1500">
              <a:latin typeface="Cambria"/>
              <a:ea typeface="Cambria"/>
              <a:cs typeface="Cambria"/>
              <a:sym typeface="Cambria"/>
            </a:endParaRPr>
          </a:p>
          <a:p>
            <a:pPr marL="342900" marR="0" lvl="0" indent="-332994" algn="just" rtl="0">
              <a:lnSpc>
                <a:spcPct val="107000"/>
              </a:lnSpc>
              <a:spcBef>
                <a:spcPts val="0"/>
              </a:spcBef>
              <a:spcAft>
                <a:spcPts val="0"/>
              </a:spcAft>
              <a:buSzPts val="1500"/>
              <a:buFont typeface="Cambria"/>
              <a:buChar char="∙"/>
            </a:pPr>
            <a:r>
              <a:rPr lang="es-ES" sz="1500">
                <a:latin typeface="Cambria"/>
                <a:ea typeface="Cambria"/>
                <a:cs typeface="Cambria"/>
                <a:sym typeface="Cambria"/>
              </a:rPr>
              <a:t>Configuramos nuestro sitio asignándole una ruta de acceso local, justamente donde se generaron los archivos.</a:t>
            </a:r>
            <a:endParaRPr sz="1500">
              <a:latin typeface="Cambria"/>
              <a:ea typeface="Cambria"/>
              <a:cs typeface="Cambria"/>
              <a:sym typeface="Cambria"/>
            </a:endParaRPr>
          </a:p>
        </p:txBody>
      </p:sp>
      <p:sp>
        <p:nvSpPr>
          <p:cNvPr id="273" name="Google Shape;273;p3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4" name="Google Shape;274;p34"/>
          <p:cNvPicPr preferRelativeResize="0"/>
          <p:nvPr/>
        </p:nvPicPr>
        <p:blipFill>
          <a:blip r:embed="rId3">
            <a:alphaModFix/>
          </a:blip>
          <a:stretch>
            <a:fillRect/>
          </a:stretch>
        </p:blipFill>
        <p:spPr>
          <a:xfrm>
            <a:off x="558438" y="4701250"/>
            <a:ext cx="3743325" cy="2009775"/>
          </a:xfrm>
          <a:prstGeom prst="rect">
            <a:avLst/>
          </a:prstGeom>
          <a:noFill/>
          <a:ln>
            <a:noFill/>
          </a:ln>
        </p:spPr>
      </p:pic>
      <p:pic>
        <p:nvPicPr>
          <p:cNvPr id="275" name="Google Shape;275;p34"/>
          <p:cNvPicPr preferRelativeResize="0"/>
          <p:nvPr/>
        </p:nvPicPr>
        <p:blipFill>
          <a:blip r:embed="rId4">
            <a:alphaModFix/>
          </a:blip>
          <a:stretch>
            <a:fillRect/>
          </a:stretch>
        </p:blipFill>
        <p:spPr>
          <a:xfrm>
            <a:off x="4794025" y="1848950"/>
            <a:ext cx="4097438" cy="4862078"/>
          </a:xfrm>
          <a:prstGeom prst="rect">
            <a:avLst/>
          </a:prstGeom>
          <a:noFill/>
          <a:ln>
            <a:noFill/>
          </a:ln>
        </p:spPr>
      </p:pic>
      <p:sp>
        <p:nvSpPr>
          <p:cNvPr id="276" name="Google Shape;276;p3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a:t>
            </a:r>
            <a:r>
              <a:rPr lang="es-ES" sz="1200" b="1">
                <a:solidFill>
                  <a:srgbClr val="FFFF00"/>
                </a:solidFill>
                <a:latin typeface="Gill Sans"/>
                <a:ea typeface="Gill Sans"/>
                <a:cs typeface="Gill Sans"/>
                <a:sym typeface="Gill Sans"/>
              </a:rPr>
              <a:t>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82" name="Google Shape;282;p35"/>
          <p:cNvSpPr txBox="1">
            <a:spLocks noGrp="1"/>
          </p:cNvSpPr>
          <p:nvPr>
            <p:ph type="body" idx="1"/>
          </p:nvPr>
        </p:nvSpPr>
        <p:spPr>
          <a:xfrm>
            <a:off x="410375" y="2031375"/>
            <a:ext cx="2685600" cy="1610100"/>
          </a:xfrm>
          <a:prstGeom prst="rect">
            <a:avLst/>
          </a:prstGeom>
          <a:noFill/>
          <a:ln>
            <a:noFill/>
          </a:ln>
        </p:spPr>
        <p:txBody>
          <a:bodyPr spcFirstLastPara="1" wrap="square" lIns="91425" tIns="45700" rIns="91425" bIns="45700" anchor="ctr" anchorCtr="0">
            <a:normAutofit/>
          </a:bodyPr>
          <a:lstStyle/>
          <a:p>
            <a:pPr marL="342900" marR="0" lvl="0" indent="-323850" algn="just" rtl="0">
              <a:lnSpc>
                <a:spcPct val="107000"/>
              </a:lnSpc>
              <a:spcBef>
                <a:spcPts val="0"/>
              </a:spcBef>
              <a:spcAft>
                <a:spcPts val="0"/>
              </a:spcAft>
              <a:buSzPts val="1356"/>
              <a:buFont typeface="Cambria"/>
              <a:buChar char="∙"/>
            </a:pPr>
            <a:r>
              <a:rPr lang="es-ES" sz="1500">
                <a:latin typeface="Cambria"/>
                <a:ea typeface="Cambria"/>
                <a:cs typeface="Cambria"/>
                <a:sym typeface="Cambria"/>
              </a:rPr>
              <a:t>Configuramos los permisos para que el grupo IIS_IUSRS tenga privilegios y así poder acceder al sitio.</a:t>
            </a:r>
            <a:endParaRPr sz="1500">
              <a:latin typeface="Cambria"/>
              <a:ea typeface="Cambria"/>
              <a:cs typeface="Cambria"/>
              <a:sym typeface="Cambria"/>
            </a:endParaRPr>
          </a:p>
        </p:txBody>
      </p:sp>
      <p:sp>
        <p:nvSpPr>
          <p:cNvPr id="283" name="Google Shape;283;p3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84" name="Google Shape;284;p35"/>
          <p:cNvPicPr preferRelativeResize="0"/>
          <p:nvPr/>
        </p:nvPicPr>
        <p:blipFill>
          <a:blip r:embed="rId3">
            <a:alphaModFix/>
          </a:blip>
          <a:stretch>
            <a:fillRect/>
          </a:stretch>
        </p:blipFill>
        <p:spPr>
          <a:xfrm>
            <a:off x="3228975" y="2031375"/>
            <a:ext cx="5734050" cy="4429125"/>
          </a:xfrm>
          <a:prstGeom prst="rect">
            <a:avLst/>
          </a:prstGeom>
          <a:noFill/>
          <a:ln>
            <a:noFill/>
          </a:ln>
        </p:spPr>
      </p:pic>
      <p:sp>
        <p:nvSpPr>
          <p:cNvPr id="285" name="Google Shape;285;p3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a:t>
            </a:r>
            <a:r>
              <a:rPr lang="es-ES" sz="1200" b="1">
                <a:solidFill>
                  <a:srgbClr val="FFFF00"/>
                </a:solidFill>
                <a:latin typeface="Gill Sans"/>
                <a:ea typeface="Gill Sans"/>
                <a:cs typeface="Gill Sans"/>
                <a:sym typeface="Gill Sans"/>
              </a:rPr>
              <a:t>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91" name="Google Shape;291;p36"/>
          <p:cNvSpPr txBox="1">
            <a:spLocks noGrp="1"/>
          </p:cNvSpPr>
          <p:nvPr>
            <p:ph type="body" idx="1"/>
          </p:nvPr>
        </p:nvSpPr>
        <p:spPr>
          <a:xfrm>
            <a:off x="581200" y="2018775"/>
            <a:ext cx="2685600" cy="45588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1.2.6 	Ejecución del Servidor</a:t>
            </a:r>
            <a:endParaRPr sz="1929" b="1">
              <a:latin typeface="Cambria"/>
              <a:ea typeface="Cambria"/>
              <a:cs typeface="Cambria"/>
              <a:sym typeface="Cambria"/>
            </a:endParaRPr>
          </a:p>
          <a:p>
            <a:pPr marL="457200" marR="0" lvl="0" indent="0" algn="just" rtl="0">
              <a:lnSpc>
                <a:spcPct val="107000"/>
              </a:lnSpc>
              <a:spcBef>
                <a:spcPts val="0"/>
              </a:spcBef>
              <a:spcAft>
                <a:spcPts val="0"/>
              </a:spcAft>
              <a:buNone/>
            </a:pPr>
            <a:endParaRPr sz="1929" b="1">
              <a:latin typeface="Cambria"/>
              <a:ea typeface="Cambria"/>
              <a:cs typeface="Cambria"/>
              <a:sym typeface="Cambria"/>
            </a:endParaRPr>
          </a:p>
          <a:p>
            <a:pPr marL="342900" marR="0" lvl="0" indent="-332994" algn="just" rtl="0">
              <a:lnSpc>
                <a:spcPct val="107000"/>
              </a:lnSpc>
              <a:spcBef>
                <a:spcPts val="0"/>
              </a:spcBef>
              <a:spcAft>
                <a:spcPts val="0"/>
              </a:spcAft>
              <a:buSzPts val="1500"/>
              <a:buFont typeface="Cambria"/>
              <a:buChar char="∙"/>
            </a:pPr>
            <a:r>
              <a:rPr lang="es-ES" sz="1500">
                <a:latin typeface="Cambria"/>
                <a:ea typeface="Cambria"/>
                <a:cs typeface="Cambria"/>
                <a:sym typeface="Cambria"/>
              </a:rPr>
              <a:t>Finalmente ejecutamos, y al tratarse de una API que solo muestra swagger en desarrollo, pues no nos sale nada, sin embargo si nos conectamos con un cliente podemos ver que podemos ya hacer nuestras peticiones.</a:t>
            </a:r>
            <a:endParaRPr sz="1500">
              <a:latin typeface="Cambria"/>
              <a:ea typeface="Cambria"/>
              <a:cs typeface="Cambria"/>
              <a:sym typeface="Cambria"/>
            </a:endParaRPr>
          </a:p>
          <a:p>
            <a:pPr marL="0" marR="0" lvl="0" indent="0" algn="just" rtl="0">
              <a:lnSpc>
                <a:spcPct val="107000"/>
              </a:lnSpc>
              <a:spcBef>
                <a:spcPts val="0"/>
              </a:spcBef>
              <a:spcAft>
                <a:spcPts val="0"/>
              </a:spcAft>
              <a:buNone/>
            </a:pPr>
            <a:endParaRPr sz="150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292" name="Google Shape;292;p3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93" name="Google Shape;293;p36"/>
          <p:cNvPicPr preferRelativeResize="0"/>
          <p:nvPr/>
        </p:nvPicPr>
        <p:blipFill>
          <a:blip r:embed="rId3">
            <a:alphaModFix/>
          </a:blip>
          <a:stretch>
            <a:fillRect/>
          </a:stretch>
        </p:blipFill>
        <p:spPr>
          <a:xfrm>
            <a:off x="4325538" y="1903275"/>
            <a:ext cx="3540826" cy="2046850"/>
          </a:xfrm>
          <a:prstGeom prst="rect">
            <a:avLst/>
          </a:prstGeom>
          <a:noFill/>
          <a:ln>
            <a:noFill/>
          </a:ln>
        </p:spPr>
      </p:pic>
      <p:pic>
        <p:nvPicPr>
          <p:cNvPr id="294" name="Google Shape;294;p36"/>
          <p:cNvPicPr preferRelativeResize="0"/>
          <p:nvPr/>
        </p:nvPicPr>
        <p:blipFill>
          <a:blip r:embed="rId4">
            <a:alphaModFix/>
          </a:blip>
          <a:stretch>
            <a:fillRect/>
          </a:stretch>
        </p:blipFill>
        <p:spPr>
          <a:xfrm>
            <a:off x="3458225" y="4043608"/>
            <a:ext cx="5734050" cy="2619375"/>
          </a:xfrm>
          <a:prstGeom prst="rect">
            <a:avLst/>
          </a:prstGeom>
          <a:noFill/>
          <a:ln>
            <a:noFill/>
          </a:ln>
        </p:spPr>
      </p:pic>
      <p:sp>
        <p:nvSpPr>
          <p:cNvPr id="295" name="Google Shape;295;p3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a:t>
            </a:r>
            <a:r>
              <a:rPr lang="es-ES" sz="1200" b="1">
                <a:solidFill>
                  <a:srgbClr val="FFFF00"/>
                </a:solidFill>
                <a:latin typeface="Gill Sans"/>
                <a:ea typeface="Gill Sans"/>
                <a:cs typeface="Gill Sans"/>
                <a:sym typeface="Gill Sans"/>
              </a:rPr>
              <a:t>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01" name="Google Shape;301;p37"/>
          <p:cNvSpPr txBox="1">
            <a:spLocks noGrp="1"/>
          </p:cNvSpPr>
          <p:nvPr>
            <p:ph type="body" idx="1"/>
          </p:nvPr>
        </p:nvSpPr>
        <p:spPr>
          <a:xfrm>
            <a:off x="581200" y="2018775"/>
            <a:ext cx="2685600" cy="45588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1.2.6 	Ejecución del Servidor</a:t>
            </a:r>
            <a:endParaRPr sz="1929" b="1">
              <a:latin typeface="Cambria"/>
              <a:ea typeface="Cambria"/>
              <a:cs typeface="Cambria"/>
              <a:sym typeface="Cambria"/>
            </a:endParaRPr>
          </a:p>
          <a:p>
            <a:pPr marL="457200" marR="0" lvl="0" indent="0" algn="just" rtl="0">
              <a:lnSpc>
                <a:spcPct val="107000"/>
              </a:lnSpc>
              <a:spcBef>
                <a:spcPts val="0"/>
              </a:spcBef>
              <a:spcAft>
                <a:spcPts val="0"/>
              </a:spcAft>
              <a:buNone/>
            </a:pPr>
            <a:endParaRPr sz="1929" b="1">
              <a:latin typeface="Cambria"/>
              <a:ea typeface="Cambria"/>
              <a:cs typeface="Cambria"/>
              <a:sym typeface="Cambria"/>
            </a:endParaRPr>
          </a:p>
          <a:p>
            <a:pPr marL="342900" marR="0" lvl="0" indent="-332994" algn="just" rtl="0">
              <a:lnSpc>
                <a:spcPct val="107000"/>
              </a:lnSpc>
              <a:spcBef>
                <a:spcPts val="0"/>
              </a:spcBef>
              <a:spcAft>
                <a:spcPts val="0"/>
              </a:spcAft>
              <a:buSzPts val="1500"/>
              <a:buFont typeface="Cambria"/>
              <a:buChar char="∙"/>
            </a:pPr>
            <a:r>
              <a:rPr lang="es-ES" sz="1500">
                <a:latin typeface="Cambria"/>
                <a:ea typeface="Cambria"/>
                <a:cs typeface="Cambria"/>
                <a:sym typeface="Cambria"/>
              </a:rPr>
              <a:t>Finalmente ejecutamos, y al tratarse de una API que solo muestra swagger en desarrollo, pues no nos sale nada, sin embargo si nos conectamos con un cliente podemos ver que podemos ya hacer nuestras peticiones.</a:t>
            </a:r>
            <a:endParaRPr sz="1500">
              <a:latin typeface="Cambria"/>
              <a:ea typeface="Cambria"/>
              <a:cs typeface="Cambria"/>
              <a:sym typeface="Cambria"/>
            </a:endParaRPr>
          </a:p>
          <a:p>
            <a:pPr marL="0" marR="0" lvl="0" indent="0" algn="just" rtl="0">
              <a:lnSpc>
                <a:spcPct val="107000"/>
              </a:lnSpc>
              <a:spcBef>
                <a:spcPts val="0"/>
              </a:spcBef>
              <a:spcAft>
                <a:spcPts val="0"/>
              </a:spcAft>
              <a:buNone/>
            </a:pPr>
            <a:endParaRPr sz="150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302" name="Google Shape;302;p3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03" name="Google Shape;303;p37"/>
          <p:cNvPicPr preferRelativeResize="0"/>
          <p:nvPr/>
        </p:nvPicPr>
        <p:blipFill>
          <a:blip r:embed="rId3">
            <a:alphaModFix/>
          </a:blip>
          <a:stretch>
            <a:fillRect/>
          </a:stretch>
        </p:blipFill>
        <p:spPr>
          <a:xfrm>
            <a:off x="3458225" y="2931338"/>
            <a:ext cx="5734050" cy="2733675"/>
          </a:xfrm>
          <a:prstGeom prst="rect">
            <a:avLst/>
          </a:prstGeom>
          <a:noFill/>
          <a:ln>
            <a:noFill/>
          </a:ln>
        </p:spPr>
      </p:pic>
      <p:sp>
        <p:nvSpPr>
          <p:cNvPr id="304" name="Google Shape;304;p3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a:t>
            </a:r>
            <a:r>
              <a:rPr lang="es-ES" sz="1200" b="1">
                <a:solidFill>
                  <a:srgbClr val="FFFF00"/>
                </a:solidFill>
                <a:latin typeface="Gill Sans"/>
                <a:ea typeface="Gill Sans"/>
                <a:cs typeface="Gill Sans"/>
                <a:sym typeface="Gill Sans"/>
              </a:rPr>
              <a:t>SOAP</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CONCLUSIONES</a:t>
            </a:r>
            <a:endParaRPr/>
          </a:p>
        </p:txBody>
      </p:sp>
      <p:sp>
        <p:nvSpPr>
          <p:cNvPr id="310" name="Google Shape;310;p38"/>
          <p:cNvSpPr txBox="1">
            <a:spLocks noGrp="1"/>
          </p:cNvSpPr>
          <p:nvPr>
            <p:ph type="body" idx="1"/>
          </p:nvPr>
        </p:nvSpPr>
        <p:spPr>
          <a:xfrm>
            <a:off x="479742" y="2596446"/>
            <a:ext cx="8589300" cy="3678300"/>
          </a:xfrm>
          <a:prstGeom prst="rect">
            <a:avLst/>
          </a:prstGeom>
          <a:noFill/>
          <a:ln>
            <a:noFill/>
          </a:ln>
        </p:spPr>
        <p:txBody>
          <a:bodyPr spcFirstLastPara="1" wrap="square" lIns="91425" tIns="45700" rIns="91425" bIns="45700" anchor="ctr" anchorCtr="0">
            <a:noAutofit/>
          </a:bodyPr>
          <a:lstStyle/>
          <a:p>
            <a:pPr marL="0" marR="0" lvl="0" indent="0" algn="just" rtl="0">
              <a:lnSpc>
                <a:spcPct val="87000"/>
              </a:lnSpc>
              <a:spcBef>
                <a:spcPts val="0"/>
              </a:spcBef>
              <a:spcAft>
                <a:spcPts val="0"/>
              </a:spcAft>
              <a:buSzPts val="1159"/>
              <a:buNone/>
            </a:pPr>
            <a:r>
              <a:rPr lang="es-ES" sz="1830">
                <a:latin typeface="Cambria"/>
                <a:ea typeface="Cambria"/>
                <a:cs typeface="Cambria"/>
                <a:sym typeface="Cambria"/>
              </a:rPr>
              <a:t>Implementación exitosa de un servicio web WCF sobre IIS, permitiendo una exposición limpia de contratos y gestión de mensajes SOAP.</a:t>
            </a:r>
            <a:endParaRPr sz="1830">
              <a:latin typeface="Cambria"/>
              <a:ea typeface="Cambria"/>
              <a:cs typeface="Cambria"/>
              <a:sym typeface="Cambria"/>
            </a:endParaRPr>
          </a:p>
          <a:p>
            <a:pPr marL="0" marR="0" lvl="0" indent="0" algn="just" rtl="0">
              <a:lnSpc>
                <a:spcPct val="87000"/>
              </a:lnSpc>
              <a:spcBef>
                <a:spcPts val="0"/>
              </a:spcBef>
              <a:spcAft>
                <a:spcPts val="0"/>
              </a:spcAft>
              <a:buSzPts val="1159"/>
              <a:buNone/>
            </a:pPr>
            <a:r>
              <a:rPr lang="es-ES" sz="1830">
                <a:latin typeface="Cambria"/>
                <a:ea typeface="Cambria"/>
                <a:cs typeface="Cambria"/>
                <a:sym typeface="Cambria"/>
              </a:rPr>
              <a:t>La configuración mediante Web.config garantiza un backend sólido, centralizado y optimizado para entornos de red local.</a:t>
            </a:r>
            <a:endParaRPr sz="1830">
              <a:latin typeface="Cambria"/>
              <a:ea typeface="Cambria"/>
              <a:cs typeface="Cambria"/>
              <a:sym typeface="Cambria"/>
            </a:endParaRPr>
          </a:p>
          <a:p>
            <a:pPr marL="0" marR="0" lvl="0" indent="0" algn="just" rtl="0">
              <a:lnSpc>
                <a:spcPct val="87000"/>
              </a:lnSpc>
              <a:spcBef>
                <a:spcPts val="0"/>
              </a:spcBef>
              <a:spcAft>
                <a:spcPts val="0"/>
              </a:spcAft>
              <a:buSzPts val="1159"/>
              <a:buNone/>
            </a:pPr>
            <a:endParaRPr sz="1830">
              <a:latin typeface="Cambria"/>
              <a:ea typeface="Cambria"/>
              <a:cs typeface="Cambria"/>
              <a:sym typeface="Cambria"/>
            </a:endParaRPr>
          </a:p>
          <a:p>
            <a:pPr marL="0" marR="0" lvl="0" indent="0" algn="just" rtl="0">
              <a:lnSpc>
                <a:spcPct val="87000"/>
              </a:lnSpc>
              <a:spcBef>
                <a:spcPts val="0"/>
              </a:spcBef>
              <a:spcAft>
                <a:spcPts val="0"/>
              </a:spcAft>
              <a:buSzPts val="1159"/>
              <a:buNone/>
            </a:pPr>
            <a:r>
              <a:rPr lang="es-ES" sz="1830">
                <a:latin typeface="Cambria"/>
                <a:ea typeface="Cambria"/>
                <a:cs typeface="Cambria"/>
                <a:sym typeface="Cambria"/>
              </a:rPr>
              <a:t>Los estándares SOAP y WSDL facilitaron la integración transparente de diversos clientes mediante la autogeneración de clases Proxy.</a:t>
            </a:r>
            <a:endParaRPr sz="1830">
              <a:latin typeface="Cambria"/>
              <a:ea typeface="Cambria"/>
              <a:cs typeface="Cambria"/>
              <a:sym typeface="Cambria"/>
            </a:endParaRPr>
          </a:p>
          <a:p>
            <a:pPr marL="0" marR="0" lvl="0" indent="0" algn="just" rtl="0">
              <a:lnSpc>
                <a:spcPct val="87000"/>
              </a:lnSpc>
              <a:spcBef>
                <a:spcPts val="0"/>
              </a:spcBef>
              <a:spcAft>
                <a:spcPts val="0"/>
              </a:spcAft>
              <a:buSzPts val="1159"/>
              <a:buNone/>
            </a:pPr>
            <a:r>
              <a:rPr lang="es-ES" sz="1830">
                <a:latin typeface="Cambria"/>
                <a:ea typeface="Cambria"/>
                <a:cs typeface="Cambria"/>
                <a:sym typeface="Cambria"/>
              </a:rPr>
              <a:t>Se demostró la capacidad de inyectar tokens de seguridad en cabeceras XML y consumir el núcleo lógico desde cualquier ecosistema gráfico.</a:t>
            </a:r>
            <a:endParaRPr sz="1830">
              <a:latin typeface="Cambria"/>
              <a:ea typeface="Cambria"/>
              <a:cs typeface="Cambria"/>
              <a:sym typeface="Cambria"/>
            </a:endParaRPr>
          </a:p>
          <a:p>
            <a:pPr marL="0" marR="0" lvl="0" indent="0" algn="just" rtl="0">
              <a:lnSpc>
                <a:spcPct val="87000"/>
              </a:lnSpc>
              <a:spcBef>
                <a:spcPts val="0"/>
              </a:spcBef>
              <a:spcAft>
                <a:spcPts val="0"/>
              </a:spcAft>
              <a:buSzPts val="1159"/>
              <a:buNone/>
            </a:pPr>
            <a:endParaRPr sz="1830">
              <a:latin typeface="Cambria"/>
              <a:ea typeface="Cambria"/>
              <a:cs typeface="Cambria"/>
              <a:sym typeface="Cambria"/>
            </a:endParaRPr>
          </a:p>
          <a:p>
            <a:pPr marL="0" marR="0" lvl="0" indent="0" algn="just" rtl="0">
              <a:lnSpc>
                <a:spcPct val="87000"/>
              </a:lnSpc>
              <a:spcBef>
                <a:spcPts val="0"/>
              </a:spcBef>
              <a:spcAft>
                <a:spcPts val="0"/>
              </a:spcAft>
              <a:buSzPts val="1159"/>
              <a:buNone/>
            </a:pPr>
            <a:r>
              <a:rPr lang="es-ES" sz="1830">
                <a:latin typeface="Cambria"/>
                <a:ea typeface="Cambria"/>
                <a:cs typeface="Cambria"/>
                <a:sym typeface="Cambria"/>
              </a:rPr>
              <a:t>La configuración de permisos en IIS y reglas de firewall resultó crítica para habilitar la disponibilidad del servicio en dispositivos externos.</a:t>
            </a:r>
            <a:endParaRPr sz="1830">
              <a:latin typeface="Cambria"/>
              <a:ea typeface="Cambria"/>
              <a:cs typeface="Cambria"/>
              <a:sym typeface="Cambria"/>
            </a:endParaRPr>
          </a:p>
          <a:p>
            <a:pPr marL="0" marR="0" lvl="0" indent="0" algn="just" rtl="0">
              <a:lnSpc>
                <a:spcPct val="87000"/>
              </a:lnSpc>
              <a:spcBef>
                <a:spcPts val="0"/>
              </a:spcBef>
              <a:spcAft>
                <a:spcPts val="0"/>
              </a:spcAft>
              <a:buSzPts val="1159"/>
              <a:buNone/>
            </a:pPr>
            <a:r>
              <a:rPr lang="es-ES" sz="1830">
                <a:latin typeface="Cambria"/>
                <a:ea typeface="Cambria"/>
                <a:cs typeface="Cambria"/>
                <a:sym typeface="Cambria"/>
              </a:rPr>
              <a:t>El correcto establecimiento de Bindings permitió superar el entorno localhost para operar eficientemente en toda la subred física.</a:t>
            </a:r>
            <a:endParaRPr sz="1830">
              <a:latin typeface="Cambria"/>
              <a:ea typeface="Cambria"/>
              <a:cs typeface="Cambria"/>
              <a:sym typeface="Cambria"/>
            </a:endParaRPr>
          </a:p>
          <a:p>
            <a:pPr marL="0" marR="0" lvl="0" indent="0" algn="just" rtl="0">
              <a:lnSpc>
                <a:spcPct val="87000"/>
              </a:lnSpc>
              <a:spcBef>
                <a:spcPts val="0"/>
              </a:spcBef>
              <a:spcAft>
                <a:spcPts val="0"/>
              </a:spcAft>
              <a:buSzPts val="1159"/>
              <a:buNone/>
            </a:pPr>
            <a:endParaRPr sz="1830">
              <a:latin typeface="Cambria"/>
              <a:ea typeface="Cambria"/>
              <a:cs typeface="Cambria"/>
              <a:sym typeface="Cambria"/>
            </a:endParaRPr>
          </a:p>
          <a:p>
            <a:pPr marL="0" marR="0" lvl="0" indent="0" algn="just" rtl="0">
              <a:lnSpc>
                <a:spcPct val="87000"/>
              </a:lnSpc>
              <a:spcBef>
                <a:spcPts val="0"/>
              </a:spcBef>
              <a:spcAft>
                <a:spcPts val="0"/>
              </a:spcAft>
              <a:buSzPts val="1159"/>
              <a:buNone/>
            </a:pPr>
            <a:r>
              <a:rPr lang="es-ES" sz="1830">
                <a:latin typeface="Cambria"/>
                <a:ea typeface="Cambria"/>
                <a:cs typeface="Cambria"/>
                <a:sym typeface="Cambria"/>
              </a:rPr>
              <a:t>La combinación de SOA y el patrón MVC garantizó una separación rigurosa entre la lógica matemática y las interfaces visuales.</a:t>
            </a:r>
            <a:endParaRPr sz="1830">
              <a:latin typeface="Cambria"/>
              <a:ea typeface="Cambria"/>
              <a:cs typeface="Cambria"/>
              <a:sym typeface="Cambria"/>
            </a:endParaRPr>
          </a:p>
          <a:p>
            <a:pPr marL="0" marR="0" lvl="0" indent="0" algn="just" rtl="0">
              <a:lnSpc>
                <a:spcPct val="87000"/>
              </a:lnSpc>
              <a:spcBef>
                <a:spcPts val="0"/>
              </a:spcBef>
              <a:spcAft>
                <a:spcPts val="0"/>
              </a:spcAft>
              <a:buSzPts val="1159"/>
              <a:buNone/>
            </a:pPr>
            <a:r>
              <a:rPr lang="es-ES" sz="1830">
                <a:latin typeface="Cambria"/>
                <a:ea typeface="Cambria"/>
                <a:cs typeface="Cambria"/>
                <a:sym typeface="Cambria"/>
              </a:rPr>
              <a:t>Esta segregación de responsabilidades previene fallas en cascada y facilita significativamente el mantenimiento y la escalabilidad del sistema.</a:t>
            </a:r>
            <a:endParaRPr sz="1830">
              <a:latin typeface="Cambria"/>
              <a:ea typeface="Cambria"/>
              <a:cs typeface="Cambria"/>
              <a:sym typeface="Cambria"/>
            </a:endParaRPr>
          </a:p>
        </p:txBody>
      </p:sp>
      <p:sp>
        <p:nvSpPr>
          <p:cNvPr id="311" name="Google Shape;311;p3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lt1"/>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a:t>
            </a:r>
            <a:r>
              <a:rPr lang="es-ES" sz="1200" b="1">
                <a:solidFill>
                  <a:schemeClr val="lt1"/>
                </a:solidFill>
                <a:latin typeface="Gill Sans"/>
                <a:ea typeface="Gill Sans"/>
                <a:cs typeface="Gill Sans"/>
                <a:sym typeface="Gill Sans"/>
              </a:rPr>
              <a:t>SOAP</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CONCLUSIONES</a:t>
            </a:r>
            <a:endParaRPr sz="1400" b="0" i="0" u="none" strike="noStrike" cap="none">
              <a:solidFill>
                <a:srgbClr val="FFFF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accent2"/>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3200" marR="0" lvl="1" indent="-312096" algn="l" rtl="0">
              <a:lnSpc>
                <a:spcPct val="100000"/>
              </a:lnSpc>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3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18" name="Google Shape;318;p39"/>
          <p:cNvSpPr txBox="1">
            <a:spLocks noGrp="1"/>
          </p:cNvSpPr>
          <p:nvPr>
            <p:ph type="body" idx="1"/>
          </p:nvPr>
        </p:nvSpPr>
        <p:spPr>
          <a:xfrm>
            <a:off x="581200" y="1983000"/>
            <a:ext cx="8581500" cy="2149500"/>
          </a:xfrm>
          <a:prstGeom prst="rect">
            <a:avLst/>
          </a:prstGeom>
          <a:noFill/>
          <a:ln>
            <a:noFill/>
          </a:ln>
        </p:spPr>
        <p:txBody>
          <a:bodyPr spcFirstLastPara="1" wrap="square" lIns="91425" tIns="45700" rIns="91425" bIns="45700" anchor="ctr" anchorCtr="0">
            <a:normAutofit/>
          </a:bodyPr>
          <a:lstStyle/>
          <a:p>
            <a:pPr marL="0" lvl="0" indent="0" algn="l" rtl="0">
              <a:lnSpc>
                <a:spcPct val="115000"/>
              </a:lnSpc>
              <a:spcBef>
                <a:spcPts val="1200"/>
              </a:spcBef>
              <a:spcAft>
                <a:spcPts val="0"/>
              </a:spcAft>
              <a:buClr>
                <a:schemeClr val="dk1"/>
              </a:buClr>
              <a:buSzPts val="1100"/>
              <a:buFont typeface="Arial"/>
              <a:buNone/>
            </a:pPr>
            <a:r>
              <a:rPr lang="es-ES" sz="1564" b="1">
                <a:latin typeface="Cambria"/>
                <a:ea typeface="Cambria"/>
                <a:cs typeface="Cambria"/>
                <a:sym typeface="Cambria"/>
              </a:rPr>
              <a:t>1.3 	CREACIÓN DEL PROYECTO CLIENTE CONSOLA</a:t>
            </a:r>
            <a:endParaRPr sz="1564" b="1">
              <a:latin typeface="Cambria"/>
              <a:ea typeface="Cambria"/>
              <a:cs typeface="Cambria"/>
              <a:sym typeface="Cambria"/>
            </a:endParaRPr>
          </a:p>
          <a:p>
            <a:pPr marL="0" lvl="0" indent="0" algn="l" rtl="0">
              <a:lnSpc>
                <a:spcPct val="115000"/>
              </a:lnSpc>
              <a:spcBef>
                <a:spcPts val="1200"/>
              </a:spcBef>
              <a:spcAft>
                <a:spcPts val="0"/>
              </a:spcAft>
              <a:buClr>
                <a:schemeClr val="dk1"/>
              </a:buClr>
              <a:buSzPts val="1100"/>
              <a:buFont typeface="Arial"/>
              <a:buNone/>
            </a:pPr>
            <a:endParaRPr sz="1564" b="1">
              <a:latin typeface="Cambria"/>
              <a:ea typeface="Cambria"/>
              <a:cs typeface="Cambria"/>
              <a:sym typeface="Cambria"/>
            </a:endParaRPr>
          </a:p>
          <a:p>
            <a:pPr marL="45720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Primero dentro de visual Studio debemos colocar en crear proyecto, para luego seleccionar la plantilla de “Aplicación de consola”</a:t>
            </a:r>
            <a:endParaRPr sz="1564">
              <a:latin typeface="Cambria"/>
              <a:ea typeface="Cambria"/>
              <a:cs typeface="Cambria"/>
              <a:sym typeface="Cambria"/>
            </a:endParaRPr>
          </a:p>
          <a:p>
            <a:pPr marL="0" lvl="0" indent="0" algn="l" rtl="0">
              <a:lnSpc>
                <a:spcPct val="115000"/>
              </a:lnSpc>
              <a:spcBef>
                <a:spcPts val="1200"/>
              </a:spcBef>
              <a:spcAft>
                <a:spcPts val="1200"/>
              </a:spcAft>
              <a:buSzPts val="1656"/>
              <a:buNone/>
            </a:pPr>
            <a:endParaRPr sz="1670">
              <a:latin typeface="Cambria"/>
              <a:ea typeface="Cambria"/>
              <a:cs typeface="Cambria"/>
              <a:sym typeface="Cambria"/>
            </a:endParaRPr>
          </a:p>
        </p:txBody>
      </p:sp>
      <p:pic>
        <p:nvPicPr>
          <p:cNvPr id="319" name="Google Shape;319;p39"/>
          <p:cNvPicPr preferRelativeResize="0"/>
          <p:nvPr/>
        </p:nvPicPr>
        <p:blipFill>
          <a:blip r:embed="rId3">
            <a:alphaModFix/>
          </a:blip>
          <a:stretch>
            <a:fillRect/>
          </a:stretch>
        </p:blipFill>
        <p:spPr>
          <a:xfrm>
            <a:off x="2247100" y="3480975"/>
            <a:ext cx="4915050" cy="32002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4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accent2"/>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3200" marR="0" lvl="1" indent="-312096" algn="l" rtl="0">
              <a:lnSpc>
                <a:spcPct val="100000"/>
              </a:lnSpc>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 name="Google Shape;325;p4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26" name="Google Shape;326;p40"/>
          <p:cNvSpPr txBox="1">
            <a:spLocks noGrp="1"/>
          </p:cNvSpPr>
          <p:nvPr>
            <p:ph type="body" idx="1"/>
          </p:nvPr>
        </p:nvSpPr>
        <p:spPr>
          <a:xfrm>
            <a:off x="581200" y="1983000"/>
            <a:ext cx="8581500" cy="1179300"/>
          </a:xfrm>
          <a:prstGeom prst="rect">
            <a:avLst/>
          </a:prstGeom>
          <a:noFill/>
          <a:ln>
            <a:noFill/>
          </a:ln>
        </p:spPr>
        <p:txBody>
          <a:bodyPr spcFirstLastPara="1" wrap="square" lIns="91425" tIns="45700" rIns="91425" bIns="45700" anchor="ctr" anchorCtr="0">
            <a:normAutofit/>
          </a:bodyPr>
          <a:lstStyle/>
          <a:p>
            <a:pPr marL="0" lvl="0" indent="0" algn="l" rtl="0">
              <a:lnSpc>
                <a:spcPct val="115000"/>
              </a:lnSpc>
              <a:spcBef>
                <a:spcPts val="1200"/>
              </a:spcBef>
              <a:spcAft>
                <a:spcPts val="0"/>
              </a:spcAft>
              <a:buClr>
                <a:schemeClr val="dk1"/>
              </a:buClr>
              <a:buSzPts val="1100"/>
              <a:buFont typeface="Arial"/>
              <a:buNone/>
            </a:pPr>
            <a:endParaRPr sz="1564" b="1">
              <a:latin typeface="Cambria"/>
              <a:ea typeface="Cambria"/>
              <a:cs typeface="Cambria"/>
              <a:sym typeface="Cambria"/>
            </a:endParaRPr>
          </a:p>
          <a:p>
            <a:pPr marL="45720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Se coloca un nombre al proyecto y se le asigna un directorio donde se va generar el mismo.</a:t>
            </a:r>
            <a:endParaRPr sz="1564">
              <a:latin typeface="Cambria"/>
              <a:ea typeface="Cambria"/>
              <a:cs typeface="Cambria"/>
              <a:sym typeface="Cambria"/>
            </a:endParaRPr>
          </a:p>
          <a:p>
            <a:pPr marL="0" lvl="0" indent="0" algn="l" rtl="0">
              <a:lnSpc>
                <a:spcPct val="115000"/>
              </a:lnSpc>
              <a:spcBef>
                <a:spcPts val="1200"/>
              </a:spcBef>
              <a:spcAft>
                <a:spcPts val="1200"/>
              </a:spcAft>
              <a:buSzPts val="1656"/>
              <a:buNone/>
            </a:pPr>
            <a:endParaRPr sz="1670">
              <a:latin typeface="Cambria"/>
              <a:ea typeface="Cambria"/>
              <a:cs typeface="Cambria"/>
              <a:sym typeface="Cambria"/>
            </a:endParaRPr>
          </a:p>
        </p:txBody>
      </p:sp>
      <p:pic>
        <p:nvPicPr>
          <p:cNvPr id="327" name="Google Shape;327;p40"/>
          <p:cNvPicPr preferRelativeResize="0"/>
          <p:nvPr/>
        </p:nvPicPr>
        <p:blipFill>
          <a:blip r:embed="rId3">
            <a:alphaModFix/>
          </a:blip>
          <a:stretch>
            <a:fillRect/>
          </a:stretch>
        </p:blipFill>
        <p:spPr>
          <a:xfrm>
            <a:off x="2004925" y="2861000"/>
            <a:ext cx="5734050" cy="37052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4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accent2"/>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3200" marR="0" lvl="1" indent="-312096" algn="l" rtl="0">
              <a:lnSpc>
                <a:spcPct val="100000"/>
              </a:lnSpc>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 name="Google Shape;333;p4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34" name="Google Shape;334;p41"/>
          <p:cNvSpPr txBox="1">
            <a:spLocks noGrp="1"/>
          </p:cNvSpPr>
          <p:nvPr>
            <p:ph type="body" idx="1"/>
          </p:nvPr>
        </p:nvSpPr>
        <p:spPr>
          <a:xfrm>
            <a:off x="581200" y="1983000"/>
            <a:ext cx="8581500" cy="1179300"/>
          </a:xfrm>
          <a:prstGeom prst="rect">
            <a:avLst/>
          </a:prstGeom>
          <a:noFill/>
          <a:ln>
            <a:noFill/>
          </a:ln>
        </p:spPr>
        <p:txBody>
          <a:bodyPr spcFirstLastPara="1" wrap="square" lIns="91425" tIns="45700" rIns="91425" bIns="45700" anchor="ctr" anchorCtr="0">
            <a:normAutofit lnSpcReduction="20000"/>
          </a:bodyPr>
          <a:lstStyle/>
          <a:p>
            <a:pPr marL="0" lvl="0" indent="0" algn="l" rtl="0">
              <a:lnSpc>
                <a:spcPct val="115000"/>
              </a:lnSpc>
              <a:spcBef>
                <a:spcPts val="1200"/>
              </a:spcBef>
              <a:spcAft>
                <a:spcPts val="0"/>
              </a:spcAft>
              <a:buClr>
                <a:schemeClr val="dk1"/>
              </a:buClr>
              <a:buSzPts val="1100"/>
              <a:buFont typeface="Arial"/>
              <a:buNone/>
            </a:pPr>
            <a:endParaRPr sz="1564" b="1">
              <a:latin typeface="Cambria"/>
              <a:ea typeface="Cambria"/>
              <a:cs typeface="Cambria"/>
              <a:sym typeface="Cambria"/>
            </a:endParaRPr>
          </a:p>
          <a:p>
            <a:pPr marL="45720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Después asignamos la versión de framework que vamos a usar, para este caso sera .Net 10.0 y damos a crear proyecto.</a:t>
            </a:r>
            <a:endParaRPr sz="1564">
              <a:latin typeface="Cambria"/>
              <a:ea typeface="Cambria"/>
              <a:cs typeface="Cambria"/>
              <a:sym typeface="Cambria"/>
            </a:endParaRPr>
          </a:p>
          <a:p>
            <a:pPr marL="0" lvl="0" indent="0" algn="l" rtl="0">
              <a:lnSpc>
                <a:spcPct val="115000"/>
              </a:lnSpc>
              <a:spcBef>
                <a:spcPts val="1200"/>
              </a:spcBef>
              <a:spcAft>
                <a:spcPts val="1200"/>
              </a:spcAft>
              <a:buSzPts val="1656"/>
              <a:buNone/>
            </a:pPr>
            <a:endParaRPr sz="1670">
              <a:latin typeface="Cambria"/>
              <a:ea typeface="Cambria"/>
              <a:cs typeface="Cambria"/>
              <a:sym typeface="Cambria"/>
            </a:endParaRPr>
          </a:p>
        </p:txBody>
      </p:sp>
      <p:pic>
        <p:nvPicPr>
          <p:cNvPr id="335" name="Google Shape;335;p41"/>
          <p:cNvPicPr preferRelativeResize="0"/>
          <p:nvPr/>
        </p:nvPicPr>
        <p:blipFill>
          <a:blip r:embed="rId3">
            <a:alphaModFix/>
          </a:blip>
          <a:stretch>
            <a:fillRect/>
          </a:stretch>
        </p:blipFill>
        <p:spPr>
          <a:xfrm>
            <a:off x="1888425" y="2864050"/>
            <a:ext cx="5817300" cy="37557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accent2"/>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3200" marR="0" lvl="1" indent="-312096" algn="l" rtl="0">
              <a:lnSpc>
                <a:spcPct val="100000"/>
              </a:lnSpc>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p4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42" name="Google Shape;342;p42"/>
          <p:cNvSpPr txBox="1">
            <a:spLocks noGrp="1"/>
          </p:cNvSpPr>
          <p:nvPr>
            <p:ph type="body" idx="1"/>
          </p:nvPr>
        </p:nvSpPr>
        <p:spPr>
          <a:xfrm>
            <a:off x="581200" y="1983000"/>
            <a:ext cx="8581500" cy="1179300"/>
          </a:xfrm>
          <a:prstGeom prst="rect">
            <a:avLst/>
          </a:prstGeom>
          <a:noFill/>
          <a:ln>
            <a:noFill/>
          </a:ln>
        </p:spPr>
        <p:txBody>
          <a:bodyPr spcFirstLastPara="1" wrap="square" lIns="91425" tIns="45700" rIns="91425" bIns="45700" anchor="ctr" anchorCtr="0">
            <a:normAutofit/>
          </a:bodyPr>
          <a:lstStyle/>
          <a:p>
            <a:pPr marL="0" lvl="0" indent="0" algn="l" rtl="0">
              <a:lnSpc>
                <a:spcPct val="115000"/>
              </a:lnSpc>
              <a:spcBef>
                <a:spcPts val="1200"/>
              </a:spcBef>
              <a:spcAft>
                <a:spcPts val="0"/>
              </a:spcAft>
              <a:buClr>
                <a:schemeClr val="dk1"/>
              </a:buClr>
              <a:buSzPts val="1100"/>
              <a:buFont typeface="Arial"/>
              <a:buNone/>
            </a:pPr>
            <a:endParaRPr sz="1564" b="1">
              <a:latin typeface="Cambria"/>
              <a:ea typeface="Cambria"/>
              <a:cs typeface="Cambria"/>
              <a:sym typeface="Cambria"/>
            </a:endParaRPr>
          </a:p>
          <a:p>
            <a:pPr marL="45720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Se deben crear los paquetes en base a la arquitectura MVC para el proyecto.</a:t>
            </a:r>
            <a:endParaRPr sz="1564">
              <a:latin typeface="Cambria"/>
              <a:ea typeface="Cambria"/>
              <a:cs typeface="Cambria"/>
              <a:sym typeface="Cambria"/>
            </a:endParaRPr>
          </a:p>
          <a:p>
            <a:pPr marL="0" lvl="0" indent="0" algn="l" rtl="0">
              <a:lnSpc>
                <a:spcPct val="115000"/>
              </a:lnSpc>
              <a:spcBef>
                <a:spcPts val="1200"/>
              </a:spcBef>
              <a:spcAft>
                <a:spcPts val="1200"/>
              </a:spcAft>
              <a:buSzPts val="1656"/>
              <a:buNone/>
            </a:pPr>
            <a:endParaRPr sz="1670">
              <a:latin typeface="Cambria"/>
              <a:ea typeface="Cambria"/>
              <a:cs typeface="Cambria"/>
              <a:sym typeface="Cambria"/>
            </a:endParaRPr>
          </a:p>
        </p:txBody>
      </p:sp>
      <p:pic>
        <p:nvPicPr>
          <p:cNvPr id="343" name="Google Shape;343;p42"/>
          <p:cNvPicPr preferRelativeResize="0"/>
          <p:nvPr/>
        </p:nvPicPr>
        <p:blipFill>
          <a:blip r:embed="rId3">
            <a:alphaModFix/>
          </a:blip>
          <a:stretch>
            <a:fillRect/>
          </a:stretch>
        </p:blipFill>
        <p:spPr>
          <a:xfrm>
            <a:off x="1601475" y="3021850"/>
            <a:ext cx="6296450" cy="35979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49" name="Google Shape;349;p43"/>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50" name="Google Shape;350;p4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51" name="Google Shape;351;p43"/>
          <p:cNvGraphicFramePr/>
          <p:nvPr/>
        </p:nvGraphicFramePr>
        <p:xfrm>
          <a:off x="2964625" y="1876275"/>
          <a:ext cx="3000000" cy="3000000"/>
        </p:xfrm>
        <a:graphic>
          <a:graphicData uri="http://schemas.openxmlformats.org/drawingml/2006/table">
            <a:tbl>
              <a:tblPr>
                <a:noFill/>
                <a:tableStyleId>{00F2D98E-0062-4CEB-BF75-F90E3C6509C4}</a:tableStyleId>
              </a:tblPr>
              <a:tblGrid>
                <a:gridCol w="6062675">
                  <a:extLst>
                    <a:ext uri="{9D8B030D-6E8A-4147-A177-3AD203B41FA5}">
                      <a16:colId xmlns:a16="http://schemas.microsoft.com/office/drawing/2014/main" val="20000"/>
                    </a:ext>
                  </a:extLst>
                </a:gridCol>
              </a:tblGrid>
              <a:tr h="4701300">
                <a:tc>
                  <a:txBody>
                    <a:bodyPr/>
                    <a:lstStyle/>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using System;</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using System.ServiceModel;</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using System.ServiceModel.Channels;</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using System.Threading.Tasks;</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using WSMonsterReference;</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namespace ClICON.Modelos</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class ConversorModelo</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private readonly WSConversorUnidadesClient _clienteSoap;</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string Token { get; private set;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ConversorModelo()</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var textEncoding = new TextMessageEncodingBindingElement(MessageVersion.Soap11, System.Text.Encoding.UTF8);</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var httpTransport = new HttpTransportBindingElement();</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 2. EL FIX: Pasamos los elementos directamente en el constructor del CustomBinding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 en lugar de usar .Elements.Add(). Esto evita el ArrayTypeMismatchException en .NET moderno.</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var customBinding = new CustomBinding(textEncoding, httpTransport);</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var endpoint = new EndpointAddress("http://localhost:50774/WSConversorUnidades.svc");</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0"/>
                        </a:spcBef>
                        <a:spcAft>
                          <a:spcPts val="1000"/>
                        </a:spcAft>
                        <a:buNone/>
                      </a:pP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57" name="Google Shape;357;p44"/>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58" name="Google Shape;358;p4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59" name="Google Shape;359;p44"/>
          <p:cNvGraphicFramePr/>
          <p:nvPr/>
        </p:nvGraphicFramePr>
        <p:xfrm>
          <a:off x="2964625" y="1876275"/>
          <a:ext cx="3000000" cy="3000000"/>
        </p:xfrm>
        <a:graphic>
          <a:graphicData uri="http://schemas.openxmlformats.org/drawingml/2006/table">
            <a:tbl>
              <a:tblPr>
                <a:noFill/>
                <a:tableStyleId>{00F2D98E-0062-4CEB-BF75-F90E3C6509C4}</a:tableStyleId>
              </a:tblPr>
              <a:tblGrid>
                <a:gridCol w="6062675">
                  <a:extLst>
                    <a:ext uri="{9D8B030D-6E8A-4147-A177-3AD203B41FA5}">
                      <a16:colId xmlns:a16="http://schemas.microsoft.com/office/drawing/2014/main" val="20000"/>
                    </a:ext>
                  </a:extLst>
                </a:gridCol>
              </a:tblGrid>
              <a:tr h="4701300">
                <a:tc>
                  <a:txBody>
                    <a:bodyPr/>
                    <a:lstStyle/>
                    <a:p>
                      <a:pPr marL="0" lvl="0" indent="0" algn="l" rtl="0">
                        <a:spcBef>
                          <a:spcPts val="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r>
                        <a:rPr lang="es-ES" sz="1100">
                          <a:solidFill>
                            <a:srgbClr val="4F81BD"/>
                          </a:solidFill>
                          <a:latin typeface="Calibri"/>
                          <a:ea typeface="Calibri"/>
                          <a:cs typeface="Calibri"/>
                          <a:sym typeface="Calibri"/>
                        </a:rPr>
                        <a:t> _clienteSoap = new WSConversorUnidadesClient(customBinding, endpoint);</a:t>
                      </a:r>
                      <a:endParaRPr sz="1100">
                        <a:solidFill>
                          <a:srgbClr val="4F81BD"/>
                        </a:solidFill>
                        <a:latin typeface="Calibri"/>
                        <a:ea typeface="Calibri"/>
                        <a:cs typeface="Calibri"/>
                        <a:sym typeface="Calibri"/>
                      </a:endParaRPr>
                    </a:p>
                    <a:p>
                      <a:pPr marL="0" lvl="0" indent="0" algn="l" rtl="0">
                        <a:spcBef>
                          <a:spcPts val="100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async Task&lt;bool&gt; IniciarSesionAsync(string usuario, string contrasenia)</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try</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 El login no requiere cabecera según el TokenHeaderDispatchInspector</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Token = await _clienteSoap.loginAsync(usuario, contrasenia);</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!string.IsNullOrWhiteSpace(Token);</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catch (FaultException ex)</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 Atrapa el throw new FaultException("Credenciales incorrectas") del backend</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Console.WriteLine($"[Servidor rechazó la petición]: {ex.Message}");</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false;</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async Task&lt;bool&gt; CambiarContraseniaAsync(string contraseniaActual, string nuevaContrasenia)</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0"/>
                        </a:spcBef>
                        <a:spcAft>
                          <a:spcPts val="1000"/>
                        </a:spcAft>
                        <a:buNone/>
                      </a:pP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4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65" name="Google Shape;365;p45"/>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66" name="Google Shape;366;p4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67" name="Google Shape;367;p45"/>
          <p:cNvGraphicFramePr/>
          <p:nvPr/>
        </p:nvGraphicFramePr>
        <p:xfrm>
          <a:off x="2278500" y="1818850"/>
          <a:ext cx="3000000" cy="3000000"/>
        </p:xfrm>
        <a:graphic>
          <a:graphicData uri="http://schemas.openxmlformats.org/drawingml/2006/table">
            <a:tbl>
              <a:tblPr>
                <a:noFill/>
                <a:tableStyleId>{00F2D98E-0062-4CEB-BF75-F90E3C6509C4}</a:tableStyleId>
              </a:tblPr>
              <a:tblGrid>
                <a:gridCol w="5439425">
                  <a:extLst>
                    <a:ext uri="{9D8B030D-6E8A-4147-A177-3AD203B41FA5}">
                      <a16:colId xmlns:a16="http://schemas.microsoft.com/office/drawing/2014/main" val="20000"/>
                    </a:ext>
                  </a:extLst>
                </a:gridCol>
              </a:tblGrid>
              <a:tr h="4701300">
                <a:tc>
                  <a:txBody>
                    <a:bodyPr/>
                    <a:lstStyle/>
                    <a:p>
                      <a:pPr marL="0" lvl="0" indent="0" algn="l" rtl="0">
                        <a:spcBef>
                          <a:spcPts val="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r>
                        <a:rPr lang="es-ES" sz="1100">
                          <a:solidFill>
                            <a:srgbClr val="4F81BD"/>
                          </a:solidFill>
                          <a:latin typeface="Calibri"/>
                          <a:ea typeface="Calibri"/>
                          <a:cs typeface="Calibri"/>
                          <a:sym typeface="Calibri"/>
                        </a:rPr>
                        <a:t>// Nota: Revisa si tu referencia de Visual Studio generó el método con mayúscula o minúscula.</a:t>
                      </a:r>
                      <a:endParaRPr sz="1100">
                        <a:solidFill>
                          <a:srgbClr val="4F81BD"/>
                        </a:solidFill>
                        <a:latin typeface="Calibri"/>
                        <a:ea typeface="Calibri"/>
                        <a:cs typeface="Calibri"/>
                        <a:sym typeface="Calibri"/>
                      </a:endParaRPr>
                    </a:p>
                    <a:p>
                      <a:pPr marL="0" lvl="0" indent="0" algn="l" rtl="0">
                        <a:spcBef>
                          <a:spcPts val="100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 Usualmente es CambiarContraseniaAsync o cambiarContraseniaAsync.</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await EjecutarConTokenAsync(() =&gt; _clienteSoap.cambiarContraseniaAsync(contraseniaActual, nuevaContrasenia));</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void CerrarSesion()</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Token = null;</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async Task&lt;double&gt; ConvertirLongitudAsync(double valor, string origen, string destino)</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await EjecutarConTokenAsync(() =&gt; _clienteSoap.convertirLongitudAsync(valor, origen, destino));</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async Task&lt;double&gt; ConvertirMasaAsync(double valor, string origen, string destino)</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await EjecutarConTokenAsync(() =&gt; _clienteSoap.convertirMasaAsync(valor, origen, destino));</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i="1">
                        <a:solidFill>
                          <a:srgbClr val="4F81BD"/>
                        </a:solidFill>
                        <a:latin typeface="Calibri"/>
                        <a:ea typeface="Calibri"/>
                        <a:cs typeface="Calibri"/>
                        <a:sym typeface="Calibri"/>
                      </a:endParaRPr>
                    </a:p>
                    <a:p>
                      <a:pPr marL="0" lvl="0" indent="0" algn="l" rtl="0">
                        <a:spcBef>
                          <a:spcPts val="0"/>
                        </a:spcBef>
                        <a:spcAft>
                          <a:spcPts val="1000"/>
                        </a:spcAft>
                        <a:buNone/>
                      </a:pP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4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73" name="Google Shape;373;p46"/>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74" name="Google Shape;374;p4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75" name="Google Shape;375;p46"/>
          <p:cNvGraphicFramePr/>
          <p:nvPr/>
        </p:nvGraphicFramePr>
        <p:xfrm>
          <a:off x="2278500" y="1818850"/>
          <a:ext cx="3000000" cy="3000000"/>
        </p:xfrm>
        <a:graphic>
          <a:graphicData uri="http://schemas.openxmlformats.org/drawingml/2006/table">
            <a:tbl>
              <a:tblPr>
                <a:noFill/>
                <a:tableStyleId>{00F2D98E-0062-4CEB-BF75-F90E3C6509C4}</a:tableStyleId>
              </a:tblPr>
              <a:tblGrid>
                <a:gridCol w="5439425">
                  <a:extLst>
                    <a:ext uri="{9D8B030D-6E8A-4147-A177-3AD203B41FA5}">
                      <a16:colId xmlns:a16="http://schemas.microsoft.com/office/drawing/2014/main" val="20000"/>
                    </a:ext>
                  </a:extLst>
                </a:gridCol>
              </a:tblGrid>
              <a:tr h="4701300">
                <a:tc>
                  <a:txBody>
                    <a:bodyPr/>
                    <a:lstStyle/>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async Task&lt;double&gt; ConvertirTemperaturaAsync(double valor, string origen, string destino)</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await EjecutarConTokenAsync(() =&gt; _clienteSoap.convertirTemperaturaAsync(valor, origen, destino));</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 Método auxiliar para inyectar el Token en la cabecera SOAP</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private async Task&lt;T&gt; EjecutarConTokenAsync&lt;T&gt;(Func&lt;Task&lt;T&gt;&gt; operacion)</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if (string.IsNullOrEmpty(Token))</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throw new InvalidOperationException("Debes iniciar sesión primero.");</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 Abre un ámbito para modificar el contexto de la petición actual</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using (new OperationContextScope(_clienteSoap.InnerChannel))</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 Crea la cabecera con el nombre "token" que busca tu TryReadToken en el backend</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MessageHeader header = MessageHeader.CreateHeader("token", "", Token);</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OperationContext.Current.OutgoingMessageHeaders.Add(header);</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 Ejecuta la petición</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await operacion();</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a:t>
                      </a:r>
                      <a:endParaRPr sz="1100" i="1">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4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81" name="Google Shape;381;p47"/>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82" name="Google Shape;382;p4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83" name="Google Shape;383;p47"/>
          <p:cNvGraphicFramePr/>
          <p:nvPr/>
        </p:nvGraphicFramePr>
        <p:xfrm>
          <a:off x="1964150" y="1871225"/>
          <a:ext cx="3000000" cy="3000000"/>
        </p:xfrm>
        <a:graphic>
          <a:graphicData uri="http://schemas.openxmlformats.org/drawingml/2006/table">
            <a:tbl>
              <a:tblPr>
                <a:noFill/>
                <a:tableStyleId>{00F2D98E-0062-4CEB-BF75-F90E3C6509C4}</a:tableStyleId>
              </a:tblPr>
              <a:tblGrid>
                <a:gridCol w="3522650">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0"/>
                        </a:spcBef>
                        <a:spcAft>
                          <a:spcPts val="0"/>
                        </a:spcAft>
                        <a:buNone/>
                      </a:pPr>
                      <a:r>
                        <a:rPr lang="es-ES" sz="1100" i="1">
                          <a:solidFill>
                            <a:srgbClr val="4F81BD"/>
                          </a:solidFill>
                          <a:latin typeface="Calibri"/>
                          <a:ea typeface="Calibri"/>
                          <a:cs typeface="Calibri"/>
                          <a:sym typeface="Calibri"/>
                        </a:rPr>
                        <a:t>        var peticion = new HttpRequestMessage(HttpMethod.Post, $"{UrlBase}/seguridad/cambiar-contrasena");</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peticion.Headers.Authorization = new AuthenticationHeaderValue("Bearer", _tokenSesion);</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peticion.Content = JsonContent.Create(payload);</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respuesta = await _clienteHttp.SendAsync(peticion);</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if (!respuesta.IsSuccessStatusCode)</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error = await respuesta.Content.ReadAsStringAsync();</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throw new Exception($"No se pudo cambiar la contraseña: {error}");</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1000"/>
                        </a:spcAft>
                        <a:buNone/>
                      </a:pP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384" name="Google Shape;384;p47"/>
          <p:cNvGraphicFramePr/>
          <p:nvPr/>
        </p:nvGraphicFramePr>
        <p:xfrm>
          <a:off x="5684675" y="2041263"/>
          <a:ext cx="3000000" cy="3000000"/>
        </p:xfrm>
        <a:graphic>
          <a:graphicData uri="http://schemas.openxmlformats.org/drawingml/2006/table">
            <a:tbl>
              <a:tblPr>
                <a:noFill/>
                <a:tableStyleId>{00F2D98E-0062-4CEB-BF75-F90E3C6509C4}</a:tableStyleId>
              </a:tblPr>
              <a:tblGrid>
                <a:gridCol w="3699025">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public async Task&lt;double&gt; ConvertirMagnitudAsync(string tipoMagnitud, double valor, string unidadOrigen, string unidadDestino)</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payload = new { valor = valor, unidadOrigen = unidadOrigen, unidadDestino = unidadDestino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peticion = new HttpRequestMessage(HttpMethod.Post, $"{UrlBase}/conversiones/{tipoMagnitud}");</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peticion.Headers.Authorization = new AuthenticationHeaderValue("Bearer", _tokenSesion);</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peticion.Content = JsonContent.Create(payload);</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respuesta = await _clienteHttp.SendAsync(peticion);</a:t>
                      </a:r>
                      <a:endParaRPr sz="1100" i="1">
                        <a:solidFill>
                          <a:srgbClr val="4F81BD"/>
                        </a:solidFill>
                        <a:latin typeface="Calibri"/>
                        <a:ea typeface="Calibri"/>
                        <a:cs typeface="Calibri"/>
                        <a:sym typeface="Calibri"/>
                      </a:endParaRPr>
                    </a:p>
                    <a:p>
                      <a:pPr marL="0" lvl="0" indent="0" algn="l" rtl="0">
                        <a:spcBef>
                          <a:spcPts val="1000"/>
                        </a:spcBef>
                        <a:spcAft>
                          <a:spcPts val="1000"/>
                        </a:spcAft>
                        <a:buNone/>
                      </a:pP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4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90" name="Google Shape;390;p48"/>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91" name="Google Shape;391;p4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92" name="Google Shape;392;p48"/>
          <p:cNvGraphicFramePr/>
          <p:nvPr/>
        </p:nvGraphicFramePr>
        <p:xfrm>
          <a:off x="2043325" y="2041263"/>
          <a:ext cx="3000000" cy="3000000"/>
        </p:xfrm>
        <a:graphic>
          <a:graphicData uri="http://schemas.openxmlformats.org/drawingml/2006/table">
            <a:tbl>
              <a:tblPr>
                <a:noFill/>
                <a:tableStyleId>{00F2D98E-0062-4CEB-BF75-F90E3C6509C4}</a:tableStyleId>
              </a:tblPr>
              <a:tblGrid>
                <a:gridCol w="6291675">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if (!respuesta.IsSuccessStatusCode)</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error = await respuesta.Content.ReadAsStringAsync();</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throw new Exception($"Error en la conversión: {error}");</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resultado = await respuesta.Content.ReadFromJsonAsync&lt;ConversionResponseDto&gt;();</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return resultado?.ValorConvertido ?? 0;</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private class LoginResponseDto { public string? Token { get; set; }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private class ConversionResponseDto { public double ValorConvertido { get; set; } }</a:t>
                      </a:r>
                      <a:endParaRPr sz="1100" i="1">
                        <a:solidFill>
                          <a:srgbClr val="4F81BD"/>
                        </a:solidFill>
                        <a:latin typeface="Calibri"/>
                        <a:ea typeface="Calibri"/>
                        <a:cs typeface="Calibri"/>
                        <a:sym typeface="Calibri"/>
                      </a:endParaRPr>
                    </a:p>
                    <a:p>
                      <a:pPr marL="0" lvl="0" indent="0" algn="l" rtl="0">
                        <a:spcBef>
                          <a:spcPts val="1000"/>
                        </a:spcBef>
                        <a:spcAft>
                          <a:spcPts val="1000"/>
                        </a:spcAft>
                        <a:buNone/>
                      </a:pPr>
                      <a:r>
                        <a:rPr lang="es-ES" sz="1100" i="1">
                          <a:solidFill>
                            <a:srgbClr val="4F81BD"/>
                          </a:solidFill>
                          <a:latin typeface="Calibri"/>
                          <a:ea typeface="Calibri"/>
                          <a:cs typeface="Calibri"/>
                          <a:sym typeface="Calibri"/>
                        </a:rPr>
                        <a:t>}</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4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98" name="Google Shape;398;p49"/>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99" name="Google Shape;399;p4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00" name="Google Shape;400;p49"/>
          <p:cNvGraphicFramePr/>
          <p:nvPr/>
        </p:nvGraphicFramePr>
        <p:xfrm>
          <a:off x="2043325" y="2041263"/>
          <a:ext cx="3000000" cy="3000000"/>
        </p:xfrm>
        <a:graphic>
          <a:graphicData uri="http://schemas.openxmlformats.org/drawingml/2006/table">
            <a:tbl>
              <a:tblPr>
                <a:noFill/>
                <a:tableStyleId>{00F2D98E-0062-4CEB-BF75-F90E3C6509C4}</a:tableStyleId>
              </a:tblPr>
              <a:tblGrid>
                <a:gridCol w="3522650">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i="1">
                          <a:solidFill>
                            <a:srgbClr val="4F81BD"/>
                          </a:solidFill>
                          <a:latin typeface="Calibri"/>
                          <a:ea typeface="Calibri"/>
                          <a:cs typeface="Calibri"/>
                          <a:sym typeface="Calibri"/>
                        </a:rPr>
                        <a:t>using ec.edu.monster.Controladores;</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namespace ec.edu.monster.Cliente.Vistas;</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public class VistaLogin</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private readonly ControladorAplicacion _controlador;</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public VistaLogin(ControladorAplicacion controlador)</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_controlador = controlador;</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public async Task IniciarAsync()</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MensajeBienvenida();</a:t>
                      </a:r>
                      <a:endParaRPr sz="1100" i="1">
                        <a:solidFill>
                          <a:srgbClr val="4F81BD"/>
                        </a:solidFill>
                        <a:latin typeface="Calibri"/>
                        <a:ea typeface="Calibri"/>
                        <a:cs typeface="Calibri"/>
                        <a:sym typeface="Calibri"/>
                      </a:endParaRPr>
                    </a:p>
                    <a:p>
                      <a:pPr marL="0" lvl="0" indent="0" algn="l" rtl="0">
                        <a:spcBef>
                          <a:spcPts val="1000"/>
                        </a:spcBef>
                        <a:spcAft>
                          <a:spcPts val="1000"/>
                        </a:spcAft>
                        <a:buNone/>
                      </a:pPr>
                      <a:r>
                        <a:rPr lang="es-ES" sz="1100" i="1">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401" name="Google Shape;401;p49"/>
          <p:cNvGraphicFramePr/>
          <p:nvPr/>
        </p:nvGraphicFramePr>
        <p:xfrm>
          <a:off x="5684675" y="2041263"/>
          <a:ext cx="3000000" cy="3000000"/>
        </p:xfrm>
        <a:graphic>
          <a:graphicData uri="http://schemas.openxmlformats.org/drawingml/2006/table">
            <a:tbl>
              <a:tblPr>
                <a:noFill/>
                <a:tableStyleId>{00F2D98E-0062-4CEB-BF75-F90E3C6509C4}</a:tableStyleId>
              </a:tblPr>
              <a:tblGrid>
                <a:gridCol w="3699025">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i="1">
                          <a:solidFill>
                            <a:srgbClr val="4F81BD"/>
                          </a:solidFill>
                          <a:latin typeface="Calibri"/>
                          <a:ea typeface="Calibri"/>
                          <a:cs typeface="Calibri"/>
                          <a:sym typeface="Calibri"/>
                        </a:rPr>
                        <a:t>  Console.WriteLine("=== SISTEMA DE CONVERSIÓN DE UNIDADES - .NET REST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while (true)</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Console.Write("\nUsuario: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string usuario = Console.ReadLine() ??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Console.Write("Contraseña: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string contrasena = Console.ReadLine() ??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try</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1000"/>
                        </a:spcAft>
                        <a:buNone/>
                      </a:pPr>
                      <a:r>
                        <a:rPr lang="es-ES" sz="1100" i="1">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5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07" name="Google Shape;407;p50"/>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08" name="Google Shape;408;p5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09" name="Google Shape;409;p50"/>
          <p:cNvGraphicFramePr/>
          <p:nvPr/>
        </p:nvGraphicFramePr>
        <p:xfrm>
          <a:off x="2043325" y="2041263"/>
          <a:ext cx="3000000" cy="3000000"/>
        </p:xfrm>
        <a:graphic>
          <a:graphicData uri="http://schemas.openxmlformats.org/drawingml/2006/table">
            <a:tbl>
              <a:tblPr>
                <a:noFill/>
                <a:tableStyleId>{00F2D98E-0062-4CEB-BF75-F90E3C6509C4}</a:tableStyleId>
              </a:tblPr>
              <a:tblGrid>
                <a:gridCol w="6506875">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i="1">
                          <a:solidFill>
                            <a:srgbClr val="4F81BD"/>
                          </a:solidFill>
                          <a:latin typeface="Calibri"/>
                          <a:ea typeface="Calibri"/>
                          <a:cs typeface="Calibri"/>
                          <a:sym typeface="Calibri"/>
                        </a:rPr>
                        <a:t> await _controlador.AutenticarAsync(usuario, contrasena);</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Console.WriteLine("Inicio de sesión exitoso. Token guardado.");</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vistaConversion = new VistaConversion(_controlador);</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await vistaConversion.EjecutarMenuAsync();</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_controlador.CerrarSesion();</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Console.WriteLine("Sesión finalizada de forma segura.");</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return;</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catch (Exception ex)</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Console.WriteLine($"ERROR: {ex.Message}");</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1000"/>
                        </a:spcAft>
                        <a:buNone/>
                      </a:pPr>
                      <a:endParaRPr sz="1100" i="1">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5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15" name="Google Shape;415;p51"/>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16" name="Google Shape;416;p5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17" name="Google Shape;417;p51"/>
          <p:cNvGraphicFramePr/>
          <p:nvPr/>
        </p:nvGraphicFramePr>
        <p:xfrm>
          <a:off x="2043325" y="2041263"/>
          <a:ext cx="3000000" cy="3000000"/>
        </p:xfrm>
        <a:graphic>
          <a:graphicData uri="http://schemas.openxmlformats.org/drawingml/2006/table">
            <a:tbl>
              <a:tblPr>
                <a:noFill/>
                <a:tableStyleId>{00F2D98E-0062-4CEB-BF75-F90E3C6509C4}</a:tableStyleId>
              </a:tblPr>
              <a:tblGrid>
                <a:gridCol w="6506875">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private void MensajeBienvenida()</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Console.ForegroundColor = ConsoleColor.Cyan;</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string mensaje =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____            _   _       _     ____  ____  ____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 ___|___  _ __ | | | |_ __ (_)   / ___||  _ \| ___|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 |   / _ \| '_ \| | | | '_ \| |  | |  _ | |_) |___ \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 |__| (_) | | | | |_| | | | | |  | |_| ||  _ &lt; ___) |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\____\___/|_| |_|\___/|_| |_|_|   \____||_| \_\____/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Console.WriteLine(mensaje);</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Console.ResetColor();</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1000"/>
                        </a:spcAft>
                        <a:buNone/>
                      </a:pPr>
                      <a:r>
                        <a:rPr lang="es-ES" sz="1100" i="1">
                          <a:solidFill>
                            <a:srgbClr val="4F81BD"/>
                          </a:solidFill>
                          <a:latin typeface="Calibri"/>
                          <a:ea typeface="Calibri"/>
                          <a:cs typeface="Calibri"/>
                          <a:sym typeface="Calibri"/>
                        </a:rPr>
                        <a:t>}</a:t>
                      </a:r>
                      <a:endParaRPr sz="1100" i="1">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5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23" name="Google Shape;423;p52"/>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Se puede verificar que el cliente funciona de forma correcta, se levanta y tiene comunicación </a:t>
            </a:r>
            <a:endParaRPr sz="1400" b="1">
              <a:solidFill>
                <a:srgbClr val="17365D"/>
              </a:solidFill>
              <a:latin typeface="Calibri"/>
              <a:ea typeface="Calibri"/>
              <a:cs typeface="Calibri"/>
              <a:sym typeface="Calibri"/>
            </a:endParaRPr>
          </a:p>
          <a:p>
            <a:pPr marL="457200" lvl="0" indent="-298450" algn="l" rtl="0">
              <a:lnSpc>
                <a:spcPct val="150000"/>
              </a:lnSpc>
              <a:spcBef>
                <a:spcPts val="0"/>
              </a:spcBef>
              <a:spcAft>
                <a:spcPts val="0"/>
              </a:spcAft>
              <a:buClr>
                <a:schemeClr val="dk1"/>
              </a:buClr>
              <a:buSzPts val="1100"/>
              <a:buFont typeface="Calibri"/>
              <a:buChar char="∙"/>
            </a:pP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24" name="Google Shape;424;p5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425" name="Google Shape;425;p52"/>
          <p:cNvPicPr preferRelativeResize="0"/>
          <p:nvPr/>
        </p:nvPicPr>
        <p:blipFill>
          <a:blip r:embed="rId3">
            <a:alphaModFix/>
          </a:blip>
          <a:stretch>
            <a:fillRect/>
          </a:stretch>
        </p:blipFill>
        <p:spPr>
          <a:xfrm>
            <a:off x="3036200" y="2429475"/>
            <a:ext cx="5734050" cy="27813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5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31" name="Google Shape;431;p53"/>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432" name="Google Shape;432;p53"/>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fontScale="92500"/>
          </a:bodyPr>
          <a:lstStyle/>
          <a:p>
            <a:pPr marL="457200" marR="0" lvl="0" indent="-320524" algn="l" rtl="0">
              <a:lnSpc>
                <a:spcPct val="115000"/>
              </a:lnSpc>
              <a:spcBef>
                <a:spcPts val="0"/>
              </a:spcBef>
              <a:spcAft>
                <a:spcPts val="0"/>
              </a:spcAft>
              <a:buSzPct val="100064"/>
              <a:buFont typeface="Cambria"/>
              <a:buChar char="◼"/>
            </a:pPr>
            <a:r>
              <a:rPr lang="es-ES" sz="1564">
                <a:latin typeface="Cambria"/>
                <a:ea typeface="Cambria"/>
                <a:cs typeface="Cambria"/>
                <a:sym typeface="Cambria"/>
              </a:rPr>
              <a:t>Para este caso, para poder optimizar el tiempo se optó por usar el framework de MAUI el cual permite crear un proyecto central el cual después puede adaptarse a las distintas plataformas(web, mobile y Desktop)</a:t>
            </a:r>
            <a:endParaRPr sz="1564">
              <a:latin typeface="Cambria"/>
              <a:ea typeface="Cambria"/>
              <a:cs typeface="Cambria"/>
              <a:sym typeface="Cambria"/>
            </a:endParaRPr>
          </a:p>
          <a:p>
            <a:pPr marL="457200" marR="0" lvl="0" indent="-320524" algn="l" rtl="0">
              <a:lnSpc>
                <a:spcPct val="115000"/>
              </a:lnSpc>
              <a:spcBef>
                <a:spcPts val="0"/>
              </a:spcBef>
              <a:spcAft>
                <a:spcPts val="0"/>
              </a:spcAft>
              <a:buSzPct val="100064"/>
              <a:buFont typeface="Cambria"/>
              <a:buChar char="◼"/>
            </a:pPr>
            <a:r>
              <a:rPr lang="es-ES" sz="1564">
                <a:latin typeface="Cambria"/>
                <a:ea typeface="Cambria"/>
                <a:cs typeface="Cambria"/>
                <a:sym typeface="Cambria"/>
              </a:rPr>
              <a:t>Para empezar se debe crear el proyecto en visual studio, para ello se selecciona una solución en blanco.</a:t>
            </a:r>
            <a:endParaRPr sz="1564">
              <a:latin typeface="Cambria"/>
              <a:ea typeface="Cambria"/>
              <a:cs typeface="Cambria"/>
              <a:sym typeface="Cambria"/>
            </a:endParaRPr>
          </a:p>
        </p:txBody>
      </p:sp>
      <p:pic>
        <p:nvPicPr>
          <p:cNvPr id="433" name="Google Shape;433;p53"/>
          <p:cNvPicPr preferRelativeResize="0"/>
          <p:nvPr/>
        </p:nvPicPr>
        <p:blipFill>
          <a:blip r:embed="rId3">
            <a:alphaModFix/>
          </a:blip>
          <a:stretch>
            <a:fillRect/>
          </a:stretch>
        </p:blipFill>
        <p:spPr>
          <a:xfrm>
            <a:off x="2087175" y="3158725"/>
            <a:ext cx="5734050" cy="35909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5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39" name="Google Shape;439;p54"/>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440" name="Google Shape;440;p54"/>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57200" marR="0" lvl="0" indent="-327978" algn="l" rtl="0">
              <a:lnSpc>
                <a:spcPct val="115000"/>
              </a:lnSpc>
              <a:spcBef>
                <a:spcPts val="0"/>
              </a:spcBef>
              <a:spcAft>
                <a:spcPts val="0"/>
              </a:spcAft>
              <a:buSzPts val="1565"/>
              <a:buFont typeface="Cambria"/>
              <a:buChar char="◼"/>
            </a:pPr>
            <a:r>
              <a:rPr lang="es-ES" sz="1564">
                <a:latin typeface="Cambria"/>
                <a:ea typeface="Cambria"/>
                <a:cs typeface="Cambria"/>
                <a:sym typeface="Cambria"/>
              </a:rPr>
              <a:t>Se debe asignar un nombre al proyecto y asignarle un directorio donde se va a guardar el mismo, y solo queda dar clic en crear</a:t>
            </a:r>
            <a:endParaRPr sz="1564">
              <a:latin typeface="Cambria"/>
              <a:ea typeface="Cambria"/>
              <a:cs typeface="Cambria"/>
              <a:sym typeface="Cambria"/>
            </a:endParaRPr>
          </a:p>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Con la solución en blanco vamos a ir agregando los diferentes proyectos necesarios para todos los tipos de clientes, primero se debe agregar un nuevo proyecto. </a:t>
            </a:r>
            <a:endParaRPr sz="1564">
              <a:latin typeface="Cambria"/>
              <a:ea typeface="Cambria"/>
              <a:cs typeface="Cambria"/>
              <a:sym typeface="Cambria"/>
            </a:endParaRPr>
          </a:p>
        </p:txBody>
      </p:sp>
      <p:pic>
        <p:nvPicPr>
          <p:cNvPr id="441" name="Google Shape;441;p54"/>
          <p:cNvPicPr preferRelativeResize="0"/>
          <p:nvPr/>
        </p:nvPicPr>
        <p:blipFill>
          <a:blip r:embed="rId3">
            <a:alphaModFix/>
          </a:blip>
          <a:stretch>
            <a:fillRect/>
          </a:stretch>
        </p:blipFill>
        <p:spPr>
          <a:xfrm>
            <a:off x="226825" y="3803100"/>
            <a:ext cx="4002875" cy="2581000"/>
          </a:xfrm>
          <a:prstGeom prst="rect">
            <a:avLst/>
          </a:prstGeom>
          <a:noFill/>
          <a:ln>
            <a:noFill/>
          </a:ln>
        </p:spPr>
      </p:pic>
      <p:pic>
        <p:nvPicPr>
          <p:cNvPr id="442" name="Google Shape;442;p54"/>
          <p:cNvPicPr preferRelativeResize="0"/>
          <p:nvPr/>
        </p:nvPicPr>
        <p:blipFill>
          <a:blip r:embed="rId4">
            <a:alphaModFix/>
          </a:blip>
          <a:stretch>
            <a:fillRect/>
          </a:stretch>
        </p:blipFill>
        <p:spPr>
          <a:xfrm>
            <a:off x="4423175" y="4002275"/>
            <a:ext cx="4747325" cy="189407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55"/>
          <p:cNvSpPr txBox="1">
            <a:spLocks noGrp="1"/>
          </p:cNvSpPr>
          <p:nvPr>
            <p:ph type="title"/>
          </p:nvPr>
        </p:nvSpPr>
        <p:spPr>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48" name="Google Shape;448;p55"/>
          <p:cNvSpPr/>
          <p:nvPr/>
        </p:nvSpPr>
        <p:spPr>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449" name="Google Shape;449;p55"/>
          <p:cNvPicPr preferRelativeResize="0"/>
          <p:nvPr/>
        </p:nvPicPr>
        <p:blipFill>
          <a:blip r:embed="rId3">
            <a:alphaModFix/>
          </a:blip>
          <a:stretch>
            <a:fillRect/>
          </a:stretch>
        </p:blipFill>
        <p:spPr>
          <a:xfrm>
            <a:off x="66975" y="3452938"/>
            <a:ext cx="4507325" cy="2874750"/>
          </a:xfrm>
          <a:prstGeom prst="rect">
            <a:avLst/>
          </a:prstGeom>
          <a:noFill/>
          <a:ln>
            <a:noFill/>
          </a:ln>
        </p:spPr>
      </p:pic>
      <p:pic>
        <p:nvPicPr>
          <p:cNvPr id="450" name="Google Shape;450;p55"/>
          <p:cNvPicPr preferRelativeResize="0"/>
          <p:nvPr/>
        </p:nvPicPr>
        <p:blipFill>
          <a:blip r:embed="rId4">
            <a:alphaModFix/>
          </a:blip>
          <a:stretch>
            <a:fillRect/>
          </a:stretch>
        </p:blipFill>
        <p:spPr>
          <a:xfrm>
            <a:off x="4772900" y="3452950"/>
            <a:ext cx="4460247" cy="2874725"/>
          </a:xfrm>
          <a:prstGeom prst="rect">
            <a:avLst/>
          </a:prstGeom>
          <a:noFill/>
          <a:ln>
            <a:noFill/>
          </a:ln>
        </p:spPr>
      </p:pic>
      <p:sp>
        <p:nvSpPr>
          <p:cNvPr id="451" name="Google Shape;451;p55"/>
          <p:cNvSpPr txBox="1">
            <a:spLocks noGrp="1"/>
          </p:cNvSpPr>
          <p:nvPr>
            <p:ph type="body" idx="1"/>
          </p:nvPr>
        </p:nvSpPr>
        <p:spPr>
          <a:xfrm>
            <a:off x="514225" y="1888629"/>
            <a:ext cx="8589300" cy="1170900"/>
          </a:xfrm>
          <a:prstGeom prst="rect">
            <a:avLst/>
          </a:prstGeom>
          <a:noFill/>
          <a:ln>
            <a:noFill/>
          </a:ln>
        </p:spPr>
        <p:txBody>
          <a:bodyPr spcFirstLastPara="1" wrap="square" lIns="91425" tIns="45700" rIns="91425" bIns="45700" anchor="ctr" anchorCtr="0">
            <a:normAutofit/>
          </a:bodyPr>
          <a:lstStyle/>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Pero para este caso en la plantilla se debe seleccionar Aplicación web de Blazor </a:t>
            </a:r>
            <a:endParaRPr sz="1564">
              <a:latin typeface="Cambria"/>
              <a:ea typeface="Cambria"/>
              <a:cs typeface="Cambria"/>
              <a:sym typeface="Cambria"/>
            </a:endParaRPr>
          </a:p>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A fin de poder identificar el proyecto este terminara con .web y su ubicacion sera en el directorio correspondiente a ese cliente</a:t>
            </a:r>
            <a:endParaRPr sz="1564">
              <a:latin typeface="Cambria"/>
              <a:ea typeface="Cambria"/>
              <a:cs typeface="Cambria"/>
              <a:sym typeface="Cambri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56"/>
          <p:cNvSpPr txBox="1">
            <a:spLocks noGrp="1"/>
          </p:cNvSpPr>
          <p:nvPr>
            <p:ph type="title"/>
          </p:nvPr>
        </p:nvSpPr>
        <p:spPr>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57" name="Google Shape;457;p56"/>
          <p:cNvSpPr/>
          <p:nvPr/>
        </p:nvSpPr>
        <p:spPr>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458" name="Google Shape;458;p56"/>
          <p:cNvSpPr txBox="1">
            <a:spLocks noGrp="1"/>
          </p:cNvSpPr>
          <p:nvPr>
            <p:ph type="body" idx="1"/>
          </p:nvPr>
        </p:nvSpPr>
        <p:spPr>
          <a:xfrm>
            <a:off x="514225" y="1888629"/>
            <a:ext cx="8589300" cy="1170900"/>
          </a:xfrm>
          <a:prstGeom prst="rect">
            <a:avLst/>
          </a:prstGeom>
          <a:noFill/>
          <a:ln>
            <a:noFill/>
          </a:ln>
        </p:spPr>
        <p:txBody>
          <a:bodyPr spcFirstLastPara="1" wrap="square" lIns="91425" tIns="45700" rIns="91425" bIns="45700" anchor="ctr" anchorCtr="0">
            <a:normAutofit/>
          </a:bodyPr>
          <a:lstStyle/>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De igual manera se usara .Net 10.0 como versión del framework, este proyecto generar 2 el .web que definimos y no .web.client.</a:t>
            </a:r>
            <a:endParaRPr sz="1564">
              <a:latin typeface="Cambria"/>
              <a:ea typeface="Cambria"/>
              <a:cs typeface="Cambria"/>
              <a:sym typeface="Cambria"/>
            </a:endParaRPr>
          </a:p>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Para el caso de clientes mobile y desktop se va a crear un proyecto afín para estas plataformas, por lo que una vez más es necesario agregar un nuevo proyecto.</a:t>
            </a:r>
            <a:endParaRPr sz="1564">
              <a:latin typeface="Cambria"/>
              <a:ea typeface="Cambria"/>
              <a:cs typeface="Cambria"/>
              <a:sym typeface="Cambria"/>
            </a:endParaRPr>
          </a:p>
        </p:txBody>
      </p:sp>
      <p:pic>
        <p:nvPicPr>
          <p:cNvPr id="459" name="Google Shape;459;p56"/>
          <p:cNvPicPr preferRelativeResize="0"/>
          <p:nvPr/>
        </p:nvPicPr>
        <p:blipFill>
          <a:blip r:embed="rId3">
            <a:alphaModFix/>
          </a:blip>
          <a:stretch>
            <a:fillRect/>
          </a:stretch>
        </p:blipFill>
        <p:spPr>
          <a:xfrm>
            <a:off x="256575" y="3246650"/>
            <a:ext cx="3705225" cy="3581400"/>
          </a:xfrm>
          <a:prstGeom prst="rect">
            <a:avLst/>
          </a:prstGeom>
          <a:noFill/>
          <a:ln>
            <a:noFill/>
          </a:ln>
        </p:spPr>
      </p:pic>
      <p:pic>
        <p:nvPicPr>
          <p:cNvPr id="460" name="Google Shape;460;p56"/>
          <p:cNvPicPr preferRelativeResize="0"/>
          <p:nvPr/>
        </p:nvPicPr>
        <p:blipFill>
          <a:blip r:embed="rId4">
            <a:alphaModFix/>
          </a:blip>
          <a:stretch>
            <a:fillRect/>
          </a:stretch>
        </p:blipFill>
        <p:spPr>
          <a:xfrm>
            <a:off x="4326425" y="3793250"/>
            <a:ext cx="4625675" cy="18455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57"/>
          <p:cNvSpPr txBox="1">
            <a:spLocks noGrp="1"/>
          </p:cNvSpPr>
          <p:nvPr>
            <p:ph type="title"/>
          </p:nvPr>
        </p:nvSpPr>
        <p:spPr>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66" name="Google Shape;466;p57"/>
          <p:cNvSpPr/>
          <p:nvPr/>
        </p:nvSpPr>
        <p:spPr>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467" name="Google Shape;467;p57"/>
          <p:cNvSpPr txBox="1">
            <a:spLocks noGrp="1"/>
          </p:cNvSpPr>
          <p:nvPr>
            <p:ph type="body" idx="1"/>
          </p:nvPr>
        </p:nvSpPr>
        <p:spPr>
          <a:xfrm>
            <a:off x="514225" y="1888629"/>
            <a:ext cx="8589300" cy="1170900"/>
          </a:xfrm>
          <a:prstGeom prst="rect">
            <a:avLst/>
          </a:prstGeom>
          <a:noFill/>
          <a:ln>
            <a:noFill/>
          </a:ln>
        </p:spPr>
        <p:txBody>
          <a:bodyPr spcFirstLastPara="1" wrap="square" lIns="91425" tIns="45700" rIns="91425" bIns="45700" anchor="ctr" anchorCtr="0">
            <a:normAutofit/>
          </a:bodyPr>
          <a:lstStyle/>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la plantilla para este caso es la de aplicación de .NET MAUI Blazor Hybrid la cual permite fusionar la plataforma desktop y mobile.</a:t>
            </a:r>
            <a:endParaRPr sz="1564">
              <a:latin typeface="Cambria"/>
              <a:ea typeface="Cambria"/>
              <a:cs typeface="Cambria"/>
              <a:sym typeface="Cambria"/>
            </a:endParaRPr>
          </a:p>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A esta plantilla colocaremos un nombre que finalice .Maui</a:t>
            </a:r>
            <a:endParaRPr sz="1564">
              <a:latin typeface="Cambria"/>
              <a:ea typeface="Cambria"/>
              <a:cs typeface="Cambria"/>
              <a:sym typeface="Cambria"/>
            </a:endParaRPr>
          </a:p>
        </p:txBody>
      </p:sp>
      <p:pic>
        <p:nvPicPr>
          <p:cNvPr id="468" name="Google Shape;468;p57"/>
          <p:cNvPicPr preferRelativeResize="0"/>
          <p:nvPr/>
        </p:nvPicPr>
        <p:blipFill>
          <a:blip r:embed="rId3">
            <a:alphaModFix/>
          </a:blip>
          <a:stretch>
            <a:fillRect/>
          </a:stretch>
        </p:blipFill>
        <p:spPr>
          <a:xfrm>
            <a:off x="107750" y="3471275"/>
            <a:ext cx="4476750" cy="2895600"/>
          </a:xfrm>
          <a:prstGeom prst="rect">
            <a:avLst/>
          </a:prstGeom>
          <a:noFill/>
          <a:ln>
            <a:noFill/>
          </a:ln>
        </p:spPr>
      </p:pic>
      <p:pic>
        <p:nvPicPr>
          <p:cNvPr id="469" name="Google Shape;469;p57"/>
          <p:cNvPicPr preferRelativeResize="0"/>
          <p:nvPr/>
        </p:nvPicPr>
        <p:blipFill>
          <a:blip r:embed="rId4">
            <a:alphaModFix/>
          </a:blip>
          <a:stretch>
            <a:fillRect/>
          </a:stretch>
        </p:blipFill>
        <p:spPr>
          <a:xfrm>
            <a:off x="4823813" y="3471275"/>
            <a:ext cx="4253601" cy="27053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58"/>
          <p:cNvSpPr txBox="1">
            <a:spLocks noGrp="1"/>
          </p:cNvSpPr>
          <p:nvPr>
            <p:ph type="title"/>
          </p:nvPr>
        </p:nvSpPr>
        <p:spPr>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75" name="Google Shape;475;p58"/>
          <p:cNvSpPr/>
          <p:nvPr/>
        </p:nvSpPr>
        <p:spPr>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476" name="Google Shape;476;p58"/>
          <p:cNvSpPr txBox="1">
            <a:spLocks noGrp="1"/>
          </p:cNvSpPr>
          <p:nvPr>
            <p:ph type="body" idx="1"/>
          </p:nvPr>
        </p:nvSpPr>
        <p:spPr>
          <a:xfrm>
            <a:off x="514225" y="1888629"/>
            <a:ext cx="8589300" cy="1170900"/>
          </a:xfrm>
          <a:prstGeom prst="rect">
            <a:avLst/>
          </a:prstGeom>
          <a:noFill/>
          <a:ln>
            <a:noFill/>
          </a:ln>
        </p:spPr>
        <p:txBody>
          <a:bodyPr spcFirstLastPara="1" wrap="square" lIns="91425" tIns="45700" rIns="91425" bIns="45700" anchor="ctr" anchorCtr="0">
            <a:normAutofit/>
          </a:bodyPr>
          <a:lstStyle/>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Se debe referenciar el proyecto central a los proyectos que se acaban de crear esto tanto para el proyecto web como para que es para desktop y mobile.</a:t>
            </a:r>
            <a:endParaRPr sz="1564">
              <a:latin typeface="Cambria"/>
              <a:ea typeface="Cambria"/>
              <a:cs typeface="Cambria"/>
              <a:sym typeface="Cambria"/>
            </a:endParaRPr>
          </a:p>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Con esto se debe buscar el proyecto shared(proyecto central) para que los proyectos adyacentes sepan a donde apuntar</a:t>
            </a:r>
            <a:endParaRPr sz="1564">
              <a:latin typeface="Cambria"/>
              <a:ea typeface="Cambria"/>
              <a:cs typeface="Cambria"/>
              <a:sym typeface="Cambria"/>
            </a:endParaRPr>
          </a:p>
        </p:txBody>
      </p:sp>
      <p:pic>
        <p:nvPicPr>
          <p:cNvPr id="477" name="Google Shape;477;p58"/>
          <p:cNvPicPr preferRelativeResize="0"/>
          <p:nvPr/>
        </p:nvPicPr>
        <p:blipFill>
          <a:blip r:embed="rId3">
            <a:alphaModFix/>
          </a:blip>
          <a:stretch>
            <a:fillRect/>
          </a:stretch>
        </p:blipFill>
        <p:spPr>
          <a:xfrm>
            <a:off x="167300" y="3910850"/>
            <a:ext cx="4107051" cy="1826175"/>
          </a:xfrm>
          <a:prstGeom prst="rect">
            <a:avLst/>
          </a:prstGeom>
          <a:noFill/>
          <a:ln>
            <a:noFill/>
          </a:ln>
        </p:spPr>
      </p:pic>
      <p:pic>
        <p:nvPicPr>
          <p:cNvPr id="478" name="Google Shape;478;p58"/>
          <p:cNvPicPr preferRelativeResize="0"/>
          <p:nvPr/>
        </p:nvPicPr>
        <p:blipFill>
          <a:blip r:embed="rId4">
            <a:alphaModFix/>
          </a:blip>
          <a:stretch>
            <a:fillRect/>
          </a:stretch>
        </p:blipFill>
        <p:spPr>
          <a:xfrm>
            <a:off x="4429438" y="3317241"/>
            <a:ext cx="4732200" cy="333298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59"/>
          <p:cNvSpPr txBox="1">
            <a:spLocks noGrp="1"/>
          </p:cNvSpPr>
          <p:nvPr>
            <p:ph type="title"/>
          </p:nvPr>
        </p:nvSpPr>
        <p:spPr>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84" name="Google Shape;484;p59"/>
          <p:cNvSpPr/>
          <p:nvPr/>
        </p:nvSpPr>
        <p:spPr>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485" name="Google Shape;485;p59"/>
          <p:cNvSpPr txBox="1">
            <a:spLocks noGrp="1"/>
          </p:cNvSpPr>
          <p:nvPr>
            <p:ph type="body" idx="1"/>
          </p:nvPr>
        </p:nvSpPr>
        <p:spPr>
          <a:xfrm>
            <a:off x="514225" y="1888629"/>
            <a:ext cx="8589300" cy="1170900"/>
          </a:xfrm>
          <a:prstGeom prst="rect">
            <a:avLst/>
          </a:prstGeom>
          <a:noFill/>
          <a:ln>
            <a:noFill/>
          </a:ln>
        </p:spPr>
        <p:txBody>
          <a:bodyPr spcFirstLastPara="1" wrap="square" lIns="91425" tIns="45700" rIns="91425" bIns="45700" anchor="ctr" anchorCtr="0">
            <a:normAutofit/>
          </a:bodyPr>
          <a:lstStyle/>
          <a:p>
            <a:pPr marL="45720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Lo que sigue es ir creando los diferentes paquetes que se van a usar.</a:t>
            </a:r>
            <a:endParaRPr sz="1564">
              <a:latin typeface="Cambria"/>
              <a:ea typeface="Cambria"/>
              <a:cs typeface="Cambria"/>
              <a:sym typeface="Cambria"/>
            </a:endParaRPr>
          </a:p>
        </p:txBody>
      </p:sp>
      <p:pic>
        <p:nvPicPr>
          <p:cNvPr id="486" name="Google Shape;486;p59"/>
          <p:cNvPicPr preferRelativeResize="0"/>
          <p:nvPr/>
        </p:nvPicPr>
        <p:blipFill>
          <a:blip r:embed="rId3">
            <a:alphaModFix/>
          </a:blip>
          <a:stretch>
            <a:fillRect/>
          </a:stretch>
        </p:blipFill>
        <p:spPr>
          <a:xfrm>
            <a:off x="1164400" y="2905725"/>
            <a:ext cx="5611251" cy="37677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6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92" name="Google Shape;492;p60"/>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93" name="Google Shape;493;p6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94" name="Google Shape;494;p60"/>
          <p:cNvGraphicFramePr/>
          <p:nvPr/>
        </p:nvGraphicFramePr>
        <p:xfrm>
          <a:off x="2311225" y="2755638"/>
          <a:ext cx="3000000" cy="3000000"/>
        </p:xfrm>
        <a:graphic>
          <a:graphicData uri="http://schemas.openxmlformats.org/drawingml/2006/table">
            <a:tbl>
              <a:tblPr>
                <a:noFill/>
                <a:tableStyleId>{00F2D98E-0062-4CEB-BF75-F90E3C6509C4}</a:tableStyleId>
              </a:tblPr>
              <a:tblGrid>
                <a:gridCol w="5903875">
                  <a:extLst>
                    <a:ext uri="{9D8B030D-6E8A-4147-A177-3AD203B41FA5}">
                      <a16:colId xmlns:a16="http://schemas.microsoft.com/office/drawing/2014/main" val="20000"/>
                    </a:ext>
                  </a:extLst>
                </a:gridCol>
              </a:tblGrid>
              <a:tr h="2513700">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namespace ec.edu.monster.Modelos;</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public static class ConstantesRed</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IP_WEB_SERVICES = "192.168.18.9";</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IP_WEB_SERVICES = "localhost";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UrlJavaSoap = $"http://{IP_WEB_SERVICES}:8080/04.SERVIDOR/WSConversorUnidades";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UrlDotNetSoap = $"http://{IP_WEB_SERVICES}:50774/WSConversorUnidades.svc";</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UrlDotNetRest = $"http://{IP_WEB_SERVICES}:52100/api";</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UrlJavaRest = $"http://{IP_WEB_SERVICES}:8080/04.SERVIDOR/api";</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6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00" name="Google Shape;500;p61"/>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01" name="Google Shape;501;p6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02" name="Google Shape;502;p61"/>
          <p:cNvGraphicFramePr/>
          <p:nvPr/>
        </p:nvGraphicFramePr>
        <p:xfrm>
          <a:off x="2311225" y="2755638"/>
          <a:ext cx="3000000" cy="3000000"/>
        </p:xfrm>
        <a:graphic>
          <a:graphicData uri="http://schemas.openxmlformats.org/drawingml/2006/table">
            <a:tbl>
              <a:tblPr>
                <a:noFill/>
                <a:tableStyleId>{00F2D98E-0062-4CEB-BF75-F90E3C6509C4}</a:tableStyleId>
              </a:tblPr>
              <a:tblGrid>
                <a:gridCol w="5903875">
                  <a:extLst>
                    <a:ext uri="{9D8B030D-6E8A-4147-A177-3AD203B41FA5}">
                      <a16:colId xmlns:a16="http://schemas.microsoft.com/office/drawing/2014/main" val="20000"/>
                    </a:ext>
                  </a:extLst>
                </a:gridCol>
              </a:tblGrid>
              <a:tr h="2513700">
                <a:tc>
                  <a:txBody>
                    <a:bodyPr/>
                    <a:lstStyle/>
                    <a:p>
                      <a:pPr marL="0" lvl="0" indent="0" algn="l" rtl="0">
                        <a:spcBef>
                          <a:spcPts val="0"/>
                        </a:spcBef>
                        <a:spcAft>
                          <a:spcPts val="0"/>
                        </a:spcAft>
                        <a:buNone/>
                      </a:pPr>
                      <a:r>
                        <a:rPr lang="es-ES" sz="900">
                          <a:solidFill>
                            <a:srgbClr val="4F81BD"/>
                          </a:solidFill>
                          <a:latin typeface="Calibri"/>
                          <a:ea typeface="Calibri"/>
                          <a:cs typeface="Calibri"/>
                          <a:sym typeface="Calibri"/>
                        </a:rPr>
                        <a:t>using ec.edu.monster.Interfaces;</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using ec.edu.monster.Modelos;</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namespace ec.edu.monster.Servicios;</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public class FabricaEstrategiaBackend</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private readonly IEnumerable&lt;IAdaptadorConversion&gt; _adaptadoresConversion;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private readonly IEnumerable&lt;IAdaptadorAutenticacion&gt; _adaptadoresAutenticacion;</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public FabricaEstrategiaBackend(</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IEnumerable&lt;IAdaptadorConversion&gt; adaptadoresConversion,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IEnumerable&lt;IAdaptadorAutenticacion&gt; adaptadoresAutenticacion)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_adaptadoresConversion = adaptadoresConversion;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_adaptadoresAutenticacion = adaptadoresAutenticacion;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public IAdaptadorConversion ObtenerAdaptadorConversion(TipoBackend tipo)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_adaptadoresConversion.FirstOrDefault(a =&gt; a.Tipo == tipo)</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 throw new NotSupportedException($"Adaptador de conversión para {tipo} no implementado.");</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public IAdaptadorAutenticacion ObtenerAdaptadorAutenticacion(TipoBackend tipo)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_adaptadoresAutenticacion.FirstOrDefault(a =&gt; a.Tipo == tipo)</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 throw new NotSupportedException($"Adaptador de autenticación para {tipo} no implementado.");</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6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08" name="Google Shape;508;p62"/>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09" name="Google Shape;509;p6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10" name="Google Shape;510;p62"/>
          <p:cNvGraphicFramePr/>
          <p:nvPr/>
        </p:nvGraphicFramePr>
        <p:xfrm>
          <a:off x="2385650" y="2264513"/>
          <a:ext cx="3000000" cy="3000000"/>
        </p:xfrm>
        <a:graphic>
          <a:graphicData uri="http://schemas.openxmlformats.org/drawingml/2006/table">
            <a:tbl>
              <a:tblPr>
                <a:noFill/>
                <a:tableStyleId>{00F2D98E-0062-4CEB-BF75-F90E3C6509C4}</a:tableStyleId>
              </a:tblPr>
              <a:tblGrid>
                <a:gridCol w="5903875">
                  <a:extLst>
                    <a:ext uri="{9D8B030D-6E8A-4147-A177-3AD203B41FA5}">
                      <a16:colId xmlns:a16="http://schemas.microsoft.com/office/drawing/2014/main" val="20000"/>
                    </a:ext>
                  </a:extLst>
                </a:gridCol>
              </a:tblGrid>
              <a:tr h="2513700">
                <a:tc>
                  <a:txBody>
                    <a:bodyPr/>
                    <a:lstStyle/>
                    <a:p>
                      <a:pPr marL="0" lvl="0" indent="0" algn="l" rtl="0">
                        <a:spcBef>
                          <a:spcPts val="0"/>
                        </a:spcBef>
                        <a:spcAft>
                          <a:spcPts val="0"/>
                        </a:spcAft>
                        <a:buNone/>
                      </a:pPr>
                      <a:r>
                        <a:rPr lang="es-ES" sz="900">
                          <a:solidFill>
                            <a:srgbClr val="4F81BD"/>
                          </a:solidFill>
                          <a:latin typeface="Calibri"/>
                          <a:ea typeface="Calibri"/>
                          <a:cs typeface="Calibri"/>
                          <a:sym typeface="Calibri"/>
                        </a:rPr>
                        <a:t>@page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@inject ec.edu.monster.Servicios.EstadoAplicacion EstadoApp</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@inject ec.edu.monster.Servicios.FabricaEstrategiaBackend Fabrica</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@inject NavigationManager NavManager</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&lt;div class="espe-background"&gt;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class="espe-card" style="width: 800px;"&gt;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class="row g-0"&gt;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class="col-md-6" style="background-color: #f8f9fa;"&gt;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&lt;img src="/sullivan_computer.jpg" class="img-fluid" style="height: 100%; object-fit: cover;" alt="Imagen Login"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class="col-md-6 p-5 d-flex flex-column justify-content-center"&gt;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class="text-center mb-4"&gt;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&lt;h4 style="color: #0F4770;"&gt;Sistema de Conversión de Unidades&lt;/h4&gt;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&lt;small class="text-secondary"&gt;GRUPO #5&lt;/small&gt;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6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16" name="Google Shape;516;p63"/>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17" name="Google Shape;517;p6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18" name="Google Shape;518;p63"/>
          <p:cNvGraphicFramePr/>
          <p:nvPr/>
        </p:nvGraphicFramePr>
        <p:xfrm>
          <a:off x="2445175" y="2026388"/>
          <a:ext cx="3000000" cy="3000000"/>
        </p:xfrm>
        <a:graphic>
          <a:graphicData uri="http://schemas.openxmlformats.org/drawingml/2006/table">
            <a:tbl>
              <a:tblPr>
                <a:noFill/>
                <a:tableStyleId>{00F2D98E-0062-4CEB-BF75-F90E3C6509C4}</a:tableStyleId>
              </a:tblPr>
              <a:tblGrid>
                <a:gridCol w="5903875">
                  <a:extLst>
                    <a:ext uri="{9D8B030D-6E8A-4147-A177-3AD203B41FA5}">
                      <a16:colId xmlns:a16="http://schemas.microsoft.com/office/drawing/2014/main" val="20000"/>
                    </a:ext>
                  </a:extLst>
                </a:gridCol>
              </a:tblGrid>
              <a:tr h="2513700">
                <a:tc>
                  <a:txBody>
                    <a:bodyPr/>
                    <a:lstStyle/>
                    <a:p>
                      <a:pPr marL="0" lvl="0" indent="0" algn="l" rtl="0">
                        <a:spcBef>
                          <a:spcPts val="0"/>
                        </a:spcBef>
                        <a:spcAft>
                          <a:spcPts val="0"/>
                        </a:spcAft>
                        <a:buNone/>
                      </a:pPr>
                      <a:r>
                        <a:rPr lang="es-ES" sz="900">
                          <a:solidFill>
                            <a:srgbClr val="4F81BD"/>
                          </a:solidFill>
                          <a:latin typeface="Calibri"/>
                          <a:ea typeface="Calibri"/>
                          <a:cs typeface="Calibri"/>
                          <a:sym typeface="Calibri"/>
                        </a:rPr>
                        <a:t> &lt;div class="mb-4 p-3 rounded" style="background-color: #e0f2f1; border-left: 4px solid #0F4770;"&gt;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&lt;label class="fw-bold text-secondary mb-1" style="font-size: 0.85rem;"&gt;ENTORNO DE CONEXIÓN&lt;/label&gt;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&lt;select class="form-select espe-form-control bg-transparent border-0 border-bottom fw-bold"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style="color: #0F4770; box-shadow: none;"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@bind:get="EstadoApp.BackendActual"</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@bind:set="(value) =&gt; EstadoApp.EstablecerBackend(value)"&gt;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@foreach (var backend in Enum.GetValues&lt;ec.edu.monster.Modelos.TipoBackend&gt;())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&lt;option value="@backend"&gt;@backend.ToString()&lt;/option&gt;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&lt;/select&gt;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class="mb-3"&gt;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&lt;label&gt;Usuario&lt;/label&gt;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&lt;input type="text" class="form-control espe-form-control" @bind="usuario"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class="mb-4"&gt;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&lt;label&gt;Contraseña&lt;/label&gt;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&lt;input type="password" class="form-control espe-form-control" @bind="contrasenia"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&lt;button class="btn espe-btn-primary w-100" @onclick="HacerLogin"&gt;Iniciar sesión&lt;/button&gt;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(!string.IsNullOrEmpty(EstadoApp.TokenActual))</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class="alert alert-success mt-3 p-2 text-center" style="font-size: 0.8em; overflow-wrap: break-word;"&gt;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Token obtenido correctamente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6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24" name="Google Shape;524;p64"/>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25" name="Google Shape;525;p6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26" name="Google Shape;526;p64"/>
          <p:cNvGraphicFramePr/>
          <p:nvPr/>
        </p:nvGraphicFramePr>
        <p:xfrm>
          <a:off x="2332838" y="1771213"/>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4509700">
                <a:tc>
                  <a:txBody>
                    <a:bodyPr/>
                    <a:lstStyle/>
                    <a:p>
                      <a:pPr marL="0" lvl="0" indent="0" algn="l" rtl="0">
                        <a:spcBef>
                          <a:spcPts val="0"/>
                        </a:spcBef>
                        <a:spcAft>
                          <a:spcPts val="0"/>
                        </a:spcAft>
                        <a:buNone/>
                      </a:pPr>
                      <a:r>
                        <a:rPr lang="es-ES" sz="900">
                          <a:solidFill>
                            <a:srgbClr val="4F81BD"/>
                          </a:solidFill>
                          <a:latin typeface="Calibri"/>
                          <a:ea typeface="Calibri"/>
                          <a:cs typeface="Calibri"/>
                          <a:sym typeface="Calibri"/>
                        </a:rPr>
                        <a:t> @if (!string.IsNullOrEmpty(mensajeErrorLogin))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class="alert alert-danger mt-3 p-2 text-center" style="font-size: 0.8em;"&gt;@mensajeErrorLogin&lt;/div&gt;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class="text-center mt-4"&gt;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&lt;small class="text-info" style="font-size: 0.8rem;"&gt;Servidor web listo para conexiones.&lt;/small&gt;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@code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private string usuario = "Monster";</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private string contrasenia = "Monster9";</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private string mensajeErrorLogin =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private async Task HacerLogin()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mensajeErrorLogin =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try</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 patrón Strategy:</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var adaptadorAuth = Fabrica.ObtenerAdaptadorAutenticacion(EstadoApp.BackendActual);</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EstadoApp.TokenActual = await adaptadorAuth.IniciarSesionAsync(usuario, contrasenia);</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(!string.IsNullOrEmpty(EstadoApp.TokenActual))</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NavManager.NavigateTo("/conversor");</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catch (Exception ex)</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mensajeErrorLogin = ex.Message;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6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32" name="Google Shape;532;p65"/>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33" name="Google Shape;533;p6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34" name="Google Shape;534;p65"/>
          <p:cNvGraphicFramePr/>
          <p:nvPr/>
        </p:nvGraphicFramePr>
        <p:xfrm>
          <a:off x="2332825" y="2024213"/>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spcBef>
                          <a:spcPts val="0"/>
                        </a:spcBef>
                        <a:spcAft>
                          <a:spcPts val="0"/>
                        </a:spcAft>
                        <a:buNone/>
                      </a:pPr>
                      <a:r>
                        <a:rPr lang="es-ES" sz="1100" i="1">
                          <a:solidFill>
                            <a:srgbClr val="4F81BD"/>
                          </a:solidFill>
                          <a:latin typeface="Calibri"/>
                          <a:ea typeface="Calibri"/>
                          <a:cs typeface="Calibri"/>
                          <a:sym typeface="Calibri"/>
                        </a:rPr>
                        <a:t>using ec.edu.monster.Interfaces;</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using ec.edu.monster.Modelos;</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using System.Net.Http.Headers;</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using System.Net.Http.Json;</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namespace ec.edu.monster.Adaptadores;</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public class AdaptadorAutenticacionDotNetRest : IAdaptadorAutenticacion</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private readonly HttpClient _httpClient;</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public TipoBackend Tipo =&gt; TipoBackend.DotNetRest;</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1000"/>
                        </a:spcAft>
                        <a:buNone/>
                      </a:pPr>
                      <a:r>
                        <a:rPr lang="es-ES" sz="1100" i="1">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6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40" name="Google Shape;540;p66"/>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41" name="Google Shape;541;p6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42" name="Google Shape;542;p66"/>
          <p:cNvGraphicFramePr/>
          <p:nvPr/>
        </p:nvGraphicFramePr>
        <p:xfrm>
          <a:off x="2332825" y="2024213"/>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spcBef>
                          <a:spcPts val="0"/>
                        </a:spcBef>
                        <a:spcAft>
                          <a:spcPts val="0"/>
                        </a:spcAft>
                        <a:buNone/>
                      </a:pPr>
                      <a:r>
                        <a:rPr lang="es-ES" sz="1100" i="1">
                          <a:solidFill>
                            <a:srgbClr val="4F81BD"/>
                          </a:solidFill>
                          <a:latin typeface="Calibri"/>
                          <a:ea typeface="Calibri"/>
                          <a:cs typeface="Calibri"/>
                          <a:sym typeface="Calibri"/>
                        </a:rPr>
                        <a:t> public AdaptadorAutenticacionDotNetRest(HttpClient httpClient)</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_httpClient = httpClient;</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public async Task&lt;string&gt; IniciarSesionAsync(string usuario, string contrasenia)</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 Nota: Tu API .NET espera "contrasena" sin 'i'</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payload = new { usuario = usuario, contrasena = contrasenia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response = await _httpClient.PostAsJsonAsync($"{ConstantesRed.UrlDotNetRest}/seguridad/login", payload);</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1000"/>
                        </a:spcAft>
                        <a:buNone/>
                      </a:pPr>
                      <a:r>
                        <a:rPr lang="es-ES" sz="1100" i="1">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6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48" name="Google Shape;548;p67"/>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49" name="Google Shape;549;p6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50" name="Google Shape;550;p67"/>
          <p:cNvGraphicFramePr/>
          <p:nvPr/>
        </p:nvGraphicFramePr>
        <p:xfrm>
          <a:off x="2332825" y="2024213"/>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spcBef>
                          <a:spcPts val="0"/>
                        </a:spcBef>
                        <a:spcAft>
                          <a:spcPts val="0"/>
                        </a:spcAft>
                        <a:buNone/>
                      </a:pPr>
                      <a:r>
                        <a:rPr lang="es-ES" sz="1100" i="1">
                          <a:solidFill>
                            <a:srgbClr val="4F81BD"/>
                          </a:solidFill>
                          <a:latin typeface="Calibri"/>
                          <a:ea typeface="Calibri"/>
                          <a:cs typeface="Calibri"/>
                          <a:sym typeface="Calibri"/>
                        </a:rPr>
                        <a:t>  if (!response.IsSuccessStatusCode)</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error = await response.Content.ReadAsStringAsync();</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throw new Exception($"Error REST: {error}");</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resultado = await response.Content.ReadFromJsonAsync&lt;LoginResponseDto&gt;();</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return resultado?.Token ?? throw new Exception("Token no recibido");</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public async Task&lt;string&gt; CambiarContraseniaAsync(string contraseniaActual, string contraseniaNueva, string token)</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payload = new { contrasenaActual = contraseniaActual, nuevaContrasena = contraseniaNueva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1000"/>
                        </a:spcAft>
                        <a:buNone/>
                      </a:pPr>
                      <a:r>
                        <a:rPr lang="es-ES" sz="1100" i="1">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6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56" name="Google Shape;556;p68"/>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57" name="Google Shape;557;p6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58" name="Google Shape;558;p68"/>
          <p:cNvGraphicFramePr/>
          <p:nvPr/>
        </p:nvGraphicFramePr>
        <p:xfrm>
          <a:off x="2332825" y="2024213"/>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spcBef>
                          <a:spcPts val="0"/>
                        </a:spcBef>
                        <a:spcAft>
                          <a:spcPts val="0"/>
                        </a:spcAft>
                        <a:buNone/>
                      </a:pPr>
                      <a:r>
                        <a:rPr lang="es-ES" sz="1100" i="1">
                          <a:solidFill>
                            <a:srgbClr val="4F81BD"/>
                          </a:solidFill>
                          <a:latin typeface="Calibri"/>
                          <a:ea typeface="Calibri"/>
                          <a:cs typeface="Calibri"/>
                          <a:sym typeface="Calibri"/>
                        </a:rPr>
                        <a:t>  // Configuramos el token Bearer en la cabecera</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request = new HttpRequestMessage(HttpMethod.Post, $"{ConstantesRed.UrlDotNetRest}/seguridad/cambiar-contrasena");</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request.Headers.Authorization = new AuthenticationHeaderValue("Bearer", token);</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request.Content = JsonContent.Create(payload);</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response = await _httpClient.SendAsync(request);</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if (!response.IsSuccessStatusCode)</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error = await response.Content.ReadAsStringAsync();</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throw new Exception($"Error al cambiar contraseña: {error}");</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return await response.Content.ReadAsStringAsync();</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100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6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64" name="Google Shape;564;p69"/>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65" name="Google Shape;565;p6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66" name="Google Shape;566;p69"/>
          <p:cNvGraphicFramePr/>
          <p:nvPr/>
        </p:nvGraphicFramePr>
        <p:xfrm>
          <a:off x="2332825" y="2024213"/>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2109850">
                <a:tc>
                  <a:txBody>
                    <a:bodyPr/>
                    <a:lstStyle/>
                    <a:p>
                      <a:pPr marL="0" lvl="0" indent="0" algn="l" rtl="0">
                        <a:spcBef>
                          <a:spcPts val="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 Clase interna temporal para mapear el JSON de respuesta</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private class LoginResponseDto { public string Token { get; set; } }</a:t>
                      </a:r>
                      <a:endParaRPr sz="1100" i="1">
                        <a:solidFill>
                          <a:srgbClr val="4F81BD"/>
                        </a:solidFill>
                        <a:latin typeface="Calibri"/>
                        <a:ea typeface="Calibri"/>
                        <a:cs typeface="Calibri"/>
                        <a:sym typeface="Calibri"/>
                      </a:endParaRPr>
                    </a:p>
                    <a:p>
                      <a:pPr marL="0" lvl="0" indent="0" algn="l" rtl="0">
                        <a:spcBef>
                          <a:spcPts val="1000"/>
                        </a:spcBef>
                        <a:spcAft>
                          <a:spcPts val="1000"/>
                        </a:spcAft>
                        <a:buNone/>
                      </a:pPr>
                      <a:r>
                        <a:rPr lang="es-ES" sz="1100" i="1">
                          <a:solidFill>
                            <a:srgbClr val="4F81BD"/>
                          </a:solidFill>
                          <a:latin typeface="Calibri"/>
                          <a:ea typeface="Calibri"/>
                          <a:cs typeface="Calibri"/>
                          <a:sym typeface="Calibri"/>
                        </a:rPr>
                        <a:t>}</a:t>
                      </a:r>
                      <a:endParaRPr sz="1100" i="1">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7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72" name="Google Shape;572;p70"/>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73" name="Google Shape;573;p7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74" name="Google Shape;574;p70"/>
          <p:cNvGraphicFramePr/>
          <p:nvPr/>
        </p:nvGraphicFramePr>
        <p:xfrm>
          <a:off x="2332825" y="2024213"/>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spcBef>
                          <a:spcPts val="0"/>
                        </a:spcBef>
                        <a:spcAft>
                          <a:spcPts val="0"/>
                        </a:spcAft>
                        <a:buNone/>
                      </a:pPr>
                      <a:r>
                        <a:rPr lang="es-ES" sz="1100" i="1">
                          <a:solidFill>
                            <a:srgbClr val="4F81BD"/>
                          </a:solidFill>
                          <a:latin typeface="Calibri"/>
                          <a:ea typeface="Calibri"/>
                          <a:cs typeface="Calibri"/>
                          <a:sym typeface="Calibri"/>
                        </a:rPr>
                        <a:t>using System.Net.Http.Headers;</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using System.Net.Http.Json;</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using ec.edu.monster.Interfaces;</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using ec.edu.monster.Modelos;</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namespace ec.edu.monster.Adaptadores;</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public class AdaptadorConversionDotNetRest : IAdaptadorConversion</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private readonly HttpClient _httpClient;</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public AdaptadorConversionDotNetRest(HttpClient httpClient)</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_httpClient = httpClient;</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lnSpc>
                          <a:spcPct val="120000"/>
                        </a:lnSpc>
                        <a:spcBef>
                          <a:spcPts val="100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7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80" name="Google Shape;580;p71"/>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81" name="Google Shape;581;p7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82" name="Google Shape;582;p71"/>
          <p:cNvGraphicFramePr/>
          <p:nvPr/>
        </p:nvGraphicFramePr>
        <p:xfrm>
          <a:off x="2332825" y="2024213"/>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spcBef>
                          <a:spcPts val="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public TipoBackend Tipo =&gt; TipoBackend.DotNetRest;</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public async Task&lt;double&gt; ConvertirAsync(PeticionConversion peticion, string token)</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 1. Determinar el endpoint basado en el tipo de magnitud</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string endpoint = peticion.TipoConversion.ToLower() switch</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"longitud" =&gt; "longitud",</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"masa" =&gt; "masa",</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"temperatura" =&gt; "temperatura",</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_ =&gt; throw new Exception("Magnitud no soportada")</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1000"/>
                        </a:spcAft>
                        <a:buNone/>
                      </a:pPr>
                      <a:r>
                        <a:rPr lang="es-ES" sz="1100" i="1">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7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88" name="Google Shape;588;p72"/>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89" name="Google Shape;589;p7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90" name="Google Shape;590;p72"/>
          <p:cNvGraphicFramePr/>
          <p:nvPr/>
        </p:nvGraphicFramePr>
        <p:xfrm>
          <a:off x="2332825" y="2024213"/>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r>
                        <a:rPr lang="es-ES" sz="1100" i="1">
                          <a:solidFill>
                            <a:srgbClr val="4F81BD"/>
                          </a:solidFill>
                          <a:latin typeface="Calibri"/>
                          <a:ea typeface="Calibri"/>
                          <a:cs typeface="Calibri"/>
                          <a:sym typeface="Calibri"/>
                        </a:rPr>
                        <a:t>  // 2. Preparar el JSON que tu backend espera</a:t>
                      </a:r>
                      <a:endParaRPr sz="1100" i="1">
                        <a:solidFill>
                          <a:srgbClr val="4F81BD"/>
                        </a:solidFill>
                        <a:latin typeface="Calibri"/>
                        <a:ea typeface="Calibri"/>
                        <a:cs typeface="Calibri"/>
                        <a:sym typeface="Calibri"/>
                      </a:endParaRPr>
                    </a:p>
                    <a:p>
                      <a:pPr marL="0" lvl="0" indent="0" algn="l" rtl="0">
                        <a:spcBef>
                          <a:spcPts val="0"/>
                        </a:spcBef>
                        <a:spcAft>
                          <a:spcPts val="0"/>
                        </a:spcAft>
                        <a:buNone/>
                      </a:pPr>
                      <a:r>
                        <a:rPr lang="es-ES" sz="1100" i="1">
                          <a:solidFill>
                            <a:srgbClr val="4F81BD"/>
                          </a:solidFill>
                          <a:latin typeface="Calibri"/>
                          <a:ea typeface="Calibri"/>
                          <a:cs typeface="Calibri"/>
                          <a:sym typeface="Calibri"/>
                        </a:rPr>
                        <a:t>        var payload = new</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valor = peticion.Valor,</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unidadOrigen = peticion.UnidadOrigen,</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unidadDestino = peticion.UnidadDestino</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 3. Crear la petición HTTP con el Bearer Token</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request = new HttpRequestMessage(HttpMethod.Post, $"{ConstantesRed.UrlDotNetRest}/conversiones/{endpoint}");</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request.Headers.Authorization = new AuthenticationHeaderValue("Bearer", token);</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request.Content = JsonContent.Create(payload);</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 4. Enviar y procesar</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response = await _httpClient.SendAsync(request);</a:t>
                      </a:r>
                      <a:endParaRPr sz="1100" i="1">
                        <a:solidFill>
                          <a:srgbClr val="4F81BD"/>
                        </a:solidFill>
                        <a:latin typeface="Calibri"/>
                        <a:ea typeface="Calibri"/>
                        <a:cs typeface="Calibri"/>
                        <a:sym typeface="Calibri"/>
                      </a:endParaRPr>
                    </a:p>
                    <a:p>
                      <a:pPr marL="0" lvl="0" indent="0" algn="l" rtl="0">
                        <a:spcBef>
                          <a:spcPts val="1000"/>
                        </a:spcBef>
                        <a:spcAft>
                          <a:spcPts val="100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7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96" name="Google Shape;596;p73"/>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97" name="Google Shape;597;p7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98" name="Google Shape;598;p73"/>
          <p:cNvGraphicFramePr/>
          <p:nvPr/>
        </p:nvGraphicFramePr>
        <p:xfrm>
          <a:off x="2332838" y="1895088"/>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spcBef>
                          <a:spcPts val="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if (!response.IsSuccessStatusCode)</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error = await response.Content.ReadAsStringAsync();</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throw new Exception($"Error de servidor: {error}");</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var resultado = await response.Content.ReadFromJsonAsync&lt;ConversionResponseDto&gt;();</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return resultado?.ValorConvertido ?? 0;</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 Clase interna para mapear el JSON de respuesta</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private class ConversionResponseDto { public double ValorConvertido { get; set; } }</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a:t>
                      </a:r>
                      <a:endParaRPr sz="1100" i="1">
                        <a:solidFill>
                          <a:srgbClr val="4F81BD"/>
                        </a:solidFill>
                        <a:latin typeface="Calibri"/>
                        <a:ea typeface="Calibri"/>
                        <a:cs typeface="Calibri"/>
                        <a:sym typeface="Calibri"/>
                      </a:endParaRPr>
                    </a:p>
                    <a:p>
                      <a:pPr marL="0" lvl="0" indent="0" algn="l" rtl="0">
                        <a:spcBef>
                          <a:spcPts val="1000"/>
                        </a:spcBef>
                        <a:spcAft>
                          <a:spcPts val="0"/>
                        </a:spcAft>
                        <a:buNone/>
                      </a:pPr>
                      <a:endParaRPr sz="1100" i="1">
                        <a:solidFill>
                          <a:srgbClr val="4F81BD"/>
                        </a:solidFill>
                        <a:latin typeface="Calibri"/>
                        <a:ea typeface="Calibri"/>
                        <a:cs typeface="Calibri"/>
                        <a:sym typeface="Calibri"/>
                      </a:endParaRPr>
                    </a:p>
                    <a:p>
                      <a:pPr marL="0" lvl="0" indent="0" algn="l" rtl="0">
                        <a:spcBef>
                          <a:spcPts val="1000"/>
                        </a:spcBef>
                        <a:spcAft>
                          <a:spcPts val="0"/>
                        </a:spcAft>
                        <a:buNone/>
                      </a:pPr>
                      <a:r>
                        <a:rPr lang="es-ES" sz="1100" i="1">
                          <a:solidFill>
                            <a:srgbClr val="4F81BD"/>
                          </a:solidFill>
                          <a:latin typeface="Calibri"/>
                          <a:ea typeface="Calibri"/>
                          <a:cs typeface="Calibri"/>
                          <a:sym typeface="Calibri"/>
                        </a:rPr>
                        <a:t>    Task&lt;double&gt; ConvertirAsync(PeticionConversion peticion, string token);</a:t>
                      </a:r>
                      <a:endParaRPr sz="1100" i="1">
                        <a:solidFill>
                          <a:srgbClr val="4F81BD"/>
                        </a:solidFill>
                        <a:latin typeface="Calibri"/>
                        <a:ea typeface="Calibri"/>
                        <a:cs typeface="Calibri"/>
                        <a:sym typeface="Calibri"/>
                      </a:endParaRPr>
                    </a:p>
                    <a:p>
                      <a:pPr marL="0" lvl="0" indent="0" algn="l" rtl="0">
                        <a:spcBef>
                          <a:spcPts val="1000"/>
                        </a:spcBef>
                        <a:spcAft>
                          <a:spcPts val="1000"/>
                        </a:spcAft>
                        <a:buNone/>
                      </a:pPr>
                      <a:r>
                        <a:rPr lang="es-ES" sz="1100" i="1">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7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04" name="Google Shape;604;p74"/>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05" name="Google Shape;605;p74"/>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57200" lvl="0" indent="-333753" algn="just" rtl="0">
              <a:lnSpc>
                <a:spcPct val="107000"/>
              </a:lnSpc>
              <a:spcBef>
                <a:spcPts val="0"/>
              </a:spcBef>
              <a:spcAft>
                <a:spcPts val="0"/>
              </a:spcAft>
              <a:buSzPts val="1656"/>
              <a:buChar char="●"/>
            </a:pPr>
            <a:r>
              <a:rPr lang="es-ES" sz="1564">
                <a:latin typeface="Cambria"/>
                <a:ea typeface="Cambria"/>
                <a:cs typeface="Cambria"/>
                <a:sym typeface="Cambria"/>
              </a:rPr>
              <a:t>Para el cliente desktop se debe crear la instancia que llame al codigo que esta en el proyecto .shared, por lo que el codigo se ve asi, es el mismo que el de movil, sol cambiará la adaptación de la plataforma que se llame</a:t>
            </a:r>
            <a:endParaRPr>
              <a:latin typeface="Cambria"/>
              <a:ea typeface="Cambria"/>
              <a:cs typeface="Cambria"/>
              <a:sym typeface="Cambria"/>
            </a:endParaRPr>
          </a:p>
        </p:txBody>
      </p:sp>
      <p:sp>
        <p:nvSpPr>
          <p:cNvPr id="606" name="Google Shape;606;p74"/>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607" name="Google Shape;607;p74"/>
          <p:cNvGraphicFramePr/>
          <p:nvPr/>
        </p:nvGraphicFramePr>
        <p:xfrm>
          <a:off x="2332838" y="3073863"/>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3453000">
                <a:tc>
                  <a:txBody>
                    <a:bodyPr/>
                    <a:lstStyle/>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using Microsoft.Extensions.Logging;</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using Microsoft.Extensions.DependencyInjection;</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namespace SistemaConversorUI.Maui</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public static class MauiProgram</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public static MauiApp CreateMauiApp()</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var builder = MauiApp.CreateBuilder();</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.UseMauiApp&lt;App&gt;()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.ConfigureFonts(fonts =&gt;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fonts.AddFont("OpenSans-Regular.ttf", "OpenSansRegular");</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08" name="Google Shape;608;p74"/>
          <p:cNvSpPr txBox="1"/>
          <p:nvPr/>
        </p:nvSpPr>
        <p:spPr>
          <a:xfrm>
            <a:off x="122575" y="1715850"/>
            <a:ext cx="7232400" cy="758100"/>
          </a:xfrm>
          <a:prstGeom prst="rect">
            <a:avLst/>
          </a:prstGeom>
          <a:noFill/>
          <a:ln>
            <a:noFill/>
          </a:ln>
        </p:spPr>
        <p:txBody>
          <a:bodyPr spcFirstLastPara="1" wrap="square" lIns="91425" tIns="91425" rIns="91425" bIns="91425" anchor="t" anchorCtr="0">
            <a:spAutoFit/>
          </a:bodyPr>
          <a:lstStyle/>
          <a:p>
            <a:pPr marL="0" lvl="0" indent="0" algn="just" rtl="0">
              <a:lnSpc>
                <a:spcPct val="107000"/>
              </a:lnSpc>
              <a:spcBef>
                <a:spcPts val="0"/>
              </a:spcBef>
              <a:spcAft>
                <a:spcPts val="0"/>
              </a:spcAft>
              <a:buNone/>
            </a:pPr>
            <a:r>
              <a:rPr lang="es-ES" sz="1800" b="1">
                <a:solidFill>
                  <a:schemeClr val="dk2"/>
                </a:solidFill>
                <a:latin typeface="Cambria"/>
                <a:ea typeface="Cambria"/>
                <a:cs typeface="Cambria"/>
                <a:sym typeface="Cambria"/>
              </a:rPr>
              <a:t>1.6 	CREACIÓN DEL PROYECTO – CLIENTE ESCRITORIO</a:t>
            </a:r>
            <a:br>
              <a:rPr lang="es-ES" sz="1800" b="1">
                <a:solidFill>
                  <a:schemeClr val="dk2"/>
                </a:solidFill>
                <a:latin typeface="Cambria"/>
                <a:ea typeface="Cambria"/>
                <a:cs typeface="Cambria"/>
                <a:sym typeface="Cambria"/>
              </a:rPr>
            </a:br>
            <a:endParaRPr sz="1800">
              <a:solidFill>
                <a:schemeClr val="dk2"/>
              </a:solidFill>
              <a:latin typeface="Gill Sans"/>
              <a:ea typeface="Gill Sans"/>
              <a:cs typeface="Gill Sans"/>
              <a:sym typeface="Gill San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7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14" name="Google Shape;614;p75"/>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15" name="Google Shape;615;p75"/>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616" name="Google Shape;616;p75"/>
          <p:cNvGraphicFramePr/>
          <p:nvPr/>
        </p:nvGraphicFramePr>
        <p:xfrm>
          <a:off x="2332838" y="2136238"/>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4023900">
                <a:tc>
                  <a:txBody>
                    <a:bodyPr/>
                    <a:lstStyle/>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builder.Services.AddMauiBlazorWebView();</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1. Cliente HTTP</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builder.Services.AddHttpClient();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2. SERVICIOS CORE</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builder.Services.AddScoped&lt;ec.edu.monster.Servicios.EstadoAplicacion&gt;();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builder.Services.AddScoped&lt;ec.edu.monster.Servicios.FabricaEstrategiaBackend&gt;();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3. ADAPTADORES (Igual que en la Web)</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7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22" name="Google Shape;622;p76"/>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23" name="Google Shape;623;p76"/>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624" name="Google Shape;624;p76"/>
          <p:cNvGraphicFramePr/>
          <p:nvPr/>
        </p:nvGraphicFramePr>
        <p:xfrm>
          <a:off x="2332838" y="2136238"/>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4023900">
                <a:tc>
                  <a:txBody>
                    <a:bodyPr/>
                    <a:lstStyle/>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#if DEBUG</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builder.Services.AddBlazorWebViewDeveloperTools();</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builder.Logging.AddDebug();</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#endif</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 AUTENTICACIÓN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1100">
                        <a:solidFill>
                          <a:schemeClr val="dk1"/>
                        </a:solidFill>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7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30" name="Google Shape;630;p77"/>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31" name="Google Shape;631;p77"/>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632" name="Google Shape;632;p77"/>
          <p:cNvGraphicFramePr/>
          <p:nvPr/>
        </p:nvGraphicFramePr>
        <p:xfrm>
          <a:off x="2332825" y="1914088"/>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4023900">
                <a:tc>
                  <a:txBody>
                    <a:bodyPr/>
                    <a:lstStyle/>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LOS MOCKS (Para los que aún no construimos):</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ec.edu.monster.Adaptadores.AdaptadorAutenticacionMock(ec.edu.monster.Modelos.TipoBackend.JavaRest));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ec.edu.monster.Adaptadores.AdaptadorAutenticacionMock(ec.edu.monster.Modelos.TipoBackend.DotNetSoap));</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ec.edu.monster.Adaptadores.AdaptadorAutenticacionMock(ec.edu.monster.Modelos.TipoBackend.DotNetRest));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 CONVERSIÓN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LOS MOCKS:</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ec.edu.monster.Adaptadores.AdaptadorConversionMock(ec.edu.monster.Modelos.TipoBackend.JavaRest));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ec.edu.monster.Adaptadores.AdaptadorConversionMock(ec.edu.monster.Modelos.TipoBackend.DotNetSoap));</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ec.edu.monster.Adaptadores.AdaptadorConversionMock(ec.edu.monster.Modelos.TipoBackend.DotNetRest));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return builder.Build();</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a:t>
                      </a:r>
                      <a:endParaRPr sz="1100">
                        <a:solidFill>
                          <a:schemeClr val="dk1"/>
                        </a:solidFill>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7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38" name="Google Shape;638;p78"/>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39" name="Google Shape;639;p78"/>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640" name="Google Shape;640;p78"/>
          <p:cNvPicPr preferRelativeResize="0"/>
          <p:nvPr/>
        </p:nvPicPr>
        <p:blipFill>
          <a:blip r:embed="rId3">
            <a:alphaModFix/>
          </a:blip>
          <a:stretch>
            <a:fillRect/>
          </a:stretch>
        </p:blipFill>
        <p:spPr>
          <a:xfrm>
            <a:off x="1874075" y="2610550"/>
            <a:ext cx="5734050" cy="347662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7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46" name="Google Shape;646;p79"/>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47" name="Google Shape;647;p79"/>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648" name="Google Shape;648;p79"/>
          <p:cNvPicPr preferRelativeResize="0"/>
          <p:nvPr/>
        </p:nvPicPr>
        <p:blipFill>
          <a:blip r:embed="rId3">
            <a:alphaModFix/>
          </a:blip>
          <a:stretch>
            <a:fillRect/>
          </a:stretch>
        </p:blipFill>
        <p:spPr>
          <a:xfrm>
            <a:off x="2057925" y="2610550"/>
            <a:ext cx="5734050" cy="34671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8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54" name="Google Shape;654;p80"/>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55" name="Google Shape;655;p80"/>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656" name="Google Shape;656;p80"/>
          <p:cNvPicPr preferRelativeResize="0"/>
          <p:nvPr/>
        </p:nvPicPr>
        <p:blipFill>
          <a:blip r:embed="rId3">
            <a:alphaModFix/>
          </a:blip>
          <a:stretch>
            <a:fillRect/>
          </a:stretch>
        </p:blipFill>
        <p:spPr>
          <a:xfrm>
            <a:off x="2176450" y="2610550"/>
            <a:ext cx="5734050" cy="349567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8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62" name="Google Shape;662;p81"/>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63" name="Google Shape;663;p81"/>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57200" lvl="0" indent="-333753" algn="just" rtl="0">
              <a:lnSpc>
                <a:spcPct val="107000"/>
              </a:lnSpc>
              <a:spcBef>
                <a:spcPts val="0"/>
              </a:spcBef>
              <a:spcAft>
                <a:spcPts val="0"/>
              </a:spcAft>
              <a:buSzPts val="1656"/>
              <a:buChar char="●"/>
            </a:pPr>
            <a:r>
              <a:rPr lang="es-ES" sz="1564">
                <a:latin typeface="Cambria"/>
                <a:ea typeface="Cambria"/>
                <a:cs typeface="Cambria"/>
                <a:sym typeface="Cambria"/>
              </a:rPr>
              <a:t>Para el cliente web se debe crear la instancia que llame al codigo que esta en el proyecto .shared, por lo que el codigo se ve asi:</a:t>
            </a:r>
            <a:endParaRPr>
              <a:latin typeface="Cambria"/>
              <a:ea typeface="Cambria"/>
              <a:cs typeface="Cambria"/>
              <a:sym typeface="Cambria"/>
            </a:endParaRPr>
          </a:p>
        </p:txBody>
      </p:sp>
      <p:sp>
        <p:nvSpPr>
          <p:cNvPr id="664" name="Google Shape;664;p81"/>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665" name="Google Shape;665;p81"/>
          <p:cNvGraphicFramePr/>
          <p:nvPr/>
        </p:nvGraphicFramePr>
        <p:xfrm>
          <a:off x="2332838" y="3073863"/>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3453000">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SistemaConversorUI.Web.Client.Pages;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ec.edu.monster.Components;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var builder = WebApplication.CreateBuilder(args);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builder.Services.AddAntiforgery();</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1. Servicios base de Blazor y Seguridad</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builder.Services.AddRazorComponents()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.AddInteractiveServerComponents();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builder.Services.AddAntiforgery();</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builder.Services.AddHttpClient();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2. SERVICIOS CORE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builder.Services.AddScoped&lt;ec.edu.monster.Servicios.EstadoAplicacion&gt;();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builder.Services.AddScoped&lt;ec.edu.monster.Servicios.FabricaEstrategiaBackend&gt;();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8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71" name="Google Shape;671;p82"/>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72" name="Google Shape;672;p82"/>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673" name="Google Shape;673;p82"/>
          <p:cNvGraphicFramePr/>
          <p:nvPr/>
        </p:nvGraphicFramePr>
        <p:xfrm>
          <a:off x="2332838" y="2061838"/>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4465025">
                <a:tc>
                  <a:txBody>
                    <a:bodyPr/>
                    <a:lstStyle/>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3. ADAPTADORES DE AUTENTICACIÓN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El Real (Java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El Real (.NET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Los Mocks (Para los demás):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4. ADAPTADORES DE CONVERSIÓN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El Real (Java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El Real (.NET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8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79" name="Google Shape;679;p83"/>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80" name="Google Shape;680;p83"/>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681" name="Google Shape;681;p83"/>
          <p:cNvGraphicFramePr/>
          <p:nvPr/>
        </p:nvGraphicFramePr>
        <p:xfrm>
          <a:off x="2332825" y="1795025"/>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4465025">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Los Mocks: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FIN DE LOS SERVICIOS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var app = builder.Build();</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Configure the HTTP request pipeline.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if (app.Environment.IsDevelopment())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app.UseWebAssemblyDebugging();</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else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app.UseExceptionHandler("/Error", createScopeForErrors: true);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The default HSTS value is 30 days. You may want to change this for production scenarios, see https://aka.ms/aspnetcore-hsts.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app.UseHsts();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app.UseStatusCodePagesWithReExecute("/not-found", createScopeForStatusCodePages: true);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app.UseHttpsRedirection();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app.UseAntiforgery();</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app.MapStaticAssets();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app.MapRazorComponents&lt;App&gt;()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.AddInteractiveServerRenderMode()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.AddAdditionalAssemblies(typeof(SistemaConversorUI.Web.Client._Imports).Assembly);</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app.Run();</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8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87" name="Google Shape;687;p84"/>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88" name="Google Shape;688;p84"/>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689" name="Google Shape;689;p84"/>
          <p:cNvPicPr preferRelativeResize="0"/>
          <p:nvPr/>
        </p:nvPicPr>
        <p:blipFill>
          <a:blip r:embed="rId3">
            <a:alphaModFix/>
          </a:blip>
          <a:stretch>
            <a:fillRect/>
          </a:stretch>
        </p:blipFill>
        <p:spPr>
          <a:xfrm>
            <a:off x="1529750" y="2691850"/>
            <a:ext cx="6892224" cy="352625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8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95" name="Google Shape;695;p85"/>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96" name="Google Shape;696;p85"/>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Conversor</a:t>
            </a:r>
            <a:endParaRPr sz="2000" b="0" i="0" u="none" strike="noStrike" cap="none">
              <a:solidFill>
                <a:srgbClr val="3D3D3D"/>
              </a:solidFill>
              <a:latin typeface="Cambria"/>
              <a:ea typeface="Cambria"/>
              <a:cs typeface="Cambria"/>
              <a:sym typeface="Cambria"/>
            </a:endParaRPr>
          </a:p>
        </p:txBody>
      </p:sp>
      <p:pic>
        <p:nvPicPr>
          <p:cNvPr id="697" name="Google Shape;697;p85"/>
          <p:cNvPicPr preferRelativeResize="0"/>
          <p:nvPr/>
        </p:nvPicPr>
        <p:blipFill>
          <a:blip r:embed="rId3">
            <a:alphaModFix/>
          </a:blip>
          <a:stretch>
            <a:fillRect/>
          </a:stretch>
        </p:blipFill>
        <p:spPr>
          <a:xfrm>
            <a:off x="989425" y="2522350"/>
            <a:ext cx="7615825" cy="3896475"/>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8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03" name="Google Shape;703;p86"/>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704" name="Google Shape;704;p86"/>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Cambiar contraseña</a:t>
            </a:r>
            <a:endParaRPr sz="2000" b="0" i="0" u="none" strike="noStrike" cap="none">
              <a:solidFill>
                <a:srgbClr val="3D3D3D"/>
              </a:solidFill>
              <a:latin typeface="Cambria"/>
              <a:ea typeface="Cambria"/>
              <a:cs typeface="Cambria"/>
              <a:sym typeface="Cambria"/>
            </a:endParaRPr>
          </a:p>
        </p:txBody>
      </p:sp>
      <p:pic>
        <p:nvPicPr>
          <p:cNvPr id="705" name="Google Shape;705;p86"/>
          <p:cNvPicPr preferRelativeResize="0"/>
          <p:nvPr/>
        </p:nvPicPr>
        <p:blipFill>
          <a:blip r:embed="rId3">
            <a:alphaModFix/>
          </a:blip>
          <a:stretch>
            <a:fillRect/>
          </a:stretch>
        </p:blipFill>
        <p:spPr>
          <a:xfrm>
            <a:off x="1223950" y="2763050"/>
            <a:ext cx="7317725" cy="37318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graphicFrame>
        <p:nvGraphicFramePr>
          <p:cNvPr id="710" name="Google Shape;710;p87"/>
          <p:cNvGraphicFramePr/>
          <p:nvPr/>
        </p:nvGraphicFramePr>
        <p:xfrm>
          <a:off x="2332838" y="2865288"/>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3661575">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Microsoft.Extensions.Logging;</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Microsoft.Extensions.DependencyInjection;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namespace SistemaConversorUI.Maui</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static class MauiProgram</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static MauiApp CreateMauiApp()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builder = MauiApp.CreateBuilder();</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.UseMauiApp&lt;App&gt;()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.ConfigureFonts(fonts =&gt;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fonts.AddFont("OpenSans-Regular.ttf", "OpenSansRegular");</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builder.Services.AddMauiBlazorWebView();</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1. Cliente HTTP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builder.Services.AddHttpClient();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711" name="Google Shape;711;p8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12" name="Google Shape;712;p8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713" name="Google Shape;713;p87"/>
          <p:cNvSpPr txBox="1"/>
          <p:nvPr/>
        </p:nvSpPr>
        <p:spPr>
          <a:xfrm>
            <a:off x="406975" y="1921878"/>
            <a:ext cx="8576700" cy="737400"/>
          </a:xfrm>
          <a:prstGeom prst="rect">
            <a:avLst/>
          </a:prstGeom>
          <a:noFill/>
          <a:ln>
            <a:noFill/>
          </a:ln>
        </p:spPr>
        <p:txBody>
          <a:bodyPr spcFirstLastPara="1" wrap="square" lIns="91425" tIns="45700" rIns="91425" bIns="45700" anchor="ctr" anchorCtr="0">
            <a:normAutofit/>
          </a:bodyPr>
          <a:lstStyle/>
          <a:p>
            <a:pPr marL="0" marR="0" lvl="0" indent="0" algn="just" rtl="0">
              <a:lnSpc>
                <a:spcPct val="107000"/>
              </a:lnSpc>
              <a:spcBef>
                <a:spcPts val="0"/>
              </a:spcBef>
              <a:spcAft>
                <a:spcPts val="0"/>
              </a:spcAft>
              <a:buClr>
                <a:srgbClr val="000000"/>
              </a:buClr>
              <a:buSzPts val="1800"/>
              <a:buFont typeface="Arial"/>
              <a:buNone/>
            </a:pPr>
            <a:r>
              <a:rPr lang="es-ES" sz="1800" b="1">
                <a:solidFill>
                  <a:srgbClr val="3D3D3D"/>
                </a:solidFill>
                <a:latin typeface="Cambria"/>
                <a:ea typeface="Cambria"/>
                <a:cs typeface="Cambria"/>
                <a:sym typeface="Cambria"/>
              </a:rPr>
              <a:t>1.6</a:t>
            </a:r>
            <a:r>
              <a:rPr lang="es-ES" sz="1800" b="1" i="0" u="none" strike="noStrike" cap="none">
                <a:solidFill>
                  <a:srgbClr val="3D3D3D"/>
                </a:solidFill>
                <a:latin typeface="Cambria"/>
                <a:ea typeface="Cambria"/>
                <a:cs typeface="Cambria"/>
                <a:sym typeface="Cambria"/>
              </a:rPr>
              <a:t> 	CREACIÓN DEL PROYECTO – CLIENTE MÓVIL</a:t>
            </a:r>
            <a:br>
              <a:rPr lang="es-ES" sz="1800" b="1" i="0" u="none" strike="noStrike" cap="none">
                <a:solidFill>
                  <a:srgbClr val="3D3D3D"/>
                </a:solidFill>
                <a:latin typeface="Cambria"/>
                <a:ea typeface="Cambria"/>
                <a:cs typeface="Cambria"/>
                <a:sym typeface="Cambria"/>
              </a:rPr>
            </a:br>
            <a:endParaRPr sz="1800" b="0" i="0" u="none" strike="noStrike" cap="none">
              <a:solidFill>
                <a:srgbClr val="3D3D3D"/>
              </a:solidFill>
              <a:latin typeface="Gill Sans"/>
              <a:ea typeface="Gill Sans"/>
              <a:cs typeface="Gill Sans"/>
              <a:sym typeface="Gill Sans"/>
            </a:endParaRPr>
          </a:p>
        </p:txBody>
      </p:sp>
      <p:sp>
        <p:nvSpPr>
          <p:cNvPr id="714" name="Google Shape;714;p87"/>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715" name="Google Shape;715;p87"/>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57200" lvl="0" indent="-333753" algn="just" rtl="0">
              <a:lnSpc>
                <a:spcPct val="107000"/>
              </a:lnSpc>
              <a:spcBef>
                <a:spcPts val="0"/>
              </a:spcBef>
              <a:spcAft>
                <a:spcPts val="0"/>
              </a:spcAft>
              <a:buSzPts val="1656"/>
              <a:buChar char="●"/>
            </a:pPr>
            <a:r>
              <a:rPr lang="es-ES" sz="1564">
                <a:latin typeface="Cambria"/>
                <a:ea typeface="Cambria"/>
                <a:cs typeface="Cambria"/>
                <a:sym typeface="Cambria"/>
              </a:rPr>
              <a:t>Para el cliente móvil se debe crear la instancia que llame al codigo que esta en el proyecto .shared, por lo que el código se ve así:</a:t>
            </a:r>
            <a:endParaRPr>
              <a:latin typeface="Cambria"/>
              <a:ea typeface="Cambria"/>
              <a:cs typeface="Cambria"/>
              <a:sym typeface="Cambria"/>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graphicFrame>
        <p:nvGraphicFramePr>
          <p:cNvPr id="720" name="Google Shape;720;p88"/>
          <p:cNvGraphicFramePr/>
          <p:nvPr/>
        </p:nvGraphicFramePr>
        <p:xfrm>
          <a:off x="2332838" y="2061638"/>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4493000">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2. SERVICIOS CORE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builder.Services.AddScoped&lt;ec.edu.monster.Servicios.EstadoAplicacion&gt;();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builder.Services.AddScoped&lt;ec.edu.monster.Servicios.FabricaEstrategiaBackend&gt;();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3. ADAPTADORES (Igual que en la Web)</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#if DEBUG</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builder.Services.AddBlazorWebViewDeveloperTools();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builder.Logging.AddDebug();</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#endif</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721" name="Google Shape;721;p8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22" name="Google Shape;722;p8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723" name="Google Shape;723;p88"/>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graphicFrame>
        <p:nvGraphicFramePr>
          <p:cNvPr id="728" name="Google Shape;728;p89"/>
          <p:cNvGraphicFramePr/>
          <p:nvPr/>
        </p:nvGraphicFramePr>
        <p:xfrm>
          <a:off x="2332825" y="1795025"/>
          <a:ext cx="3000000" cy="3000000"/>
        </p:xfrm>
        <a:graphic>
          <a:graphicData uri="http://schemas.openxmlformats.org/drawingml/2006/table">
            <a:tbl>
              <a:tblPr>
                <a:noFill/>
                <a:tableStyleId>{00F2D98E-0062-4CEB-BF75-F90E3C6509C4}</a:tableStyleId>
              </a:tblPr>
              <a:tblGrid>
                <a:gridCol w="6484300">
                  <a:extLst>
                    <a:ext uri="{9D8B030D-6E8A-4147-A177-3AD203B41FA5}">
                      <a16:colId xmlns:a16="http://schemas.microsoft.com/office/drawing/2014/main" val="20000"/>
                    </a:ext>
                  </a:extLst>
                </a:gridCol>
              </a:tblGrid>
              <a:tr h="4493000">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 AUTENTICACIÓN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LOS MOCKS (Para los que aún no construimos):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ec.edu.monster.Adaptadores.AdaptadorAutenticacionMock(ec.edu.monster.Modelos.TipoBackend.JavaRest));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ec.edu.monster.Adaptadores.AdaptadorAutenticacionMock(ec.edu.monster.Modelos.TipoBackend.DotNetRest));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 CONVERSIÓN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LOS MOCKS: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ec.edu.monster.Adaptadores.AdaptadorConversionMock(ec.edu.monster.Modelos.TipoBackend.JavaRest));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ec.edu.monster.Adaptadores.AdaptadorConversionMock(ec.edu.monster.Modelos.TipoBackend.DotNetRest));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return builder.Build();</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729" name="Google Shape;729;p8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30" name="Google Shape;730;p8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731" name="Google Shape;731;p89"/>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9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37" name="Google Shape;737;p90"/>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solidFill>
                <a:schemeClr val="dk1"/>
              </a:solidFill>
            </a:endParaRPr>
          </a:p>
        </p:txBody>
      </p:sp>
      <p:sp>
        <p:nvSpPr>
          <p:cNvPr id="738" name="Google Shape;738;p90"/>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739" name="Google Shape;739;p90"/>
          <p:cNvPicPr preferRelativeResize="0"/>
          <p:nvPr/>
        </p:nvPicPr>
        <p:blipFill>
          <a:blip r:embed="rId3">
            <a:alphaModFix/>
          </a:blip>
          <a:stretch>
            <a:fillRect/>
          </a:stretch>
        </p:blipFill>
        <p:spPr>
          <a:xfrm>
            <a:off x="4985676" y="1868350"/>
            <a:ext cx="2406025" cy="4752601"/>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9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45" name="Google Shape;745;p91"/>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solidFill>
                <a:schemeClr val="dk1"/>
              </a:solidFill>
            </a:endParaRPr>
          </a:p>
        </p:txBody>
      </p:sp>
      <p:sp>
        <p:nvSpPr>
          <p:cNvPr id="746" name="Google Shape;746;p91"/>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Conversor de unidades</a:t>
            </a:r>
            <a:endParaRPr sz="2000" b="0" i="0" u="none" strike="noStrike" cap="none">
              <a:solidFill>
                <a:srgbClr val="3D3D3D"/>
              </a:solidFill>
              <a:latin typeface="Cambria"/>
              <a:ea typeface="Cambria"/>
              <a:cs typeface="Cambria"/>
              <a:sym typeface="Cambria"/>
            </a:endParaRPr>
          </a:p>
        </p:txBody>
      </p:sp>
      <p:pic>
        <p:nvPicPr>
          <p:cNvPr id="747" name="Google Shape;747;p91"/>
          <p:cNvPicPr preferRelativeResize="0"/>
          <p:nvPr/>
        </p:nvPicPr>
        <p:blipFill>
          <a:blip r:embed="rId3">
            <a:alphaModFix/>
          </a:blip>
          <a:stretch>
            <a:fillRect/>
          </a:stretch>
        </p:blipFill>
        <p:spPr>
          <a:xfrm>
            <a:off x="5149825" y="1868350"/>
            <a:ext cx="2413600" cy="4716675"/>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9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53" name="Google Shape;753;p92"/>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SOAP</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solidFill>
                <a:schemeClr val="dk1"/>
              </a:solidFill>
            </a:endParaRPr>
          </a:p>
        </p:txBody>
      </p:sp>
      <p:sp>
        <p:nvSpPr>
          <p:cNvPr id="754" name="Google Shape;754;p92"/>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cambio de contraseña</a:t>
            </a:r>
            <a:endParaRPr sz="2000" b="0" i="0" u="none" strike="noStrike" cap="none">
              <a:solidFill>
                <a:srgbClr val="3D3D3D"/>
              </a:solidFill>
              <a:latin typeface="Cambria"/>
              <a:ea typeface="Cambria"/>
              <a:cs typeface="Cambria"/>
              <a:sym typeface="Cambria"/>
            </a:endParaRPr>
          </a:p>
        </p:txBody>
      </p:sp>
      <p:pic>
        <p:nvPicPr>
          <p:cNvPr id="755" name="Google Shape;755;p92"/>
          <p:cNvPicPr preferRelativeResize="0"/>
          <p:nvPr/>
        </p:nvPicPr>
        <p:blipFill>
          <a:blip r:embed="rId3">
            <a:alphaModFix/>
          </a:blip>
          <a:stretch>
            <a:fillRect/>
          </a:stretch>
        </p:blipFill>
        <p:spPr>
          <a:xfrm>
            <a:off x="5042825" y="1868350"/>
            <a:ext cx="2520625" cy="515650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p9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RECOMENDACIONES</a:t>
            </a:r>
            <a:endParaRPr/>
          </a:p>
        </p:txBody>
      </p:sp>
      <p:sp>
        <p:nvSpPr>
          <p:cNvPr id="761" name="Google Shape;761;p93"/>
          <p:cNvSpPr txBox="1">
            <a:spLocks noGrp="1"/>
          </p:cNvSpPr>
          <p:nvPr>
            <p:ph type="body" idx="1"/>
          </p:nvPr>
        </p:nvSpPr>
        <p:spPr>
          <a:xfrm>
            <a:off x="581200" y="2025325"/>
            <a:ext cx="8500800" cy="4291200"/>
          </a:xfrm>
          <a:prstGeom prst="rect">
            <a:avLst/>
          </a:prstGeom>
          <a:noFill/>
          <a:ln>
            <a:noFill/>
          </a:ln>
        </p:spPr>
        <p:txBody>
          <a:bodyPr spcFirstLastPara="1" wrap="square" lIns="91425" tIns="45700" rIns="91425" bIns="45700" anchor="ctr" anchorCtr="0">
            <a:normAutofit fontScale="92500" lnSpcReduction="20000"/>
          </a:bodyPr>
          <a:lstStyle/>
          <a:p>
            <a:pPr marL="0" lvl="0" indent="0" algn="just" rtl="0">
              <a:lnSpc>
                <a:spcPct val="107000"/>
              </a:lnSpc>
              <a:spcBef>
                <a:spcPts val="0"/>
              </a:spcBef>
              <a:spcAft>
                <a:spcPts val="0"/>
              </a:spcAft>
              <a:buNone/>
            </a:pPr>
            <a:r>
              <a:rPr lang="es-ES">
                <a:latin typeface="Cambria"/>
                <a:ea typeface="Cambria"/>
                <a:cs typeface="Cambria"/>
                <a:sym typeface="Cambria"/>
              </a:rPr>
              <a:t>Implementar errores estructurados para enviar respuestas amigables al cliente y evitar el cierre abrupto de túneles SOAP.</a:t>
            </a:r>
            <a:endParaRPr>
              <a:latin typeface="Cambria"/>
              <a:ea typeface="Cambria"/>
              <a:cs typeface="Cambria"/>
              <a:sym typeface="Cambria"/>
            </a:endParaRPr>
          </a:p>
          <a:p>
            <a:pPr marL="0" lvl="0" indent="0" algn="just" rtl="0">
              <a:lnSpc>
                <a:spcPct val="107000"/>
              </a:lnSpc>
              <a:spcBef>
                <a:spcPts val="0"/>
              </a:spcBef>
              <a:spcAft>
                <a:spcPts val="0"/>
              </a:spcAft>
              <a:buNone/>
            </a:pPr>
            <a:r>
              <a:rPr lang="es-ES">
                <a:latin typeface="Cambria"/>
                <a:ea typeface="Cambria"/>
                <a:cs typeface="Cambria"/>
                <a:sym typeface="Cambria"/>
              </a:rPr>
              <a:t>Esto previene excepciones no controladas en el servidor y mejora el diagnóstico de fallos ante entradas de datos inválidas.</a:t>
            </a:r>
            <a:endParaRPr>
              <a:latin typeface="Cambria"/>
              <a:ea typeface="Cambria"/>
              <a:cs typeface="Cambria"/>
              <a:sym typeface="Cambria"/>
            </a:endParaRPr>
          </a:p>
          <a:p>
            <a:pPr marL="0" lvl="0" indent="0" algn="just" rtl="0">
              <a:lnSpc>
                <a:spcPct val="107000"/>
              </a:lnSpc>
              <a:spcBef>
                <a:spcPts val="0"/>
              </a:spcBef>
              <a:spcAft>
                <a:spcPts val="0"/>
              </a:spcAft>
              <a:buNone/>
            </a:pPr>
            <a:endParaRPr>
              <a:latin typeface="Cambria"/>
              <a:ea typeface="Cambria"/>
              <a:cs typeface="Cambria"/>
              <a:sym typeface="Cambria"/>
            </a:endParaRPr>
          </a:p>
          <a:p>
            <a:pPr marL="0" lvl="0" indent="0" algn="just" rtl="0">
              <a:lnSpc>
                <a:spcPct val="107000"/>
              </a:lnSpc>
              <a:spcBef>
                <a:spcPts val="0"/>
              </a:spcBef>
              <a:spcAft>
                <a:spcPts val="0"/>
              </a:spcAft>
              <a:buNone/>
            </a:pPr>
            <a:r>
              <a:rPr lang="es-ES">
                <a:latin typeface="Cambria"/>
                <a:ea typeface="Cambria"/>
                <a:cs typeface="Cambria"/>
                <a:sym typeface="Cambria"/>
              </a:rPr>
              <a:t>Configurar HTTPS/SSL en el servidor IIS para cifrar los mensajes XML que actualmente viajan en texto plano.</a:t>
            </a:r>
            <a:endParaRPr>
              <a:latin typeface="Cambria"/>
              <a:ea typeface="Cambria"/>
              <a:cs typeface="Cambria"/>
              <a:sym typeface="Cambria"/>
            </a:endParaRPr>
          </a:p>
          <a:p>
            <a:pPr marL="0" lvl="0" indent="0" algn="just" rtl="0">
              <a:lnSpc>
                <a:spcPct val="107000"/>
              </a:lnSpc>
              <a:spcBef>
                <a:spcPts val="0"/>
              </a:spcBef>
              <a:spcAft>
                <a:spcPts val="0"/>
              </a:spcAft>
              <a:buNone/>
            </a:pPr>
            <a:r>
              <a:rPr lang="es-ES">
                <a:latin typeface="Cambria"/>
                <a:ea typeface="Cambria"/>
                <a:cs typeface="Cambria"/>
                <a:sym typeface="Cambria"/>
              </a:rPr>
              <a:t>Esta medida es fundamental para neutralizar ataques de intermediarios (Man-in-the-Middle) y proteger la integridad de los tokens.</a:t>
            </a:r>
            <a:endParaRPr>
              <a:latin typeface="Cambria"/>
              <a:ea typeface="Cambria"/>
              <a:cs typeface="Cambria"/>
              <a:sym typeface="Cambria"/>
            </a:endParaRPr>
          </a:p>
          <a:p>
            <a:pPr marL="0" lvl="0" indent="0" algn="just" rtl="0">
              <a:lnSpc>
                <a:spcPct val="107000"/>
              </a:lnSpc>
              <a:spcBef>
                <a:spcPts val="0"/>
              </a:spcBef>
              <a:spcAft>
                <a:spcPts val="0"/>
              </a:spcAft>
              <a:buNone/>
            </a:pPr>
            <a:endParaRPr>
              <a:latin typeface="Cambria"/>
              <a:ea typeface="Cambria"/>
              <a:cs typeface="Cambria"/>
              <a:sym typeface="Cambria"/>
            </a:endParaRPr>
          </a:p>
          <a:p>
            <a:pPr marL="0" lvl="0" indent="0" algn="just" rtl="0">
              <a:lnSpc>
                <a:spcPct val="107000"/>
              </a:lnSpc>
              <a:spcBef>
                <a:spcPts val="0"/>
              </a:spcBef>
              <a:spcAft>
                <a:spcPts val="0"/>
              </a:spcAft>
              <a:buNone/>
            </a:pPr>
            <a:r>
              <a:rPr lang="es-ES">
                <a:latin typeface="Cambria"/>
                <a:ea typeface="Cambria"/>
                <a:cs typeface="Cambria"/>
                <a:sym typeface="Cambria"/>
              </a:rPr>
              <a:t>Evolucionar el token estático hacia esquemas con tiempo de expiración y Refresh Tokens para fortalecer el acceso.</a:t>
            </a:r>
            <a:endParaRPr>
              <a:latin typeface="Cambria"/>
              <a:ea typeface="Cambria"/>
              <a:cs typeface="Cambria"/>
              <a:sym typeface="Cambria"/>
            </a:endParaRPr>
          </a:p>
          <a:p>
            <a:pPr marL="0" lvl="0" indent="0" algn="just" rtl="0">
              <a:lnSpc>
                <a:spcPct val="107000"/>
              </a:lnSpc>
              <a:spcBef>
                <a:spcPts val="0"/>
              </a:spcBef>
              <a:spcAft>
                <a:spcPts val="0"/>
              </a:spcAft>
              <a:buNone/>
            </a:pPr>
            <a:r>
              <a:rPr lang="es-ES">
                <a:latin typeface="Cambria"/>
                <a:ea typeface="Cambria"/>
                <a:cs typeface="Cambria"/>
                <a:sym typeface="Cambria"/>
              </a:rPr>
              <a:t>Permite mantener sesiones prolongadas en clientes móviles sin comprometer la seguridad ni exponer credenciales de forma indefinida.</a:t>
            </a:r>
            <a:endParaRPr>
              <a:latin typeface="Cambria"/>
              <a:ea typeface="Cambria"/>
              <a:cs typeface="Cambria"/>
              <a:sym typeface="Cambria"/>
            </a:endParaRPr>
          </a:p>
          <a:p>
            <a:pPr marL="0" lvl="0" indent="0" algn="just" rtl="0">
              <a:lnSpc>
                <a:spcPct val="107000"/>
              </a:lnSpc>
              <a:spcBef>
                <a:spcPts val="0"/>
              </a:spcBef>
              <a:spcAft>
                <a:spcPts val="0"/>
              </a:spcAft>
              <a:buNone/>
            </a:pPr>
            <a:endParaRPr>
              <a:latin typeface="Cambria"/>
              <a:ea typeface="Cambria"/>
              <a:cs typeface="Cambria"/>
              <a:sym typeface="Cambria"/>
            </a:endParaRPr>
          </a:p>
          <a:p>
            <a:pPr marL="0" lvl="0" indent="0" algn="just" rtl="0">
              <a:lnSpc>
                <a:spcPct val="107000"/>
              </a:lnSpc>
              <a:spcBef>
                <a:spcPts val="0"/>
              </a:spcBef>
              <a:spcAft>
                <a:spcPts val="0"/>
              </a:spcAft>
              <a:buNone/>
            </a:pPr>
            <a:r>
              <a:rPr lang="es-ES">
                <a:latin typeface="Cambria"/>
                <a:ea typeface="Cambria"/>
                <a:cs typeface="Cambria"/>
                <a:sym typeface="Cambria"/>
              </a:rPr>
              <a:t>Establecer una política estricta de actualización de referencias ante cambios estructurales en el contrato WSDL del servidor.</a:t>
            </a:r>
            <a:endParaRPr>
              <a:latin typeface="Cambria"/>
              <a:ea typeface="Cambria"/>
              <a:cs typeface="Cambria"/>
              <a:sym typeface="Cambria"/>
            </a:endParaRPr>
          </a:p>
          <a:p>
            <a:pPr marL="0" lvl="0" indent="0" algn="just" rtl="0">
              <a:lnSpc>
                <a:spcPct val="107000"/>
              </a:lnSpc>
              <a:spcBef>
                <a:spcPts val="0"/>
              </a:spcBef>
              <a:spcAft>
                <a:spcPts val="0"/>
              </a:spcAft>
              <a:buNone/>
            </a:pPr>
            <a:r>
              <a:rPr lang="es-ES">
                <a:latin typeface="Cambria"/>
                <a:ea typeface="Cambria"/>
                <a:cs typeface="Cambria"/>
                <a:sym typeface="Cambria"/>
              </a:rPr>
              <a:t>Garantiza la sincronización entre el backend y los diversos clientes, evitando errores de ejecución por discrepancias de esquemas.</a:t>
            </a:r>
            <a:endParaRPr>
              <a:latin typeface="Cambria"/>
              <a:ea typeface="Cambria"/>
              <a:cs typeface="Cambria"/>
              <a:sym typeface="Cambria"/>
            </a:endParaRPr>
          </a:p>
        </p:txBody>
      </p:sp>
      <p:sp>
        <p:nvSpPr>
          <p:cNvPr id="762" name="Google Shape;762;p9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lt1"/>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a:t>
            </a:r>
            <a:r>
              <a:rPr lang="es-ES" sz="1200" b="1">
                <a:solidFill>
                  <a:schemeClr val="lt1"/>
                </a:solidFill>
                <a:latin typeface="Gill Sans"/>
                <a:ea typeface="Gill Sans"/>
                <a:cs typeface="Gill Sans"/>
                <a:sym typeface="Gill Sans"/>
              </a:rPr>
              <a:t>SOAP</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RECOMENDACIONES</a:t>
            </a:r>
            <a:endParaRPr sz="1400" b="0" i="0" u="none" strike="noStrike" cap="none">
              <a:solidFill>
                <a:srgbClr val="FFFF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11482</Words>
  <Application>Microsoft Office PowerPoint</Application>
  <PresentationFormat>Panorámica</PresentationFormat>
  <Paragraphs>2121</Paragraphs>
  <Slides>81</Slides>
  <Notes>81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81</vt:i4>
      </vt:variant>
    </vt:vector>
  </HeadingPairs>
  <TitlesOfParts>
    <vt:vector size="87" baseType="lpstr">
      <vt:lpstr>Noto Sans Symbols</vt:lpstr>
      <vt:lpstr>Calibri</vt:lpstr>
      <vt:lpstr>Arial</vt:lpstr>
      <vt:lpstr>Cambria</vt:lpstr>
      <vt:lpstr>Gill Sans</vt:lpstr>
      <vt:lpstr>Dividendo</vt:lpstr>
      <vt:lpstr>MANUAL SISTEMA TICKET PREMIUM MONSTER CON SOAP CON BDD LOCAL EN DOTNET</vt:lpstr>
      <vt:lpstr>Presentación de PowerPoint</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CONCLUSIONES</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RECOMENDACIONES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JHON ALEXANDER MUNARCO SANTOS</cp:lastModifiedBy>
  <cp:revision>1</cp:revision>
  <dcterms:modified xsi:type="dcterms:W3CDTF">2026-05-19T08:48:18Z</dcterms:modified>
</cp:coreProperties>
</file>