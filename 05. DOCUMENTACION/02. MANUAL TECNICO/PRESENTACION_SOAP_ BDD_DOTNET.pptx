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7"/>
  </p:notesMasterIdLst>
  <p:sldIdLst>
    <p:sldId id="256" r:id="rId2"/>
    <p:sldId id="257" r:id="rId3"/>
    <p:sldId id="258" r:id="rId4"/>
    <p:sldId id="337" r:id="rId5"/>
    <p:sldId id="338" r:id="rId6"/>
    <p:sldId id="339" r:id="rId7"/>
    <p:sldId id="340" r:id="rId8"/>
    <p:sldId id="341" r:id="rId9"/>
    <p:sldId id="342" r:id="rId10"/>
    <p:sldId id="343" r:id="rId11"/>
    <p:sldId id="344" r:id="rId12"/>
    <p:sldId id="259" r:id="rId13"/>
    <p:sldId id="345" r:id="rId14"/>
    <p:sldId id="347" r:id="rId15"/>
    <p:sldId id="346" r:id="rId16"/>
    <p:sldId id="348" r:id="rId17"/>
    <p:sldId id="349" r:id="rId18"/>
    <p:sldId id="350" r:id="rId19"/>
    <p:sldId id="351" r:id="rId20"/>
    <p:sldId id="352" r:id="rId21"/>
    <p:sldId id="353" r:id="rId22"/>
    <p:sldId id="354" r:id="rId23"/>
    <p:sldId id="355" r:id="rId24"/>
    <p:sldId id="356" r:id="rId25"/>
    <p:sldId id="357" r:id="rId26"/>
    <p:sldId id="358" r:id="rId27"/>
    <p:sldId id="359" r:id="rId28"/>
    <p:sldId id="360" r:id="rId29"/>
    <p:sldId id="361" r:id="rId30"/>
    <p:sldId id="282"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381" r:id="rId51"/>
    <p:sldId id="382" r:id="rId52"/>
    <p:sldId id="383" r:id="rId53"/>
    <p:sldId id="336" r:id="rId54"/>
    <p:sldId id="384" r:id="rId55"/>
    <p:sldId id="385" r:id="rId56"/>
  </p:sldIdLst>
  <p:sldSz cx="12192000" cy="6858000"/>
  <p:notesSz cx="6858000" cy="9144000"/>
  <p:embeddedFontLst>
    <p:embeddedFont>
      <p:font typeface="Cambria" panose="02040503050406030204" pitchFamily="18" charset="0"/>
      <p:regular r:id="rId58"/>
      <p:bold r:id="rId59"/>
      <p:italic r:id="rId60"/>
      <p:boldItalic r:id="rId61"/>
    </p:embeddedFont>
    <p:embeddedFont>
      <p:font typeface="Gill Sans" panose="020B0604020202020204" charset="0"/>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F2D98E-0062-4CEB-BF75-F90E3C6509C4}">
  <a:tblStyle styleId="{00F2D98E-0062-4CEB-BF75-F90E3C6509C4}"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B9C6DA83-07F7-FBE3-B7F2-87BBC1A39D84}"/>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57181F25-6B60-F8F0-EDDD-F6CD99362E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A53ED096-7F53-44E5-547B-12D165070B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2348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D3DA644-650D-9708-4ABC-59FD9A637146}"/>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DB5BDF8E-A122-20AA-E33B-98B9210D84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1E5E9679-CE9F-40C9-B9D2-FA77FC0391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1443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EE4A4B0-D4F4-7B14-C949-449088A6A5B8}"/>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77C2B2E2-E51D-92C6-7BE7-64F99ACB06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2EF6FF41-992C-DB23-5CE3-186457EF56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3594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79693E16-28D2-94CA-8EE2-BDC85D23B36F}"/>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3B225438-4523-7E52-F97E-D4DAE846E7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A07241DF-0B78-F4E4-F03F-D055C1E21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7875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75796EC9-E115-6010-A437-C29841A78257}"/>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35953F20-4AF9-EB49-0093-DB1A93728B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3AD8829C-8145-2031-54C6-7917E9468E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4270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D0BA0AB-A302-5051-E136-7177CA30330F}"/>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2CA5B62E-B0B1-4037-7755-058CBA846C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2D27528F-3DB6-0ED3-C232-33BD515781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0313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76374B0E-6104-5DCF-793F-38B36A6112F4}"/>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E2167441-6D29-8F9C-EA5A-2A1321C05F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73D8FDCD-B283-3E2F-3661-88A773C5F1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9194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E083F5D-808C-F8FE-7E03-7C87358BEAE8}"/>
            </a:ext>
          </a:extLst>
        </p:cNvPr>
        <p:cNvGrpSpPr/>
        <p:nvPr/>
      </p:nvGrpSpPr>
      <p:grpSpPr>
        <a:xfrm>
          <a:off x="0" y="0"/>
          <a:ext cx="0" cy="0"/>
          <a:chOff x="0" y="0"/>
          <a:chExt cx="0" cy="0"/>
        </a:xfrm>
      </p:grpSpPr>
      <p:sp>
        <p:nvSpPr>
          <p:cNvPr id="111" name="Google Shape;111;p3:notes">
            <a:extLst>
              <a:ext uri="{FF2B5EF4-FFF2-40B4-BE49-F238E27FC236}">
                <a16:creationId xmlns:a16="http://schemas.microsoft.com/office/drawing/2014/main" id="{303AD84F-3198-2CA2-2C57-E3E8B88B68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a:extLst>
              <a:ext uri="{FF2B5EF4-FFF2-40B4-BE49-F238E27FC236}">
                <a16:creationId xmlns:a16="http://schemas.microsoft.com/office/drawing/2014/main" id="{6FABE2C3-33E6-5E2F-DE71-0A53F31444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971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11D5135-DFD0-76FD-D611-60B766637F81}"/>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082AB73-6FE4-D769-ECDA-3DFA34BE22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BA64EBC8-7C4E-01BB-5DBE-CA53EBB78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8958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1E35A35E-F6ED-3E45-36CB-3E80600E4723}"/>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D8E89F5-AFB7-65CE-83BD-701071E97F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A07023E2-10E8-1090-97F4-027DAFD4E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8317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9CFCDF5-8C8A-F40A-EA26-E13AF4E4293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AD64B2C8-45F5-EE30-A3EF-6C4E73B091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52F05857-E975-BA67-405D-873D634B97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9240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6375942-B771-5FFF-78F3-82ED0202C0EA}"/>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5E5A1C2E-0B48-29BB-EFA9-2BD83CEEFA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8A3B316E-008C-34CA-EE53-152D7FE691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2205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61A99E46-8060-2E65-5F05-5A244E0BDA6B}"/>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DF571F0E-8A1E-58D8-B563-4181E0700D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AE4133C2-2DF2-4372-C3DE-615B4D6F99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0440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8774EFC-6CDD-39BC-5E54-20B7FAEFFB98}"/>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C4515CB2-7303-7C96-0C8B-AFF023CEA8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A5C410A5-6BBE-03B7-D0FF-08A1BE8FB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2516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7ED37E0-86F2-B621-D4E4-1C7AE0B9FBBA}"/>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83AE5562-9778-74C2-D2D4-72E2DE7D42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ED89A654-229F-43EF-32FE-EFC1AE1996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3977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C5A43AC-C1C6-1876-0A61-73F70D9C169E}"/>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CBE49F07-AC93-3E92-3C1A-CE2154BA2A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86840A20-9C82-31EE-99B8-91A3BA225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7728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21265AF-6B60-A87D-B49A-A57EF96A1E06}"/>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491EE234-8EC5-E21A-505E-79E1DF82ED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6A67347A-2F76-78F9-DDE9-6FF6994699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626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B597DA17-C907-D6DA-2354-EF1A7A21A64A}"/>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500C6846-CE36-1DF7-C5C1-E8F4BC6F6B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7B4AA841-D328-66F9-5ED4-46A1EE0FB0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6901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B43C7B9E-F411-DEDD-DB2B-26F235F3BA1E}"/>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A4D3CB41-3FD3-8D70-B8AD-89BD5E179E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72F22AD4-C103-117C-3569-B66A0FB6CB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4502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0D16A53-DC44-9EA9-F7DB-B5E6D6BA7316}"/>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F4A7AE09-80F0-7026-6302-03E5995CF1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4460EA90-FF5A-D0EF-3A3B-3558C5BBCC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044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6C7F432E-E752-90DF-2176-015821FC5499}"/>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8C969FAE-EED2-A58C-BCF0-1D1DE41D9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50BE4DCB-F08D-5440-F482-8F55FB7C5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23000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CC7AB8D-9C5A-463A-A6CF-5CABDDF2F59E}"/>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FF426DEC-18B1-1DF9-2CB8-FC8DD14FB4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3101C3B1-5E36-A640-8CA7-0F8A6AFAB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41504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D4136EA4-506C-FECA-FA42-B9896FEAF00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E937BBF2-7019-8F93-3AC2-8C00D23C3A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805AF565-CB9E-9CA6-DD5D-2517B25347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2307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8B3CECAE-8A12-A45B-E9C0-C51FFC42BA30}"/>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58E39412-E38B-E0AD-0D99-53B8270567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5A503921-A0FB-5074-702D-FD4BBA67C2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61107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03C192FF-C3B3-69EF-95D7-EDE4AFD9AB2D}"/>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4FC3CF9E-ECBF-29F3-1B78-44624C818A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4:notes">
            <a:extLst>
              <a:ext uri="{FF2B5EF4-FFF2-40B4-BE49-F238E27FC236}">
                <a16:creationId xmlns:a16="http://schemas.microsoft.com/office/drawing/2014/main" id="{376E79FD-525B-DDE9-8661-1A723EE1E5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14713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a8551b4d4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0B15C143-1D3E-588C-155E-29F3C33096BB}"/>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A918A729-7542-BB78-BCEB-88A799416E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F2BAA31F-B0C1-5155-F5C5-14B2430461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798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ED41C88A-C566-665F-9EF7-C92B0AE1E636}"/>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7D9D5E61-954A-A368-6392-D9CB89A058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3BB2D9C1-222D-1247-35C6-476B469B13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42993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B12A9DF-B96A-4F5E-0608-BE4AF0951492}"/>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35677989-3759-7CB5-843A-F3E5BC1B45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F1A96762-A1E3-D652-2F27-AF1295D4B5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4841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70628929-07FA-242C-DF7F-FF70C5B384F3}"/>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0AE1F273-C640-56ED-A7B3-D0F8EE7E81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D7DD38C6-7634-1709-F81A-9A56D6865B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55410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4668CCDE-10FE-6A61-471D-094D8252F56F}"/>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63712809-4525-7BE7-8B5B-2F73BF7CF0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41612DA4-D084-6C5B-616E-D447AE9D31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3983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DA7E6A37-E4D6-A033-CD76-CEE7189C7E27}"/>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2D3728C9-3BA3-41B2-D3FC-AB9760B5A6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595FCB6A-0C7A-81FB-99C6-C9C7EEF68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96269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C6316B2-D3B4-C76B-64A5-AC3854430A83}"/>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970FAD3B-30DC-674A-2BF1-A6827C379D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480CD617-9D68-1FDD-5EBE-B20CA0240A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79230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7E77582A-33DD-9590-848F-691693911CAE}"/>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1543B380-CC6F-4380-8FDC-E094AB8B48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D9DF92FD-BE29-C402-EFB0-3D2C0EC627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1965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FC44845A-F384-765A-32F7-F555A1DF3F87}"/>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C962862E-94C0-2337-1AAC-81D6E952D9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95028C15-7878-95C6-3845-18E2E8E8E0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5793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4220C8D4-2EA6-7887-F0C0-CD2786A847D6}"/>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F6CA74D1-D206-141C-1234-9554F06CA8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7FE0A309-7F51-584D-1232-4FC5975744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91989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06C20C55-8A00-2C99-CA1C-994A19C99475}"/>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342B62CA-B573-761C-1496-BCFEF1937E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07732DBC-3E59-8151-8883-C3B571C218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92165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CBB6B77-2564-A36A-A9C8-D6B0D92B0985}"/>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BE294FC9-5117-3F19-31F3-CF5285A26D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A39097DE-54C2-B04E-B28E-440933AA04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9716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56ABBF5D-4BA3-8F28-FCDA-C6E5B24E5BAB}"/>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99F8633B-72F4-7734-C998-C114342899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652EF235-27DE-2778-9793-E0596274A5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60250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9AF2B60A-2C3D-7B98-DCF0-4BC8EF0941E6}"/>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4E69FDCF-09E4-B124-1AE9-C48C8A7C53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3B85F4D3-F02F-AC15-A3E3-7A026E91D4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68853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900081C3-E2C7-D529-D09F-32DC9B10AF0E}"/>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3FADDDD3-58E6-F4D5-F5E8-C2A6DD988E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E0E61F60-C490-A057-2113-1E6A261AB4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44570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5A185EDB-566B-62DB-B7F6-3CA1FDB36786}"/>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084BB3A8-492E-C666-AC4A-E40A8773D4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B3886E7C-A38D-9377-65AB-71E01304D1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41243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FF13FED6-5DAA-09EC-708F-A93F1D078D34}"/>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C73BC598-7D12-676D-BA79-A8F927A210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E43D8374-F71C-F058-2D6B-A4232D2D51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91825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90EDB89A-4E9E-AB01-8AE9-17043B306FEE}"/>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E68922F1-DB9E-FF2A-DF43-431302297E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969043AA-D3C5-C6DF-E556-6EC593E4A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39026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A4F28C83-CFDB-1D32-95BB-600AC0A32DAC}"/>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00D1950E-53D8-C0FD-E1F0-54BB86A845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A98A7DCA-B1F6-2D02-0C0C-00A67A66A9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13588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0ADDDE57-0209-9E8A-F526-6459F77845D7}"/>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2CE80440-4CD9-92D7-F52F-F00319F2DE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C44CB19F-AF60-5E93-461F-8FFCD5131C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79549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4125622A-55E8-E1F9-7D50-079E693AFC03}"/>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24E058F7-48C0-6B34-977C-C0EEBAAFCA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D99C250D-EB8F-4172-C86E-E50C87C93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93811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EEDF66C0-11F2-7444-3BE1-AA5028E49C35}"/>
            </a:ext>
          </a:extLst>
        </p:cNvPr>
        <p:cNvGrpSpPr/>
        <p:nvPr/>
      </p:nvGrpSpPr>
      <p:grpSpPr>
        <a:xfrm>
          <a:off x="0" y="0"/>
          <a:ext cx="0" cy="0"/>
          <a:chOff x="0" y="0"/>
          <a:chExt cx="0" cy="0"/>
        </a:xfrm>
      </p:grpSpPr>
      <p:sp>
        <p:nvSpPr>
          <p:cNvPr id="313" name="Google Shape;313;g3a8551b4d4b_1_0:notes">
            <a:extLst>
              <a:ext uri="{FF2B5EF4-FFF2-40B4-BE49-F238E27FC236}">
                <a16:creationId xmlns:a16="http://schemas.microsoft.com/office/drawing/2014/main" id="{9F9095B7-5515-25A4-9312-E6D1A81C50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g3a8551b4d4b_1_0:notes">
            <a:extLst>
              <a:ext uri="{FF2B5EF4-FFF2-40B4-BE49-F238E27FC236}">
                <a16:creationId xmlns:a16="http://schemas.microsoft.com/office/drawing/2014/main" id="{993F89D7-F16A-37C2-C016-A9CDFE46D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85376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8" name="Google Shape;758;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E05B5497-9EDF-9707-4048-BFB043DE8397}"/>
            </a:ext>
          </a:extLst>
        </p:cNvPr>
        <p:cNvGrpSpPr/>
        <p:nvPr/>
      </p:nvGrpSpPr>
      <p:grpSpPr>
        <a:xfrm>
          <a:off x="0" y="0"/>
          <a:ext cx="0" cy="0"/>
          <a:chOff x="0" y="0"/>
          <a:chExt cx="0" cy="0"/>
        </a:xfrm>
      </p:grpSpPr>
      <p:sp>
        <p:nvSpPr>
          <p:cNvPr id="757" name="Google Shape;757;p48:notes">
            <a:extLst>
              <a:ext uri="{FF2B5EF4-FFF2-40B4-BE49-F238E27FC236}">
                <a16:creationId xmlns:a16="http://schemas.microsoft.com/office/drawing/2014/main" id="{F1459628-8A0D-8E5F-8D8F-3920D46293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8" name="Google Shape;758;p48:notes">
            <a:extLst>
              <a:ext uri="{FF2B5EF4-FFF2-40B4-BE49-F238E27FC236}">
                <a16:creationId xmlns:a16="http://schemas.microsoft.com/office/drawing/2014/main" id="{0D057B87-0E5E-C142-FD5E-02BBD7E8E4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87967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FF4FD3B5-E684-CFDF-B674-CA9A24FEBAB9}"/>
            </a:ext>
          </a:extLst>
        </p:cNvPr>
        <p:cNvGrpSpPr/>
        <p:nvPr/>
      </p:nvGrpSpPr>
      <p:grpSpPr>
        <a:xfrm>
          <a:off x="0" y="0"/>
          <a:ext cx="0" cy="0"/>
          <a:chOff x="0" y="0"/>
          <a:chExt cx="0" cy="0"/>
        </a:xfrm>
      </p:grpSpPr>
      <p:sp>
        <p:nvSpPr>
          <p:cNvPr id="757" name="Google Shape;757;p48:notes">
            <a:extLst>
              <a:ext uri="{FF2B5EF4-FFF2-40B4-BE49-F238E27FC236}">
                <a16:creationId xmlns:a16="http://schemas.microsoft.com/office/drawing/2014/main" id="{CE3D2769-7677-3DC2-D3C6-AF11E55CB9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8" name="Google Shape;758;p48:notes">
            <a:extLst>
              <a:ext uri="{FF2B5EF4-FFF2-40B4-BE49-F238E27FC236}">
                <a16:creationId xmlns:a16="http://schemas.microsoft.com/office/drawing/2014/main" id="{3DCBD431-52E2-9F5A-CCBF-5F179861D7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1265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4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5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5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lt1"/>
              </a:buClr>
              <a:buSzPts val="3600"/>
              <a:buFont typeface="Gill Sans"/>
              <a:buNone/>
            </a:pPr>
            <a:br>
              <a:rPr lang="es-ES" dirty="0">
                <a:solidFill>
                  <a:schemeClr val="lt1"/>
                </a:solidFill>
              </a:rPr>
            </a:br>
            <a:r>
              <a:rPr lang="es-ES" dirty="0">
                <a:solidFill>
                  <a:schemeClr val="lt1"/>
                </a:solidFill>
              </a:rPr>
              <a:t>SISTEMA TICKET PREMIUM MONSTER CON SOAP CON BDD LOCAL EN DOTNET</a:t>
            </a:r>
            <a:endParaRPr dirty="0"/>
          </a:p>
        </p:txBody>
      </p:sp>
      <p:sp>
        <p:nvSpPr>
          <p:cNvPr id="97" name="Google Shape;97;p13"/>
          <p:cNvSpPr txBox="1">
            <a:spLocks noGrp="1"/>
          </p:cNvSpPr>
          <p:nvPr>
            <p:ph type="subTitle" idx="1"/>
          </p:nvPr>
        </p:nvSpPr>
        <p:spPr>
          <a:xfrm>
            <a:off x="535852" y="5160475"/>
            <a:ext cx="4261500" cy="1812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472"/>
              <a:buFont typeface="Arial"/>
              <a:buNone/>
            </a:pPr>
            <a:endParaRPr b="1" dirty="0">
              <a:solidFill>
                <a:schemeClr val="lt1"/>
              </a:solidFill>
            </a:endParaRPr>
          </a:p>
          <a:p>
            <a:pPr marL="0" lvl="0" indent="0" algn="l" rtl="0">
              <a:spcBef>
                <a:spcPts val="920"/>
              </a:spcBef>
              <a:spcAft>
                <a:spcPts val="0"/>
              </a:spcAft>
              <a:buClr>
                <a:schemeClr val="dk1"/>
              </a:buClr>
              <a:buSzPts val="1472"/>
              <a:buFont typeface="Arial"/>
              <a:buNone/>
            </a:pPr>
            <a:r>
              <a:rPr lang="es-ES" b="1" dirty="0">
                <a:solidFill>
                  <a:schemeClr val="lt1"/>
                </a:solidFill>
              </a:rPr>
              <a:t>INTEGRANTES:</a:t>
            </a:r>
            <a:r>
              <a:rPr lang="es-ES" dirty="0">
                <a:solidFill>
                  <a:schemeClr val="lt1"/>
                </a:solidFill>
              </a:rPr>
              <a:t> 	BENAVIDES RUBEN			GUEVARA ARIEL			MUNARCO JHON</a:t>
            </a:r>
            <a:endParaRPr b="1"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a:t>
            </a:r>
            <a:r>
              <a:rPr lang="es-ES" sz="1600" b="1" dirty="0">
                <a:solidFill>
                  <a:srgbClr val="FFFFFF"/>
                </a:solidFill>
                <a:latin typeface="Gill Sans"/>
                <a:ea typeface="Gill Sans"/>
                <a:cs typeface="Gill Sans"/>
                <a:sym typeface="Gill Sans"/>
              </a:rPr>
              <a:t>19</a:t>
            </a:r>
            <a:r>
              <a:rPr lang="es-ES" sz="1600" b="1" i="0" u="none" strike="noStrike" cap="none" dirty="0">
                <a:solidFill>
                  <a:srgbClr val="FFFFFF"/>
                </a:solidFill>
                <a:latin typeface="Gill Sans"/>
                <a:ea typeface="Gill Sans"/>
                <a:cs typeface="Gill Sans"/>
                <a:sym typeface="Gill Sans"/>
              </a:rPr>
              <a:t>/</a:t>
            </a:r>
            <a:r>
              <a:rPr lang="es-ES" sz="1600" b="1" dirty="0">
                <a:solidFill>
                  <a:srgbClr val="FFFFFF"/>
                </a:solidFill>
                <a:latin typeface="Gill Sans"/>
                <a:ea typeface="Gill Sans"/>
                <a:cs typeface="Gill Sans"/>
                <a:sym typeface="Gill Sans"/>
              </a:rPr>
              <a:t>05</a:t>
            </a:r>
            <a:r>
              <a:rPr lang="es-ES" sz="1600" b="1" i="0" u="none" strike="noStrike" cap="none" dirty="0">
                <a:solidFill>
                  <a:srgbClr val="FFFFFF"/>
                </a:solidFill>
                <a:latin typeface="Gill Sans"/>
                <a:ea typeface="Gill Sans"/>
                <a:cs typeface="Gill Sans"/>
                <a:sym typeface="Gill Sans"/>
              </a:rPr>
              <a:t>/202</a:t>
            </a:r>
            <a:r>
              <a:rPr lang="es-ES" sz="1600" b="1" dirty="0">
                <a:solidFill>
                  <a:srgbClr val="FFFFFF"/>
                </a:solidFill>
                <a:latin typeface="Gill Sans"/>
                <a:ea typeface="Gill Sans"/>
                <a:cs typeface="Gill Sans"/>
                <a:sym typeface="Gill Sans"/>
              </a:rPr>
              <a:t>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fontScale="92500" lnSpcReduction="20000"/>
          </a:bodyPr>
          <a:lstStyle/>
          <a:p>
            <a:pPr marL="306000" lvl="0" indent="-306000" algn="l" rtl="0">
              <a:lnSpc>
                <a:spcPct val="100000"/>
              </a:lnSpc>
              <a:spcBef>
                <a:spcPts val="0"/>
              </a:spcBef>
              <a:spcAft>
                <a:spcPts val="0"/>
              </a:spcAft>
              <a:buSzPts val="1656"/>
              <a:buChar char="◼"/>
            </a:pPr>
            <a:r>
              <a:rPr lang="es-ES" dirty="0">
                <a:solidFill>
                  <a:schemeClr val="lt1"/>
                </a:solidFill>
              </a:rPr>
              <a:t>DESARROLLO</a:t>
            </a:r>
            <a:endParaRPr dirty="0"/>
          </a:p>
          <a:p>
            <a:pPr marL="630000" lvl="1" indent="-320020" algn="l" rtl="0">
              <a:lnSpc>
                <a:spcPct val="100000"/>
              </a:lnSpc>
              <a:spcBef>
                <a:spcPts val="872"/>
              </a:spcBef>
              <a:spcAft>
                <a:spcPts val="0"/>
              </a:spcAft>
              <a:buSzPts val="1472"/>
              <a:buChar char="◼"/>
            </a:pPr>
            <a:r>
              <a:rPr lang="es-ES" dirty="0">
                <a:solidFill>
                  <a:schemeClr val="lt1"/>
                </a:solidFill>
              </a:rPr>
              <a:t>OBJETIVO</a:t>
            </a:r>
          </a:p>
          <a:p>
            <a:pPr marL="630000" lvl="1" indent="-320020">
              <a:spcBef>
                <a:spcPts val="872"/>
              </a:spcBef>
              <a:buSzPts val="1472"/>
            </a:pPr>
            <a:r>
              <a:rPr lang="es-ES" dirty="0">
                <a:solidFill>
                  <a:schemeClr val="lt1"/>
                </a:solidFill>
              </a:rPr>
              <a:t>DISEÑO Y ARQUITECTURA</a:t>
            </a:r>
            <a:endParaRPr dirty="0">
              <a:solidFill>
                <a:schemeClr val="lt1"/>
              </a:solidFill>
            </a:endParaRPr>
          </a:p>
          <a:p>
            <a:pPr marL="630000" lvl="1" indent="-320020" algn="l" rtl="0">
              <a:lnSpc>
                <a:spcPct val="100000"/>
              </a:lnSpc>
              <a:spcBef>
                <a:spcPts val="872"/>
              </a:spcBef>
              <a:spcAft>
                <a:spcPts val="0"/>
              </a:spcAft>
              <a:buSzPts val="1472"/>
              <a:buChar char="◼"/>
            </a:pPr>
            <a:r>
              <a:rPr lang="es-ES" dirty="0">
                <a:solidFill>
                  <a:schemeClr val="lt1"/>
                </a:solidFill>
              </a:rPr>
              <a:t>CREACIÓN DEL SERVIDOR SOAP</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CONSOLA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MÓVIL</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ESCRITORIO</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WEB</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CONCLUSIONES</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RECOMENDACIONES</a:t>
            </a:r>
          </a:p>
          <a:p>
            <a:pPr marL="306000" marR="0" lvl="0" indent="-306000" algn="l" rtl="0">
              <a:lnSpc>
                <a:spcPct val="100000"/>
              </a:lnSpc>
              <a:spcBef>
                <a:spcPts val="906"/>
              </a:spcBef>
              <a:spcAft>
                <a:spcPts val="0"/>
              </a:spcAft>
              <a:buSzPts val="1656"/>
              <a:buChar char="◼"/>
            </a:pPr>
            <a:r>
              <a:rPr lang="es-ES" dirty="0">
                <a:solidFill>
                  <a:schemeClr val="lt1"/>
                </a:solidFill>
              </a:rPr>
              <a:t>BIBLIOGRAFIAS</a:t>
            </a:r>
            <a:endParaRPr dirty="0"/>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OBJETIVO</a:t>
            </a:r>
            <a:endParaRPr dirty="0"/>
          </a:p>
        </p:txBody>
      </p:sp>
      <p:sp>
        <p:nvSpPr>
          <p:cNvPr id="115" name="Google Shape;115;p15"/>
          <p:cNvSpPr txBox="1">
            <a:spLocks noGrp="1"/>
          </p:cNvSpPr>
          <p:nvPr>
            <p:ph type="body" idx="1"/>
          </p:nvPr>
        </p:nvSpPr>
        <p:spPr>
          <a:xfrm>
            <a:off x="581192" y="2180496"/>
            <a:ext cx="8589441" cy="3678303"/>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endParaRPr lang="es-ES" sz="1800" b="1" dirty="0">
              <a:latin typeface="Cambria"/>
              <a:ea typeface="Cambria"/>
              <a:cs typeface="Cambria"/>
              <a:sym typeface="Cambria"/>
            </a:endParaRPr>
          </a:p>
          <a:p>
            <a:pPr marL="0" indent="0" algn="just">
              <a:lnSpc>
                <a:spcPct val="107000"/>
              </a:lnSpc>
              <a:spcBef>
                <a:spcPts val="0"/>
              </a:spcBef>
              <a:buNone/>
            </a:pPr>
            <a:endParaRPr lang="es-ES" b="1" dirty="0">
              <a:latin typeface="Cambria"/>
              <a:ea typeface="Cambria"/>
              <a:cs typeface="Cambria"/>
              <a:sym typeface="Cambria"/>
            </a:endParaRPr>
          </a:p>
          <a:p>
            <a:pPr marL="0" indent="0" algn="just">
              <a:lnSpc>
                <a:spcPct val="107000"/>
              </a:lnSpc>
              <a:spcBef>
                <a:spcPts val="0"/>
              </a:spcBef>
              <a:buNone/>
            </a:pPr>
            <a:r>
              <a:rPr lang="es-ES" b="1" dirty="0">
                <a:latin typeface="Cambria"/>
                <a:ea typeface="Cambria"/>
                <a:cs typeface="Cambria"/>
                <a:sym typeface="Cambria"/>
              </a:rPr>
              <a:t>OBJETIVO GENERAL</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lvl="0" algn="just">
              <a:lnSpc>
                <a:spcPct val="107000"/>
              </a:lnSpc>
              <a:spcBef>
                <a:spcPts val="0"/>
              </a:spcBef>
              <a:buChar char="∙"/>
            </a:pPr>
            <a:r>
              <a:rPr lang="es-ES" dirty="0"/>
              <a:t>Desarrollar la integración del "Sistema Ticket Premium Monster", basado en una Arquitectura Orientada a Servicios (SOA) utilizando Windows </a:t>
            </a:r>
            <a:r>
              <a:rPr lang="es-ES" dirty="0" err="1"/>
              <a:t>Communication</a:t>
            </a:r>
            <a:r>
              <a:rPr lang="es-ES" dirty="0"/>
              <a:t> </a:t>
            </a:r>
            <a:r>
              <a:rPr lang="es-ES" dirty="0" err="1"/>
              <a:t>Foundation</a:t>
            </a:r>
            <a:r>
              <a:rPr lang="es-ES" dirty="0"/>
              <a:t> (WCF) para exponer servicios SOAP en .NET, gestionando los datos con </a:t>
            </a:r>
            <a:r>
              <a:rPr lang="es-ES" dirty="0" err="1"/>
              <a:t>Entity</a:t>
            </a:r>
            <a:r>
              <a:rPr lang="es-ES" dirty="0"/>
              <a:t> Framework localmente, y demostrando su consumo a través de arquitecturas cliente en consola, web, escritorio y dispositivos móviles</a:t>
            </a:r>
            <a:endParaRPr dirty="0">
              <a:latin typeface="Cambria"/>
              <a:ea typeface="Cambria"/>
              <a:cs typeface="Cambria"/>
              <a:sym typeface="Cambria"/>
            </a:endParaRPr>
          </a:p>
        </p:txBody>
      </p:sp>
      <p:sp>
        <p:nvSpPr>
          <p:cNvPr id="116" name="Google Shape;116;p1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AF1CC7A-0FA2-7143-0420-569B921A46F5}"/>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D2B48A7F-838E-C220-CFF4-46A985F041A6}"/>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OBJETIVO</a:t>
            </a:r>
            <a:endParaRPr dirty="0"/>
          </a:p>
        </p:txBody>
      </p:sp>
      <p:sp>
        <p:nvSpPr>
          <p:cNvPr id="115" name="Google Shape;115;p15">
            <a:extLst>
              <a:ext uri="{FF2B5EF4-FFF2-40B4-BE49-F238E27FC236}">
                <a16:creationId xmlns:a16="http://schemas.microsoft.com/office/drawing/2014/main" id="{7DB199A0-522F-F2D1-8D68-083BDCA55FE8}"/>
              </a:ext>
            </a:extLst>
          </p:cNvPr>
          <p:cNvSpPr txBox="1">
            <a:spLocks noGrp="1"/>
          </p:cNvSpPr>
          <p:nvPr>
            <p:ph type="body" idx="1"/>
          </p:nvPr>
        </p:nvSpPr>
        <p:spPr>
          <a:xfrm>
            <a:off x="581192" y="2180496"/>
            <a:ext cx="8589441" cy="3678303"/>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just" rtl="0">
              <a:lnSpc>
                <a:spcPct val="107000"/>
              </a:lnSpc>
              <a:spcBef>
                <a:spcPts val="0"/>
              </a:spcBef>
              <a:spcAft>
                <a:spcPts val="0"/>
              </a:spcAft>
              <a:buSzPts val="1656"/>
              <a:buNone/>
            </a:pPr>
            <a:endParaRPr lang="es-ES" sz="1800" b="1" dirty="0">
              <a:latin typeface="Cambria"/>
              <a:ea typeface="Cambria"/>
              <a:cs typeface="Cambria"/>
              <a:sym typeface="Cambria"/>
            </a:endParaRPr>
          </a:p>
          <a:p>
            <a:pPr marL="0" indent="0" algn="just">
              <a:lnSpc>
                <a:spcPct val="107000"/>
              </a:lnSpc>
              <a:spcBef>
                <a:spcPts val="0"/>
              </a:spcBef>
              <a:buNone/>
            </a:pPr>
            <a:endParaRPr lang="es-ES" b="1" dirty="0">
              <a:latin typeface="Cambria"/>
              <a:ea typeface="Cambria"/>
              <a:cs typeface="Cambria"/>
              <a:sym typeface="Cambria"/>
            </a:endParaRPr>
          </a:p>
          <a:p>
            <a:pPr marL="0" indent="0" algn="just">
              <a:lnSpc>
                <a:spcPct val="107000"/>
              </a:lnSpc>
              <a:spcBef>
                <a:spcPts val="0"/>
              </a:spcBef>
              <a:buNone/>
            </a:pPr>
            <a:r>
              <a:rPr lang="es-ES" b="1" dirty="0">
                <a:latin typeface="Cambria"/>
                <a:ea typeface="Cambria"/>
                <a:cs typeface="Cambria"/>
                <a:sym typeface="Cambria"/>
              </a:rPr>
              <a:t>OBJETIVOS ESPECÍFICOS</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fontAlgn="base"/>
            <a:r>
              <a:rPr lang="es-ES" dirty="0"/>
              <a:t>Describir la creación de los servicios web SOAP (</a:t>
            </a:r>
            <a:r>
              <a:rPr lang="es-ES" dirty="0" err="1"/>
              <a:t>Federacion.WCF</a:t>
            </a:r>
            <a:r>
              <a:rPr lang="es-ES" dirty="0"/>
              <a:t> y </a:t>
            </a:r>
            <a:r>
              <a:rPr lang="es-ES" dirty="0" err="1"/>
              <a:t>TicketPremium.WCF</a:t>
            </a:r>
            <a:r>
              <a:rPr lang="es-ES" dirty="0"/>
              <a:t>) y la configuración de las conexiones a las bases de datos SQL Server mediante el uso de ADO.NET </a:t>
            </a:r>
            <a:r>
              <a:rPr lang="es-ES" dirty="0" err="1"/>
              <a:t>Entity</a:t>
            </a:r>
            <a:r>
              <a:rPr lang="es-ES" dirty="0"/>
              <a:t> Data Model.  </a:t>
            </a:r>
          </a:p>
          <a:p>
            <a:pPr fontAlgn="base"/>
            <a:r>
              <a:rPr lang="es-ES" dirty="0"/>
              <a:t>Explicar el desarrollo de un proyecto de biblioteca de clases compartida (Compartido) destinado a centralizar los modelos, la lógica de negocio, los </a:t>
            </a:r>
            <a:r>
              <a:rPr lang="es-ES" dirty="0" err="1"/>
              <a:t>parseadores</a:t>
            </a:r>
            <a:r>
              <a:rPr lang="es-ES" dirty="0"/>
              <a:t> y la comunicación estructurada para consumir los web </a:t>
            </a:r>
            <a:r>
              <a:rPr lang="es-ES" dirty="0" err="1"/>
              <a:t>services</a:t>
            </a:r>
            <a:r>
              <a:rPr lang="es-ES" dirty="0"/>
              <a:t>.  </a:t>
            </a:r>
          </a:p>
          <a:p>
            <a:pPr fontAlgn="base"/>
            <a:r>
              <a:rPr lang="es-ES" dirty="0"/>
              <a:t>Proporcionar las guías de desarrollo e integración para consumir los servicios SOAP centralizados desde distintas interfaces de usuario, abarcando aplicaciones de consola , aplicaciones híbridas para móvil y escritorio utilizando .NET MAUI Blazor Hybrid , y plataformas web basadas en Blazor.</a:t>
            </a:r>
          </a:p>
        </p:txBody>
      </p:sp>
      <p:sp>
        <p:nvSpPr>
          <p:cNvPr id="3" name="Google Shape;116;p15">
            <a:extLst>
              <a:ext uri="{FF2B5EF4-FFF2-40B4-BE49-F238E27FC236}">
                <a16:creationId xmlns:a16="http://schemas.microsoft.com/office/drawing/2014/main" id="{33F7123F-F1F0-13B4-911A-5F116E5A2F13}"/>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05265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EFB79DA-09CC-E278-5F85-55B4FDE47E81}"/>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BFBA5076-38C8-9E1C-2AE7-A8080F687FDC}"/>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805AE393-36D5-4F3D-9CC7-3CC05C5DDBE8}"/>
              </a:ext>
            </a:extLst>
          </p:cNvPr>
          <p:cNvSpPr txBox="1">
            <a:spLocks noGrp="1"/>
          </p:cNvSpPr>
          <p:nvPr>
            <p:ph type="body" idx="1"/>
          </p:nvPr>
        </p:nvSpPr>
        <p:spPr>
          <a:xfrm>
            <a:off x="336750" y="2307245"/>
            <a:ext cx="4253358" cy="3678303"/>
          </a:xfrm>
          <a:prstGeom prst="rect">
            <a:avLst/>
          </a:prstGeom>
          <a:noFill/>
          <a:ln>
            <a:noFill/>
          </a:ln>
        </p:spPr>
        <p:txBody>
          <a:bodyPr spcFirstLastPara="1" wrap="square" lIns="91425" tIns="45700" rIns="91425" bIns="45700" anchor="ctr" anchorCtr="0">
            <a:normAutofit fontScale="92500" lnSpcReduction="10000"/>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dirty="0"/>
              <a:t>Implementación de modelo Cliente-Servidor.</a:t>
            </a:r>
          </a:p>
          <a:p>
            <a:r>
              <a:rPr lang="es-ES" b="1" dirty="0"/>
              <a:t>Backend Centralizado:</a:t>
            </a:r>
            <a:r>
              <a:rPr lang="es-ES" dirty="0"/>
              <a:t> Un servidor WCF que expone toda la lógica de negocio mediante servicios SOAP.</a:t>
            </a:r>
          </a:p>
          <a:p>
            <a:r>
              <a:rPr lang="es-ES" b="1" dirty="0" err="1"/>
              <a:t>Multi-plataforma</a:t>
            </a:r>
            <a:r>
              <a:rPr lang="es-ES" b="1" dirty="0"/>
              <a:t>:</a:t>
            </a:r>
            <a:r>
              <a:rPr lang="es-ES" dirty="0"/>
              <a:t> 4 aplicativos de consumo (Web, Móvil, Escritorio, Consola) que consumen los mismos servicios, asegurando consistencia de datos.</a:t>
            </a:r>
          </a:p>
          <a:p>
            <a:r>
              <a:rPr lang="es-ES" b="1" dirty="0"/>
              <a:t>Desacoplamiento:</a:t>
            </a:r>
            <a:r>
              <a:rPr lang="es-ES" dirty="0"/>
              <a:t> Alta independencia entre las interfaces gráficas y las reglas de negocio.</a:t>
            </a:r>
          </a:p>
        </p:txBody>
      </p:sp>
      <p:sp>
        <p:nvSpPr>
          <p:cNvPr id="2" name="Google Shape;116;p15">
            <a:extLst>
              <a:ext uri="{FF2B5EF4-FFF2-40B4-BE49-F238E27FC236}">
                <a16:creationId xmlns:a16="http://schemas.microsoft.com/office/drawing/2014/main" id="{60081BBE-2950-5A76-4288-542ED5D219A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 name="CuadroTexto 3">
            <a:extLst>
              <a:ext uri="{FF2B5EF4-FFF2-40B4-BE49-F238E27FC236}">
                <a16:creationId xmlns:a16="http://schemas.microsoft.com/office/drawing/2014/main" id="{D6AD62E3-D8F6-B5F4-0C49-97C311B277ED}"/>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pt-BR" sz="1700" b="1" dirty="0" err="1">
                <a:solidFill>
                  <a:schemeClr val="dk2"/>
                </a:solidFill>
                <a:latin typeface="Cambria"/>
                <a:ea typeface="Cambria"/>
                <a:sym typeface="Gill Sans"/>
              </a:rPr>
              <a:t>Arquitectura</a:t>
            </a:r>
            <a:r>
              <a:rPr lang="pt-BR" sz="1700" b="1" dirty="0">
                <a:solidFill>
                  <a:schemeClr val="dk2"/>
                </a:solidFill>
                <a:latin typeface="Cambria"/>
                <a:ea typeface="Cambria"/>
                <a:sym typeface="Gill Sans"/>
              </a:rPr>
              <a:t> Orientada a </a:t>
            </a:r>
            <a:r>
              <a:rPr lang="pt-BR" sz="1700" b="1" dirty="0" err="1">
                <a:solidFill>
                  <a:schemeClr val="dk2"/>
                </a:solidFill>
                <a:latin typeface="Cambria"/>
                <a:ea typeface="Cambria"/>
                <a:sym typeface="Gill Sans"/>
              </a:rPr>
              <a:t>Servicios</a:t>
            </a:r>
            <a:r>
              <a:rPr lang="pt-BR" sz="1700" b="1" dirty="0">
                <a:solidFill>
                  <a:schemeClr val="dk2"/>
                </a:solidFill>
                <a:latin typeface="Cambria"/>
                <a:ea typeface="Cambria"/>
                <a:sym typeface="Gill Sans"/>
              </a:rPr>
              <a:t> (SOA)</a:t>
            </a:r>
          </a:p>
        </p:txBody>
      </p:sp>
      <p:pic>
        <p:nvPicPr>
          <p:cNvPr id="6" name="Imagen 5">
            <a:extLst>
              <a:ext uri="{FF2B5EF4-FFF2-40B4-BE49-F238E27FC236}">
                <a16:creationId xmlns:a16="http://schemas.microsoft.com/office/drawing/2014/main" id="{B2176F18-2A98-0455-499A-4DE64CC0F6B3}"/>
              </a:ext>
            </a:extLst>
          </p:cNvPr>
          <p:cNvPicPr>
            <a:picLocks noChangeAspect="1"/>
          </p:cNvPicPr>
          <p:nvPr/>
        </p:nvPicPr>
        <p:blipFill>
          <a:blip r:embed="rId3"/>
          <a:stretch>
            <a:fillRect/>
          </a:stretch>
        </p:blipFill>
        <p:spPr>
          <a:xfrm>
            <a:off x="4508626" y="2912381"/>
            <a:ext cx="4789284" cy="2468031"/>
          </a:xfrm>
          <a:prstGeom prst="rect">
            <a:avLst/>
          </a:prstGeom>
        </p:spPr>
      </p:pic>
    </p:spTree>
    <p:extLst>
      <p:ext uri="{BB962C8B-B14F-4D97-AF65-F5344CB8AC3E}">
        <p14:creationId xmlns:p14="http://schemas.microsoft.com/office/powerpoint/2010/main" val="1951556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387765B-2319-9ABA-803A-C2793FBBA1D3}"/>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027E3354-2B3C-A2C2-E822-9B73F14A673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50CFF503-9136-665A-DFD1-3B5050760CA0}"/>
              </a:ext>
            </a:extLst>
          </p:cNvPr>
          <p:cNvSpPr txBox="1">
            <a:spLocks noGrp="1"/>
          </p:cNvSpPr>
          <p:nvPr>
            <p:ph type="body" idx="1"/>
          </p:nvPr>
        </p:nvSpPr>
        <p:spPr>
          <a:xfrm>
            <a:off x="336750" y="2307245"/>
            <a:ext cx="4253358" cy="3678303"/>
          </a:xfrm>
          <a:prstGeom prst="rect">
            <a:avLst/>
          </a:prstGeom>
          <a:noFill/>
          <a:ln>
            <a:noFill/>
          </a:ln>
        </p:spPr>
        <p:txBody>
          <a:bodyPr spcFirstLastPara="1" wrap="square" lIns="91425" tIns="45700" rIns="91425" bIns="45700" anchor="ctr" anchorCtr="0">
            <a:normAutofit/>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b="1" dirty="0"/>
              <a:t>Identificación de actores principales: </a:t>
            </a:r>
            <a:r>
              <a:rPr lang="es-ES" dirty="0"/>
              <a:t>usuario y sistema.</a:t>
            </a:r>
          </a:p>
          <a:p>
            <a:r>
              <a:rPr lang="es-ES" b="1" dirty="0"/>
              <a:t>Gestión de la Federación:</a:t>
            </a:r>
            <a:r>
              <a:rPr lang="es-ES" dirty="0"/>
              <a:t> Consulta y validación de datos deportivos y partidos.</a:t>
            </a:r>
          </a:p>
          <a:p>
            <a:r>
              <a:rPr lang="es-ES" b="1" dirty="0"/>
              <a:t>Gestión Ticket Premium:</a:t>
            </a:r>
            <a:r>
              <a:rPr lang="es-ES" dirty="0"/>
              <a:t> Proceso de compra, reserva de boletos y reportes de ventas centralizados.</a:t>
            </a:r>
          </a:p>
        </p:txBody>
      </p:sp>
      <p:sp>
        <p:nvSpPr>
          <p:cNvPr id="4" name="CuadroTexto 3">
            <a:extLst>
              <a:ext uri="{FF2B5EF4-FFF2-40B4-BE49-F238E27FC236}">
                <a16:creationId xmlns:a16="http://schemas.microsoft.com/office/drawing/2014/main" id="{6BC14A82-B43C-6088-CFDA-D9B367114735}"/>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Requerimientos Funcionales y Casos de Uso</a:t>
            </a:r>
            <a:endParaRPr lang="pt-BR" sz="1700" b="1" dirty="0">
              <a:solidFill>
                <a:schemeClr val="dk2"/>
              </a:solidFill>
              <a:latin typeface="Cambria"/>
              <a:ea typeface="Cambria"/>
              <a:sym typeface="Gill Sans"/>
            </a:endParaRPr>
          </a:p>
        </p:txBody>
      </p:sp>
      <p:sp>
        <p:nvSpPr>
          <p:cNvPr id="3" name="Google Shape;116;p15">
            <a:extLst>
              <a:ext uri="{FF2B5EF4-FFF2-40B4-BE49-F238E27FC236}">
                <a16:creationId xmlns:a16="http://schemas.microsoft.com/office/drawing/2014/main" id="{B3ACA578-D81D-8075-4C7B-3B8414DD585A}"/>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6" name="Imagen 5">
            <a:extLst>
              <a:ext uri="{FF2B5EF4-FFF2-40B4-BE49-F238E27FC236}">
                <a16:creationId xmlns:a16="http://schemas.microsoft.com/office/drawing/2014/main" id="{37F517DD-D07B-89A1-8A30-553B9CE6EFC1}"/>
              </a:ext>
            </a:extLst>
          </p:cNvPr>
          <p:cNvPicPr>
            <a:picLocks noChangeAspect="1"/>
          </p:cNvPicPr>
          <p:nvPr/>
        </p:nvPicPr>
        <p:blipFill>
          <a:blip r:embed="rId3"/>
          <a:stretch>
            <a:fillRect/>
          </a:stretch>
        </p:blipFill>
        <p:spPr>
          <a:xfrm>
            <a:off x="5151421" y="2663779"/>
            <a:ext cx="3452702" cy="3492065"/>
          </a:xfrm>
          <a:prstGeom prst="rect">
            <a:avLst/>
          </a:prstGeom>
        </p:spPr>
      </p:pic>
    </p:spTree>
    <p:extLst>
      <p:ext uri="{BB962C8B-B14F-4D97-AF65-F5344CB8AC3E}">
        <p14:creationId xmlns:p14="http://schemas.microsoft.com/office/powerpoint/2010/main" val="1008303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266BC19-53D6-4AA4-29C1-E83252967ED8}"/>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8A525538-37B3-BB51-70C3-1A12CE5F549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150CEFC4-1C09-985B-987F-A1859252A53B}"/>
              </a:ext>
            </a:extLst>
          </p:cNvPr>
          <p:cNvSpPr txBox="1">
            <a:spLocks noGrp="1"/>
          </p:cNvSpPr>
          <p:nvPr>
            <p:ph type="body" idx="1"/>
          </p:nvPr>
        </p:nvSpPr>
        <p:spPr>
          <a:xfrm>
            <a:off x="336750" y="2307245"/>
            <a:ext cx="4253358" cy="3678303"/>
          </a:xfrm>
          <a:prstGeom prst="rect">
            <a:avLst/>
          </a:prstGeom>
          <a:noFill/>
          <a:ln>
            <a:noFill/>
          </a:ln>
        </p:spPr>
        <p:txBody>
          <a:bodyPr spcFirstLastPara="1" wrap="square" lIns="91425" tIns="45700" rIns="91425" bIns="45700" anchor="ctr" anchorCtr="0">
            <a:normAutofit/>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dirty="0"/>
              <a:t>Base de datos relacional para garantizar integridad transaccional (ACID) durante la venta de boletos.</a:t>
            </a:r>
          </a:p>
          <a:p>
            <a:r>
              <a:rPr lang="es-ES" dirty="0"/>
              <a:t>Separación lógica entre la base de datos operativa de Ticket Premium y las entidades de la Federación de Fútbol.</a:t>
            </a:r>
          </a:p>
          <a:p>
            <a:r>
              <a:rPr lang="es-ES" dirty="0"/>
              <a:t>Estructura lista mediante scripts automatizados DDL (Definición de tablas) y DML (Datos iniciales).</a:t>
            </a:r>
          </a:p>
        </p:txBody>
      </p:sp>
      <p:sp>
        <p:nvSpPr>
          <p:cNvPr id="4" name="CuadroTexto 3">
            <a:extLst>
              <a:ext uri="{FF2B5EF4-FFF2-40B4-BE49-F238E27FC236}">
                <a16:creationId xmlns:a16="http://schemas.microsoft.com/office/drawing/2014/main" id="{B1067B83-F584-A8D6-3F3D-28648603547F}"/>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Modelo Entidad-Relación y Base de Datos</a:t>
            </a:r>
            <a:endParaRPr lang="pt-BR" sz="1700" b="1" dirty="0">
              <a:solidFill>
                <a:schemeClr val="dk2"/>
              </a:solidFill>
              <a:latin typeface="Cambria"/>
              <a:ea typeface="Cambria"/>
              <a:sym typeface="Gill Sans"/>
            </a:endParaRPr>
          </a:p>
        </p:txBody>
      </p:sp>
      <p:sp>
        <p:nvSpPr>
          <p:cNvPr id="3" name="Google Shape;116;p15">
            <a:extLst>
              <a:ext uri="{FF2B5EF4-FFF2-40B4-BE49-F238E27FC236}">
                <a16:creationId xmlns:a16="http://schemas.microsoft.com/office/drawing/2014/main" id="{0A47EF75-0CD8-3F31-C2F2-32BE8737988A}"/>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6" name="Imagen 5">
            <a:extLst>
              <a:ext uri="{FF2B5EF4-FFF2-40B4-BE49-F238E27FC236}">
                <a16:creationId xmlns:a16="http://schemas.microsoft.com/office/drawing/2014/main" id="{11142FE7-773B-D1F4-10C4-17F3C3A05F75}"/>
              </a:ext>
            </a:extLst>
          </p:cNvPr>
          <p:cNvPicPr>
            <a:picLocks noChangeAspect="1"/>
          </p:cNvPicPr>
          <p:nvPr/>
        </p:nvPicPr>
        <p:blipFill>
          <a:blip r:embed="rId3"/>
          <a:stretch>
            <a:fillRect/>
          </a:stretch>
        </p:blipFill>
        <p:spPr>
          <a:xfrm>
            <a:off x="4376204" y="3146485"/>
            <a:ext cx="2011250" cy="1999822"/>
          </a:xfrm>
          <a:prstGeom prst="rect">
            <a:avLst/>
          </a:prstGeom>
        </p:spPr>
      </p:pic>
      <p:pic>
        <p:nvPicPr>
          <p:cNvPr id="8" name="Imagen 7">
            <a:extLst>
              <a:ext uri="{FF2B5EF4-FFF2-40B4-BE49-F238E27FC236}">
                <a16:creationId xmlns:a16="http://schemas.microsoft.com/office/drawing/2014/main" id="{0DA7B45D-0186-9795-8D58-E7A3AFEC4761}"/>
              </a:ext>
            </a:extLst>
          </p:cNvPr>
          <p:cNvPicPr>
            <a:picLocks noChangeAspect="1"/>
          </p:cNvPicPr>
          <p:nvPr/>
        </p:nvPicPr>
        <p:blipFill>
          <a:blip r:embed="rId4"/>
          <a:stretch>
            <a:fillRect/>
          </a:stretch>
        </p:blipFill>
        <p:spPr>
          <a:xfrm>
            <a:off x="6423315" y="2278098"/>
            <a:ext cx="2326071" cy="4017759"/>
          </a:xfrm>
          <a:prstGeom prst="rect">
            <a:avLst/>
          </a:prstGeom>
        </p:spPr>
      </p:pic>
    </p:spTree>
    <p:extLst>
      <p:ext uri="{BB962C8B-B14F-4D97-AF65-F5344CB8AC3E}">
        <p14:creationId xmlns:p14="http://schemas.microsoft.com/office/powerpoint/2010/main" val="536744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DD9C940-7148-A465-B654-0461D8CFFAA5}"/>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BDCF0C10-461F-6090-EFE2-B302EFEC5C0B}"/>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BE01C85E-0C30-080A-7515-AF41CCDC92F9}"/>
              </a:ext>
            </a:extLst>
          </p:cNvPr>
          <p:cNvSpPr txBox="1">
            <a:spLocks noGrp="1"/>
          </p:cNvSpPr>
          <p:nvPr>
            <p:ph type="body" idx="1"/>
          </p:nvPr>
        </p:nvSpPr>
        <p:spPr>
          <a:xfrm>
            <a:off x="177713" y="2307245"/>
            <a:ext cx="3394573" cy="3678303"/>
          </a:xfrm>
          <a:prstGeom prst="rect">
            <a:avLst/>
          </a:prstGeom>
          <a:noFill/>
          <a:ln>
            <a:noFill/>
          </a:ln>
        </p:spPr>
        <p:txBody>
          <a:bodyPr spcFirstLastPara="1" wrap="square" lIns="91425" tIns="45700" rIns="91425" bIns="45700" anchor="ctr" anchorCtr="0">
            <a:normAutofit/>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dirty="0"/>
              <a:t>Implementación de patrones de diseño y programación orientada a objetos en C#.</a:t>
            </a:r>
          </a:p>
          <a:p>
            <a:r>
              <a:rPr lang="es-ES" dirty="0"/>
              <a:t>Uso de Data </a:t>
            </a:r>
            <a:r>
              <a:rPr lang="es-ES" dirty="0" err="1"/>
              <a:t>Contracts</a:t>
            </a:r>
            <a:r>
              <a:rPr lang="es-ES" dirty="0"/>
              <a:t> para serializar la información que viaja por SOAP.</a:t>
            </a:r>
          </a:p>
          <a:p>
            <a:r>
              <a:rPr lang="es-ES" dirty="0"/>
              <a:t>Uso de Service</a:t>
            </a:r>
            <a:r>
              <a:rPr lang="es-ES" b="1" dirty="0"/>
              <a:t> </a:t>
            </a:r>
            <a:r>
              <a:rPr lang="es-ES" dirty="0" err="1"/>
              <a:t>Contracts</a:t>
            </a:r>
            <a:r>
              <a:rPr lang="es-ES" dirty="0"/>
              <a:t> que definen las interfaces expuestas por el WCF.</a:t>
            </a:r>
          </a:p>
        </p:txBody>
      </p:sp>
      <p:sp>
        <p:nvSpPr>
          <p:cNvPr id="4" name="CuadroTexto 3">
            <a:extLst>
              <a:ext uri="{FF2B5EF4-FFF2-40B4-BE49-F238E27FC236}">
                <a16:creationId xmlns:a16="http://schemas.microsoft.com/office/drawing/2014/main" id="{83E029AB-E40F-AEF5-7374-535C294706B3}"/>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Diseño Estructural y Clases</a:t>
            </a:r>
            <a:endParaRPr lang="pt-BR" sz="1700" b="1" dirty="0">
              <a:solidFill>
                <a:schemeClr val="dk2"/>
              </a:solidFill>
              <a:latin typeface="Cambria"/>
              <a:ea typeface="Cambria"/>
              <a:sym typeface="Gill Sans"/>
            </a:endParaRPr>
          </a:p>
        </p:txBody>
      </p:sp>
      <p:pic>
        <p:nvPicPr>
          <p:cNvPr id="5" name="Imagen 4">
            <a:extLst>
              <a:ext uri="{FF2B5EF4-FFF2-40B4-BE49-F238E27FC236}">
                <a16:creationId xmlns:a16="http://schemas.microsoft.com/office/drawing/2014/main" id="{F229253D-61A6-35C1-DA63-06845B989193}"/>
              </a:ext>
            </a:extLst>
          </p:cNvPr>
          <p:cNvPicPr>
            <a:picLocks noChangeAspect="1"/>
          </p:cNvPicPr>
          <p:nvPr/>
        </p:nvPicPr>
        <p:blipFill>
          <a:blip r:embed="rId3"/>
          <a:stretch>
            <a:fillRect/>
          </a:stretch>
        </p:blipFill>
        <p:spPr>
          <a:xfrm>
            <a:off x="3711921" y="1961125"/>
            <a:ext cx="3394573" cy="3309567"/>
          </a:xfrm>
          <a:prstGeom prst="rect">
            <a:avLst/>
          </a:prstGeom>
        </p:spPr>
      </p:pic>
      <p:pic>
        <p:nvPicPr>
          <p:cNvPr id="7" name="Imagen 6">
            <a:extLst>
              <a:ext uri="{FF2B5EF4-FFF2-40B4-BE49-F238E27FC236}">
                <a16:creationId xmlns:a16="http://schemas.microsoft.com/office/drawing/2014/main" id="{5F3D2EA3-FC66-6E71-0AC3-4C52E19302D0}"/>
              </a:ext>
            </a:extLst>
          </p:cNvPr>
          <p:cNvPicPr>
            <a:picLocks noChangeAspect="1"/>
          </p:cNvPicPr>
          <p:nvPr/>
        </p:nvPicPr>
        <p:blipFill>
          <a:blip r:embed="rId4"/>
          <a:stretch>
            <a:fillRect/>
          </a:stretch>
        </p:blipFill>
        <p:spPr>
          <a:xfrm>
            <a:off x="5409207" y="5295070"/>
            <a:ext cx="3394573" cy="1562930"/>
          </a:xfrm>
          <a:prstGeom prst="rect">
            <a:avLst/>
          </a:prstGeom>
        </p:spPr>
      </p:pic>
      <p:sp>
        <p:nvSpPr>
          <p:cNvPr id="3" name="Google Shape;116;p15">
            <a:extLst>
              <a:ext uri="{FF2B5EF4-FFF2-40B4-BE49-F238E27FC236}">
                <a16:creationId xmlns:a16="http://schemas.microsoft.com/office/drawing/2014/main" id="{5D5A1DBF-318A-C8BA-07D3-B649BF47EAD2}"/>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27350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B515006E-B57E-3D1E-F46A-DD4C2EF49F21}"/>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DD25C7D7-CA7F-67E2-85F6-4AE275D96B3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F62D7E39-9DFC-2D44-F4C1-57BD11A28CCE}"/>
              </a:ext>
            </a:extLst>
          </p:cNvPr>
          <p:cNvSpPr txBox="1">
            <a:spLocks noGrp="1"/>
          </p:cNvSpPr>
          <p:nvPr>
            <p:ph type="body" idx="1"/>
          </p:nvPr>
        </p:nvSpPr>
        <p:spPr>
          <a:xfrm>
            <a:off x="177713" y="2307245"/>
            <a:ext cx="3950840" cy="3678303"/>
          </a:xfrm>
          <a:prstGeom prst="rect">
            <a:avLst/>
          </a:prstGeom>
          <a:noFill/>
          <a:ln>
            <a:noFill/>
          </a:ln>
        </p:spPr>
        <p:txBody>
          <a:bodyPr spcFirstLastPara="1" wrap="square" lIns="91425" tIns="45700" rIns="91425" bIns="45700" anchor="ctr" anchorCtr="0">
            <a:normAutofit fontScale="85000" lnSpcReduction="10000"/>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b="1" dirty="0"/>
              <a:t>Llamada Síncrona:</a:t>
            </a:r>
            <a:r>
              <a:rPr lang="es-ES" dirty="0"/>
              <a:t> El cliente genera un </a:t>
            </a:r>
            <a:r>
              <a:rPr lang="es-ES" i="1" dirty="0" err="1"/>
              <a:t>Request</a:t>
            </a:r>
            <a:r>
              <a:rPr lang="es-ES" dirty="0"/>
              <a:t> enviando los datos mediante un protocolo SOAP (en formato XML).</a:t>
            </a:r>
          </a:p>
          <a:p>
            <a:r>
              <a:rPr lang="es-ES" b="1" dirty="0"/>
              <a:t>Capa de Servicios (WCF):</a:t>
            </a:r>
            <a:r>
              <a:rPr lang="es-ES" dirty="0"/>
              <a:t> El servidor recibe la petición, procesa la transacción y orquesta la comunicación con la capa de datos.</a:t>
            </a:r>
          </a:p>
          <a:p>
            <a:r>
              <a:rPr lang="es-ES" b="1" dirty="0"/>
              <a:t>Transaccionalidad:</a:t>
            </a:r>
            <a:r>
              <a:rPr lang="es-ES" dirty="0"/>
              <a:t> Se asegura la persistencia en la Base de Datos (Si ocurre un error en medio, se revierte todo).</a:t>
            </a:r>
          </a:p>
          <a:p>
            <a:r>
              <a:rPr lang="es-ES" b="1" dirty="0"/>
              <a:t>Respuesta (Response):</a:t>
            </a:r>
            <a:r>
              <a:rPr lang="es-ES" dirty="0"/>
              <a:t> El servidor devuelve un comprobante exitoso o un mensaje de error detallado al cliente.</a:t>
            </a:r>
          </a:p>
        </p:txBody>
      </p:sp>
      <p:sp>
        <p:nvSpPr>
          <p:cNvPr id="4" name="CuadroTexto 3">
            <a:extLst>
              <a:ext uri="{FF2B5EF4-FFF2-40B4-BE49-F238E27FC236}">
                <a16:creationId xmlns:a16="http://schemas.microsoft.com/office/drawing/2014/main" id="{4D0A5711-0AFD-E7F4-1EDD-264F1A83EE42}"/>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Comportamiento Dinámico: Venta de Boletos</a:t>
            </a:r>
            <a:endParaRPr lang="pt-BR" sz="1700" b="1" dirty="0">
              <a:solidFill>
                <a:schemeClr val="dk2"/>
              </a:solidFill>
              <a:latin typeface="Cambria"/>
              <a:ea typeface="Cambria"/>
              <a:sym typeface="Gill Sans"/>
            </a:endParaRPr>
          </a:p>
        </p:txBody>
      </p:sp>
      <p:pic>
        <p:nvPicPr>
          <p:cNvPr id="6" name="Imagen 5">
            <a:extLst>
              <a:ext uri="{FF2B5EF4-FFF2-40B4-BE49-F238E27FC236}">
                <a16:creationId xmlns:a16="http://schemas.microsoft.com/office/drawing/2014/main" id="{24452863-6A99-8406-B606-5344CF8D01E2}"/>
              </a:ext>
            </a:extLst>
          </p:cNvPr>
          <p:cNvPicPr>
            <a:picLocks noChangeAspect="1"/>
          </p:cNvPicPr>
          <p:nvPr/>
        </p:nvPicPr>
        <p:blipFill>
          <a:blip r:embed="rId3"/>
          <a:stretch>
            <a:fillRect/>
          </a:stretch>
        </p:blipFill>
        <p:spPr>
          <a:xfrm>
            <a:off x="4526733" y="2424713"/>
            <a:ext cx="4458784" cy="4252086"/>
          </a:xfrm>
          <a:prstGeom prst="rect">
            <a:avLst/>
          </a:prstGeom>
        </p:spPr>
      </p:pic>
      <p:sp>
        <p:nvSpPr>
          <p:cNvPr id="3" name="Google Shape;116;p15">
            <a:extLst>
              <a:ext uri="{FF2B5EF4-FFF2-40B4-BE49-F238E27FC236}">
                <a16:creationId xmlns:a16="http://schemas.microsoft.com/office/drawing/2014/main" id="{C776AD59-7F12-25F7-7F08-42420F20CF26}"/>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92343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1E35E72-F55C-E839-2472-05AD56CBCA7D}"/>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FB5F6EE7-2507-AE06-93A6-6858B2716F0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64CBA0CD-BB4E-E7AF-4665-C8E7CBF6569C}"/>
              </a:ext>
            </a:extLst>
          </p:cNvPr>
          <p:cNvSpPr txBox="1">
            <a:spLocks noGrp="1"/>
          </p:cNvSpPr>
          <p:nvPr>
            <p:ph type="body" idx="1"/>
          </p:nvPr>
        </p:nvSpPr>
        <p:spPr>
          <a:xfrm>
            <a:off x="177713" y="2307245"/>
            <a:ext cx="3950840" cy="3678303"/>
          </a:xfrm>
          <a:prstGeom prst="rect">
            <a:avLst/>
          </a:prstGeom>
          <a:noFill/>
          <a:ln>
            <a:noFill/>
          </a:ln>
        </p:spPr>
        <p:txBody>
          <a:bodyPr spcFirstLastPara="1" wrap="square" lIns="91425" tIns="45700" rIns="91425" bIns="45700" anchor="ctr" anchorCtr="0">
            <a:normAutofit/>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dirty="0"/>
              <a:t>Verificación de aforo disponible y validación de datos del cliente/partido.</a:t>
            </a:r>
          </a:p>
          <a:p>
            <a:r>
              <a:rPr lang="es-ES" dirty="0"/>
              <a:t>Manejo de stock en tiempo real (evitar doble venta o sobreventa del mismo asiento).</a:t>
            </a:r>
          </a:p>
          <a:p>
            <a:r>
              <a:rPr lang="es-ES" dirty="0"/>
              <a:t>Interacción entre los dos dominios principales: Consulta a la </a:t>
            </a:r>
            <a:r>
              <a:rPr lang="es-ES" b="1" dirty="0"/>
              <a:t>Federación</a:t>
            </a:r>
            <a:r>
              <a:rPr lang="es-ES" dirty="0"/>
              <a:t> y Registro en </a:t>
            </a:r>
            <a:r>
              <a:rPr lang="es-ES" b="1" dirty="0"/>
              <a:t>Ticket Premium</a:t>
            </a:r>
            <a:r>
              <a:rPr lang="es-ES" dirty="0"/>
              <a:t>.</a:t>
            </a:r>
          </a:p>
        </p:txBody>
      </p:sp>
      <p:sp>
        <p:nvSpPr>
          <p:cNvPr id="4" name="CuadroTexto 3">
            <a:extLst>
              <a:ext uri="{FF2B5EF4-FFF2-40B4-BE49-F238E27FC236}">
                <a16:creationId xmlns:a16="http://schemas.microsoft.com/office/drawing/2014/main" id="{8975194F-D96E-B685-FDA3-2DA8AF7A9B35}"/>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Reglas de Negocio y Flujo de Actividades</a:t>
            </a:r>
            <a:endParaRPr lang="pt-BR" sz="1700" b="1" dirty="0">
              <a:solidFill>
                <a:schemeClr val="dk2"/>
              </a:solidFill>
              <a:latin typeface="Cambria"/>
              <a:ea typeface="Cambria"/>
              <a:sym typeface="Gill Sans"/>
            </a:endParaRPr>
          </a:p>
        </p:txBody>
      </p:sp>
      <p:pic>
        <p:nvPicPr>
          <p:cNvPr id="5" name="Imagen 4">
            <a:extLst>
              <a:ext uri="{FF2B5EF4-FFF2-40B4-BE49-F238E27FC236}">
                <a16:creationId xmlns:a16="http://schemas.microsoft.com/office/drawing/2014/main" id="{D3346881-25B8-7609-820E-8AB7545EBB61}"/>
              </a:ext>
            </a:extLst>
          </p:cNvPr>
          <p:cNvPicPr>
            <a:picLocks noChangeAspect="1"/>
          </p:cNvPicPr>
          <p:nvPr/>
        </p:nvPicPr>
        <p:blipFill>
          <a:blip r:embed="rId3"/>
          <a:stretch>
            <a:fillRect/>
          </a:stretch>
        </p:blipFill>
        <p:spPr>
          <a:xfrm>
            <a:off x="4737441" y="2205634"/>
            <a:ext cx="4037367" cy="4489404"/>
          </a:xfrm>
          <a:prstGeom prst="rect">
            <a:avLst/>
          </a:prstGeom>
        </p:spPr>
      </p:pic>
      <p:sp>
        <p:nvSpPr>
          <p:cNvPr id="3" name="Google Shape;116;p15">
            <a:extLst>
              <a:ext uri="{FF2B5EF4-FFF2-40B4-BE49-F238E27FC236}">
                <a16:creationId xmlns:a16="http://schemas.microsoft.com/office/drawing/2014/main" id="{C8F95402-91FA-4D58-2BA9-87F16B3320A9}"/>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0894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66169F4-A997-EBE7-6D81-8F1D6AD66B0C}"/>
            </a:ext>
          </a:extLst>
        </p:cNvPr>
        <p:cNvGrpSpPr/>
        <p:nvPr/>
      </p:nvGrpSpPr>
      <p:grpSpPr>
        <a:xfrm>
          <a:off x="0" y="0"/>
          <a:ext cx="0" cy="0"/>
          <a:chOff x="0" y="0"/>
          <a:chExt cx="0" cy="0"/>
        </a:xfrm>
      </p:grpSpPr>
      <p:sp>
        <p:nvSpPr>
          <p:cNvPr id="114" name="Google Shape;114;p15">
            <a:extLst>
              <a:ext uri="{FF2B5EF4-FFF2-40B4-BE49-F238E27FC236}">
                <a16:creationId xmlns:a16="http://schemas.microsoft.com/office/drawing/2014/main" id="{2809CDE9-6D66-8784-52C9-1AC357FF2591}"/>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DISEÑO Y ARQUITECTURA</a:t>
            </a:r>
            <a:endParaRPr sz="1200" b="1" dirty="0">
              <a:sym typeface="Arial"/>
            </a:endParaRPr>
          </a:p>
        </p:txBody>
      </p:sp>
      <p:sp>
        <p:nvSpPr>
          <p:cNvPr id="115" name="Google Shape;115;p15">
            <a:extLst>
              <a:ext uri="{FF2B5EF4-FFF2-40B4-BE49-F238E27FC236}">
                <a16:creationId xmlns:a16="http://schemas.microsoft.com/office/drawing/2014/main" id="{972639AE-EA1C-CE66-7B8E-9B257BB9D47E}"/>
              </a:ext>
            </a:extLst>
          </p:cNvPr>
          <p:cNvSpPr txBox="1">
            <a:spLocks noGrp="1"/>
          </p:cNvSpPr>
          <p:nvPr>
            <p:ph type="body" idx="1"/>
          </p:nvPr>
        </p:nvSpPr>
        <p:spPr>
          <a:xfrm>
            <a:off x="177713" y="2307245"/>
            <a:ext cx="4683998" cy="3678303"/>
          </a:xfrm>
          <a:prstGeom prst="rect">
            <a:avLst/>
          </a:prstGeom>
          <a:noFill/>
          <a:ln>
            <a:noFill/>
          </a:ln>
        </p:spPr>
        <p:txBody>
          <a:bodyPr spcFirstLastPara="1" wrap="square" lIns="91425" tIns="45700" rIns="91425" bIns="45700" anchor="ctr" anchorCtr="0">
            <a:normAutofit/>
          </a:bodyPr>
          <a:lstStyle/>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r>
              <a:rPr lang="es-ES" b="1" dirty="0"/>
              <a:t>Alta Cohesión, Bajo Acoplamiento:</a:t>
            </a:r>
            <a:r>
              <a:rPr lang="es-ES" dirty="0"/>
              <a:t> Los proyectos están estrictamente divididos según su responsabilidad.</a:t>
            </a:r>
          </a:p>
          <a:p>
            <a:r>
              <a:rPr lang="es-ES" b="1" dirty="0"/>
              <a:t>Backend Híbrido:</a:t>
            </a:r>
            <a:r>
              <a:rPr lang="es-ES" dirty="0"/>
              <a:t> Separación clara entre el Acceso a Datos y la Exposición de Servicios.</a:t>
            </a:r>
          </a:p>
          <a:p>
            <a:r>
              <a:rPr lang="es-ES" b="1" dirty="0"/>
              <a:t>Recursos Compartidos:</a:t>
            </a:r>
            <a:r>
              <a:rPr lang="es-ES" dirty="0"/>
              <a:t> Uso de bibliotecas comunes para evitar duplicar código entre la consola y otras plataformas.</a:t>
            </a:r>
          </a:p>
        </p:txBody>
      </p:sp>
      <p:sp>
        <p:nvSpPr>
          <p:cNvPr id="4" name="CuadroTexto 3">
            <a:extLst>
              <a:ext uri="{FF2B5EF4-FFF2-40B4-BE49-F238E27FC236}">
                <a16:creationId xmlns:a16="http://schemas.microsoft.com/office/drawing/2014/main" id="{B77FD914-E40D-6F68-AB66-CFBB3D7E379F}"/>
              </a:ext>
            </a:extLst>
          </p:cNvPr>
          <p:cNvSpPr txBox="1"/>
          <p:nvPr/>
        </p:nvSpPr>
        <p:spPr>
          <a:xfrm>
            <a:off x="404391" y="1961125"/>
            <a:ext cx="6102034" cy="346120"/>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Separación de Componentes y Código Fuente</a:t>
            </a:r>
            <a:endParaRPr lang="pt-BR" sz="1700" b="1" dirty="0">
              <a:solidFill>
                <a:schemeClr val="dk2"/>
              </a:solidFill>
              <a:latin typeface="Cambria"/>
              <a:ea typeface="Cambria"/>
              <a:sym typeface="Gill Sans"/>
            </a:endParaRPr>
          </a:p>
        </p:txBody>
      </p:sp>
      <p:pic>
        <p:nvPicPr>
          <p:cNvPr id="6" name="Imagen 5">
            <a:extLst>
              <a:ext uri="{FF2B5EF4-FFF2-40B4-BE49-F238E27FC236}">
                <a16:creationId xmlns:a16="http://schemas.microsoft.com/office/drawing/2014/main" id="{C6D58341-BC25-4145-6447-81C27A2CAFA5}"/>
              </a:ext>
            </a:extLst>
          </p:cNvPr>
          <p:cNvPicPr>
            <a:picLocks noChangeAspect="1"/>
          </p:cNvPicPr>
          <p:nvPr/>
        </p:nvPicPr>
        <p:blipFill>
          <a:blip r:embed="rId3"/>
          <a:stretch>
            <a:fillRect/>
          </a:stretch>
        </p:blipFill>
        <p:spPr>
          <a:xfrm>
            <a:off x="5706155" y="1993604"/>
            <a:ext cx="2238905" cy="4305586"/>
          </a:xfrm>
          <a:prstGeom prst="rect">
            <a:avLst/>
          </a:prstGeom>
        </p:spPr>
      </p:pic>
      <p:sp>
        <p:nvSpPr>
          <p:cNvPr id="3" name="Google Shape;116;p15">
            <a:extLst>
              <a:ext uri="{FF2B5EF4-FFF2-40B4-BE49-F238E27FC236}">
                <a16:creationId xmlns:a16="http://schemas.microsoft.com/office/drawing/2014/main" id="{05A35044-A908-2B3F-0CCF-C0CE4A87050C}"/>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rgbClr val="FFFF00"/>
                </a:solidFill>
                <a:latin typeface="Gill Sans"/>
              </a:rPr>
              <a:t>DISEÑO Y ARQUITECTURA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49960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p:cNvSpPr txBox="1">
            <a:spLocks noGrp="1"/>
          </p:cNvSpPr>
          <p:nvPr>
            <p:ph type="body" idx="1"/>
          </p:nvPr>
        </p:nvSpPr>
        <p:spPr>
          <a:xfrm>
            <a:off x="404391" y="1961125"/>
            <a:ext cx="8589300" cy="1633500"/>
          </a:xfrm>
          <a:prstGeom prst="rect">
            <a:avLst/>
          </a:prstGeom>
          <a:noFill/>
          <a:ln>
            <a:noFill/>
          </a:ln>
        </p:spPr>
        <p:txBody>
          <a:bodyPr spcFirstLastPara="1" wrap="square" lIns="91425" tIns="45700" rIns="91425" bIns="45700" anchor="ctr" anchorCtr="0">
            <a:normAutofit/>
          </a:bodyPr>
          <a:lstStyle/>
          <a:p>
            <a:pPr marL="0" lvl="0" indent="0" algn="just">
              <a:lnSpc>
                <a:spcPct val="107000"/>
              </a:lnSpc>
              <a:spcBef>
                <a:spcPts val="0"/>
              </a:spcBef>
              <a:buSzPts val="1785"/>
              <a:buNone/>
            </a:pPr>
            <a:r>
              <a:rPr lang="es-ES" dirty="0">
                <a:latin typeface="Cambria" panose="02040503050406030204" pitchFamily="18" charset="0"/>
                <a:ea typeface="Cambria" panose="02040503050406030204" pitchFamily="18" charset="0"/>
              </a:rPr>
              <a:t>Para iniciar por el lado del servidor es necesario abrir visual Studio y elegir una solución en blanco ya que para este caso va a ser necesario generar 2 web </a:t>
            </a:r>
            <a:r>
              <a:rPr lang="es-ES" dirty="0" err="1">
                <a:latin typeface="Cambria" panose="02040503050406030204" pitchFamily="18" charset="0"/>
                <a:ea typeface="Cambria" panose="02040503050406030204" pitchFamily="18" charset="0"/>
              </a:rPr>
              <a:t>services</a:t>
            </a:r>
            <a:r>
              <a:rPr lang="es-ES" dirty="0">
                <a:latin typeface="Cambria" panose="02040503050406030204" pitchFamily="18" charset="0"/>
                <a:ea typeface="Cambria" panose="02040503050406030204" pitchFamily="18" charset="0"/>
              </a:rPr>
              <a:t> ya que son parte de negocio con responsabilidades separadas.</a:t>
            </a:r>
            <a:endParaRPr dirty="0">
              <a:latin typeface="Cambria" panose="02040503050406030204" pitchFamily="18" charset="0"/>
              <a:ea typeface="Cambria" panose="02040503050406030204" pitchFamily="18" charset="0"/>
              <a:cs typeface="Cambria"/>
              <a:sym typeface="Cambria"/>
            </a:endParaRPr>
          </a:p>
        </p:txBody>
      </p:sp>
      <p:sp>
        <p:nvSpPr>
          <p:cNvPr id="2" name="Google Shape;116;p15">
            <a:extLst>
              <a:ext uri="{FF2B5EF4-FFF2-40B4-BE49-F238E27FC236}">
                <a16:creationId xmlns:a16="http://schemas.microsoft.com/office/drawing/2014/main" id="{BB1B8BB5-5B6B-FC9E-096B-E24969DA693D}"/>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4" name="Imagen 3">
            <a:extLst>
              <a:ext uri="{FF2B5EF4-FFF2-40B4-BE49-F238E27FC236}">
                <a16:creationId xmlns:a16="http://schemas.microsoft.com/office/drawing/2014/main" id="{C235082E-D214-BF83-78EF-C8F138BA9DF6}"/>
              </a:ext>
            </a:extLst>
          </p:cNvPr>
          <p:cNvPicPr>
            <a:picLocks noChangeAspect="1"/>
          </p:cNvPicPr>
          <p:nvPr/>
        </p:nvPicPr>
        <p:blipFill>
          <a:blip r:embed="rId3"/>
          <a:stretch>
            <a:fillRect/>
          </a:stretch>
        </p:blipFill>
        <p:spPr>
          <a:xfrm>
            <a:off x="2326740" y="3329009"/>
            <a:ext cx="5084166" cy="3266440"/>
          </a:xfrm>
          <a:prstGeom prst="rect">
            <a:avLst/>
          </a:prstGeom>
        </p:spPr>
      </p:pic>
      <p:sp>
        <p:nvSpPr>
          <p:cNvPr id="5" name="Elipse 4">
            <a:extLst>
              <a:ext uri="{FF2B5EF4-FFF2-40B4-BE49-F238E27FC236}">
                <a16:creationId xmlns:a16="http://schemas.microsoft.com/office/drawing/2014/main" id="{A5AE9466-9523-3A3B-E59E-ABB12C35E1EC}"/>
              </a:ext>
            </a:extLst>
          </p:cNvPr>
          <p:cNvSpPr/>
          <p:nvPr/>
        </p:nvSpPr>
        <p:spPr>
          <a:xfrm>
            <a:off x="663922" y="3429000"/>
            <a:ext cx="1403287" cy="534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sp>
        <p:nvSpPr>
          <p:cNvPr id="6" name="CuadroTexto 5">
            <a:extLst>
              <a:ext uri="{FF2B5EF4-FFF2-40B4-BE49-F238E27FC236}">
                <a16:creationId xmlns:a16="http://schemas.microsoft.com/office/drawing/2014/main" id="{471E1292-7F15-EEB2-723B-8B1857B36AE3}"/>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7870635-4623-D32D-0067-F3427E5B4E83}"/>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84C8279E-FA9D-02DB-2ACC-4318665C175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5E330D05-7060-835B-AE05-C4F5F8738979}"/>
              </a:ext>
            </a:extLst>
          </p:cNvPr>
          <p:cNvSpPr txBox="1">
            <a:spLocks noGrp="1"/>
          </p:cNvSpPr>
          <p:nvPr>
            <p:ph type="body" idx="1"/>
          </p:nvPr>
        </p:nvSpPr>
        <p:spPr>
          <a:xfrm>
            <a:off x="404391" y="2418012"/>
            <a:ext cx="3941871" cy="1633500"/>
          </a:xfrm>
          <a:prstGeom prst="rect">
            <a:avLst/>
          </a:prstGeom>
          <a:noFill/>
          <a:ln>
            <a:noFill/>
          </a:ln>
        </p:spPr>
        <p:txBody>
          <a:bodyPr spcFirstLastPara="1" wrap="square" lIns="91425" tIns="45700" rIns="91425" bIns="45700" anchor="ctr" anchorCtr="0">
            <a:normAutofit/>
          </a:bodyPr>
          <a:lstStyle/>
          <a:p>
            <a:pPr marL="0" lvl="0" indent="0" algn="just">
              <a:lnSpc>
                <a:spcPct val="107000"/>
              </a:lnSpc>
              <a:spcBef>
                <a:spcPts val="0"/>
              </a:spcBef>
              <a:buSzPts val="1785"/>
              <a:buNone/>
            </a:pPr>
            <a:r>
              <a:rPr lang="es-ES" dirty="0">
                <a:latin typeface="Cambria" panose="02040503050406030204" pitchFamily="18" charset="0"/>
                <a:ea typeface="Cambria" panose="02040503050406030204" pitchFamily="18" charset="0"/>
              </a:rPr>
              <a:t>Se debe escoger el nombre del proyecto y la ubicación del mismo y después se debe dar clic en el botón de crear.</a:t>
            </a:r>
            <a:endParaRPr dirty="0">
              <a:latin typeface="Cambria" panose="02040503050406030204" pitchFamily="18" charset="0"/>
              <a:ea typeface="Cambria" panose="02040503050406030204" pitchFamily="18" charset="0"/>
              <a:cs typeface="Cambria"/>
              <a:sym typeface="Cambria"/>
            </a:endParaRPr>
          </a:p>
        </p:txBody>
      </p:sp>
      <p:pic>
        <p:nvPicPr>
          <p:cNvPr id="5" name="Imagen 4">
            <a:extLst>
              <a:ext uri="{FF2B5EF4-FFF2-40B4-BE49-F238E27FC236}">
                <a16:creationId xmlns:a16="http://schemas.microsoft.com/office/drawing/2014/main" id="{DBE34247-3318-B46C-7083-3785BA7A41A9}"/>
              </a:ext>
            </a:extLst>
          </p:cNvPr>
          <p:cNvPicPr>
            <a:picLocks noChangeAspect="1"/>
          </p:cNvPicPr>
          <p:nvPr/>
        </p:nvPicPr>
        <p:blipFill>
          <a:blip r:embed="rId3"/>
          <a:stretch>
            <a:fillRect/>
          </a:stretch>
        </p:blipFill>
        <p:spPr>
          <a:xfrm>
            <a:off x="497605" y="3842770"/>
            <a:ext cx="3528311" cy="2313074"/>
          </a:xfrm>
          <a:prstGeom prst="rect">
            <a:avLst/>
          </a:prstGeom>
        </p:spPr>
      </p:pic>
      <p:sp>
        <p:nvSpPr>
          <p:cNvPr id="6" name="Google Shape;122;p16">
            <a:extLst>
              <a:ext uri="{FF2B5EF4-FFF2-40B4-BE49-F238E27FC236}">
                <a16:creationId xmlns:a16="http://schemas.microsoft.com/office/drawing/2014/main" id="{470D6BFC-3C49-4FA9-84F7-621A6559D907}"/>
              </a:ext>
            </a:extLst>
          </p:cNvPr>
          <p:cNvSpPr txBox="1">
            <a:spLocks/>
          </p:cNvSpPr>
          <p:nvPr/>
        </p:nvSpPr>
        <p:spPr>
          <a:xfrm>
            <a:off x="4894044" y="2418012"/>
            <a:ext cx="394187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Una vez dentro del proyecto se debe dar clic derecho sobre la solución del proyecto y se busca la </a:t>
            </a:r>
            <a:r>
              <a:rPr lang="es-ES" dirty="0" err="1">
                <a:latin typeface="Cambria" panose="02040503050406030204" pitchFamily="18" charset="0"/>
                <a:ea typeface="Cambria" panose="02040503050406030204" pitchFamily="18" charset="0"/>
              </a:rPr>
              <a:t>opcion</a:t>
            </a:r>
            <a:r>
              <a:rPr lang="es-ES" dirty="0">
                <a:latin typeface="Cambria" panose="02040503050406030204" pitchFamily="18" charset="0"/>
                <a:ea typeface="Cambria" panose="02040503050406030204" pitchFamily="18" charset="0"/>
              </a:rPr>
              <a:t> de agregar y hay que dar clic sobre crear nuevo proyecto </a:t>
            </a:r>
            <a:endParaRPr lang="es-ES" dirty="0">
              <a:latin typeface="Cambria" panose="02040503050406030204" pitchFamily="18" charset="0"/>
              <a:ea typeface="Cambria" panose="02040503050406030204" pitchFamily="18" charset="0"/>
              <a:cs typeface="Cambria"/>
              <a:sym typeface="Cambria"/>
            </a:endParaRPr>
          </a:p>
        </p:txBody>
      </p:sp>
      <p:pic>
        <p:nvPicPr>
          <p:cNvPr id="7" name="Imagen 6">
            <a:extLst>
              <a:ext uri="{FF2B5EF4-FFF2-40B4-BE49-F238E27FC236}">
                <a16:creationId xmlns:a16="http://schemas.microsoft.com/office/drawing/2014/main" id="{36540F2F-BCFA-7415-0DFC-10C21544F040}"/>
              </a:ext>
            </a:extLst>
          </p:cNvPr>
          <p:cNvPicPr>
            <a:picLocks noChangeAspect="1"/>
          </p:cNvPicPr>
          <p:nvPr/>
        </p:nvPicPr>
        <p:blipFill>
          <a:blip r:embed="rId4"/>
          <a:stretch>
            <a:fillRect/>
          </a:stretch>
        </p:blipFill>
        <p:spPr>
          <a:xfrm>
            <a:off x="4611906" y="4008017"/>
            <a:ext cx="4582563" cy="2147827"/>
          </a:xfrm>
          <a:prstGeom prst="rect">
            <a:avLst/>
          </a:prstGeom>
        </p:spPr>
      </p:pic>
      <p:sp>
        <p:nvSpPr>
          <p:cNvPr id="8" name="Elipse 7">
            <a:extLst>
              <a:ext uri="{FF2B5EF4-FFF2-40B4-BE49-F238E27FC236}">
                <a16:creationId xmlns:a16="http://schemas.microsoft.com/office/drawing/2014/main" id="{267A03C7-34BC-8D11-FA5B-331C724233DB}"/>
              </a:ext>
            </a:extLst>
          </p:cNvPr>
          <p:cNvSpPr/>
          <p:nvPr/>
        </p:nvSpPr>
        <p:spPr>
          <a:xfrm>
            <a:off x="1533353" y="6323155"/>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sp>
        <p:nvSpPr>
          <p:cNvPr id="9" name="Elipse 8">
            <a:extLst>
              <a:ext uri="{FF2B5EF4-FFF2-40B4-BE49-F238E27FC236}">
                <a16:creationId xmlns:a16="http://schemas.microsoft.com/office/drawing/2014/main" id="{D65E21A5-DB91-17DD-9935-ABF9490089AE}"/>
              </a:ext>
            </a:extLst>
          </p:cNvPr>
          <p:cNvSpPr/>
          <p:nvPr/>
        </p:nvSpPr>
        <p:spPr>
          <a:xfrm>
            <a:off x="6317875" y="6295230"/>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3</a:t>
            </a:r>
            <a:endParaRPr lang="es-EC" b="1" dirty="0"/>
          </a:p>
        </p:txBody>
      </p:sp>
      <p:sp>
        <p:nvSpPr>
          <p:cNvPr id="4" name="CuadroTexto 3">
            <a:extLst>
              <a:ext uri="{FF2B5EF4-FFF2-40B4-BE49-F238E27FC236}">
                <a16:creationId xmlns:a16="http://schemas.microsoft.com/office/drawing/2014/main" id="{62DF25F4-380D-4EC3-E4D8-B3D7DBCC83CA}"/>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0" name="Google Shape;116;p15">
            <a:extLst>
              <a:ext uri="{FF2B5EF4-FFF2-40B4-BE49-F238E27FC236}">
                <a16:creationId xmlns:a16="http://schemas.microsoft.com/office/drawing/2014/main" id="{8BF11368-853D-3138-C0D1-1850F54690DD}"/>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2618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3407702D-91D4-4BA4-FF60-F03B5FEC6729}"/>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841908C3-35D0-9942-FDFA-6690A25385D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DC8B3199-301B-5B56-A45F-0BBB0C519C72}"/>
              </a:ext>
            </a:extLst>
          </p:cNvPr>
          <p:cNvSpPr txBox="1">
            <a:spLocks noGrp="1"/>
          </p:cNvSpPr>
          <p:nvPr>
            <p:ph type="body" idx="1"/>
          </p:nvPr>
        </p:nvSpPr>
        <p:spPr>
          <a:xfrm>
            <a:off x="404391" y="2418012"/>
            <a:ext cx="3941871" cy="1633500"/>
          </a:xfrm>
          <a:prstGeom prst="rect">
            <a:avLst/>
          </a:prstGeom>
          <a:noFill/>
          <a:ln>
            <a:noFill/>
          </a:ln>
        </p:spPr>
        <p:txBody>
          <a:bodyPr spcFirstLastPara="1" wrap="square" lIns="91425" tIns="45700" rIns="91425" bIns="45700" anchor="ctr" anchorCtr="0">
            <a:normAutofit/>
          </a:bodyPr>
          <a:lstStyle/>
          <a:p>
            <a:pPr marL="0" lvl="0" indent="0" algn="just">
              <a:lnSpc>
                <a:spcPct val="107000"/>
              </a:lnSpc>
              <a:spcBef>
                <a:spcPts val="0"/>
              </a:spcBef>
              <a:buSzPts val="1785"/>
              <a:buNone/>
            </a:pPr>
            <a:r>
              <a:rPr lang="es-ES" dirty="0">
                <a:latin typeface="Cambria" panose="02040503050406030204" pitchFamily="18" charset="0"/>
                <a:ea typeface="Cambria" panose="02040503050406030204" pitchFamily="18" charset="0"/>
              </a:rPr>
              <a:t>El proyecto que se va a usar es el de: Biblioteca de clases (.NET Framework)  el cual seleccionamos</a:t>
            </a:r>
            <a:endParaRPr dirty="0">
              <a:latin typeface="Cambria" panose="02040503050406030204" pitchFamily="18" charset="0"/>
              <a:ea typeface="Cambria" panose="02040503050406030204" pitchFamily="18" charset="0"/>
              <a:cs typeface="Cambria"/>
              <a:sym typeface="Cambria"/>
            </a:endParaRPr>
          </a:p>
        </p:txBody>
      </p:sp>
      <p:sp>
        <p:nvSpPr>
          <p:cNvPr id="6" name="Google Shape;122;p16">
            <a:extLst>
              <a:ext uri="{FF2B5EF4-FFF2-40B4-BE49-F238E27FC236}">
                <a16:creationId xmlns:a16="http://schemas.microsoft.com/office/drawing/2014/main" id="{7F974DD4-B4BD-1BA7-92F0-BA2BCEFC4935}"/>
              </a:ext>
            </a:extLst>
          </p:cNvPr>
          <p:cNvSpPr txBox="1">
            <a:spLocks/>
          </p:cNvSpPr>
          <p:nvPr/>
        </p:nvSpPr>
        <p:spPr>
          <a:xfrm>
            <a:off x="4869392" y="2141623"/>
            <a:ext cx="394187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debe asignar nombre al proyecto y asignar su ubicación, como será la parte que se vincula a la base de datos, se coloca .datos al final del nombre</a:t>
            </a:r>
            <a:endParaRPr lang="es-ES" dirty="0">
              <a:latin typeface="Cambria" panose="02040503050406030204" pitchFamily="18" charset="0"/>
              <a:ea typeface="Cambria" panose="02040503050406030204" pitchFamily="18" charset="0"/>
              <a:cs typeface="Cambria"/>
              <a:sym typeface="Cambria"/>
            </a:endParaRPr>
          </a:p>
        </p:txBody>
      </p:sp>
      <p:pic>
        <p:nvPicPr>
          <p:cNvPr id="4" name="Imagen 3">
            <a:extLst>
              <a:ext uri="{FF2B5EF4-FFF2-40B4-BE49-F238E27FC236}">
                <a16:creationId xmlns:a16="http://schemas.microsoft.com/office/drawing/2014/main" id="{2FE61522-41FD-AF57-8362-57B36B3E0978}"/>
              </a:ext>
            </a:extLst>
          </p:cNvPr>
          <p:cNvPicPr>
            <a:picLocks noChangeAspect="1"/>
          </p:cNvPicPr>
          <p:nvPr/>
        </p:nvPicPr>
        <p:blipFill>
          <a:blip r:embed="rId3"/>
          <a:stretch>
            <a:fillRect/>
          </a:stretch>
        </p:blipFill>
        <p:spPr>
          <a:xfrm>
            <a:off x="490571" y="3738397"/>
            <a:ext cx="3571559" cy="2326634"/>
          </a:xfrm>
          <a:prstGeom prst="rect">
            <a:avLst/>
          </a:prstGeom>
        </p:spPr>
      </p:pic>
      <p:pic>
        <p:nvPicPr>
          <p:cNvPr id="8" name="Imagen 7">
            <a:extLst>
              <a:ext uri="{FF2B5EF4-FFF2-40B4-BE49-F238E27FC236}">
                <a16:creationId xmlns:a16="http://schemas.microsoft.com/office/drawing/2014/main" id="{61A07303-3B01-BB52-DCB9-E9AA5B9A1A08}"/>
              </a:ext>
            </a:extLst>
          </p:cNvPr>
          <p:cNvPicPr>
            <a:picLocks noChangeAspect="1"/>
          </p:cNvPicPr>
          <p:nvPr/>
        </p:nvPicPr>
        <p:blipFill>
          <a:blip r:embed="rId4"/>
          <a:stretch>
            <a:fillRect/>
          </a:stretch>
        </p:blipFill>
        <p:spPr>
          <a:xfrm>
            <a:off x="4956904" y="3690182"/>
            <a:ext cx="3816150" cy="2465662"/>
          </a:xfrm>
          <a:prstGeom prst="rect">
            <a:avLst/>
          </a:prstGeom>
        </p:spPr>
      </p:pic>
      <p:sp>
        <p:nvSpPr>
          <p:cNvPr id="5" name="Elipse 4">
            <a:extLst>
              <a:ext uri="{FF2B5EF4-FFF2-40B4-BE49-F238E27FC236}">
                <a16:creationId xmlns:a16="http://schemas.microsoft.com/office/drawing/2014/main" id="{124177A1-6E74-E580-97C1-047ABBD9AF79}"/>
              </a:ext>
            </a:extLst>
          </p:cNvPr>
          <p:cNvSpPr/>
          <p:nvPr/>
        </p:nvSpPr>
        <p:spPr>
          <a:xfrm>
            <a:off x="1488086" y="6265083"/>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4</a:t>
            </a:r>
            <a:endParaRPr lang="es-EC" b="1" dirty="0"/>
          </a:p>
        </p:txBody>
      </p:sp>
      <p:sp>
        <p:nvSpPr>
          <p:cNvPr id="7" name="Elipse 6">
            <a:extLst>
              <a:ext uri="{FF2B5EF4-FFF2-40B4-BE49-F238E27FC236}">
                <a16:creationId xmlns:a16="http://schemas.microsoft.com/office/drawing/2014/main" id="{B853DEE0-2F17-EEA0-2997-452B38E3D30A}"/>
              </a:ext>
            </a:extLst>
          </p:cNvPr>
          <p:cNvSpPr/>
          <p:nvPr/>
        </p:nvSpPr>
        <p:spPr>
          <a:xfrm>
            <a:off x="6317874" y="6185908"/>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5</a:t>
            </a:r>
            <a:endParaRPr lang="es-EC" b="1" dirty="0"/>
          </a:p>
        </p:txBody>
      </p:sp>
      <p:sp>
        <p:nvSpPr>
          <p:cNvPr id="9" name="CuadroTexto 8">
            <a:extLst>
              <a:ext uri="{FF2B5EF4-FFF2-40B4-BE49-F238E27FC236}">
                <a16:creationId xmlns:a16="http://schemas.microsoft.com/office/drawing/2014/main" id="{617BF880-86B6-5656-4131-C51E62AA5FB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0" name="Google Shape;116;p15">
            <a:extLst>
              <a:ext uri="{FF2B5EF4-FFF2-40B4-BE49-F238E27FC236}">
                <a16:creationId xmlns:a16="http://schemas.microsoft.com/office/drawing/2014/main" id="{079A4AA3-BEFA-3A5F-77C4-A08E90ED99D9}"/>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6083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8A8ECC6E-270A-F4D3-558B-66AC51528657}"/>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959264A6-D321-6CBC-2CAD-A56C0F09CA0B}"/>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1CAB1F41-88AC-93C0-C367-549DBA46D80B}"/>
              </a:ext>
            </a:extLst>
          </p:cNvPr>
          <p:cNvSpPr txBox="1">
            <a:spLocks noGrp="1"/>
          </p:cNvSpPr>
          <p:nvPr>
            <p:ph type="body" idx="1"/>
          </p:nvPr>
        </p:nvSpPr>
        <p:spPr>
          <a:xfrm>
            <a:off x="404391" y="2418012"/>
            <a:ext cx="3941871" cy="1633500"/>
          </a:xfrm>
          <a:prstGeom prst="rect">
            <a:avLst/>
          </a:prstGeom>
          <a:noFill/>
          <a:ln>
            <a:noFill/>
          </a:ln>
        </p:spPr>
        <p:txBody>
          <a:bodyPr spcFirstLastPara="1" wrap="square" lIns="91425" tIns="45700" rIns="91425" bIns="45700" anchor="ctr" anchorCtr="0">
            <a:normAutofit/>
          </a:bodyPr>
          <a:lstStyle/>
          <a:p>
            <a:pPr marL="0" lvl="0" indent="0" algn="just">
              <a:lnSpc>
                <a:spcPct val="107000"/>
              </a:lnSpc>
              <a:spcBef>
                <a:spcPts val="0"/>
              </a:spcBef>
              <a:buSzPts val="1785"/>
              <a:buNone/>
            </a:pPr>
            <a:r>
              <a:rPr lang="es-ES" dirty="0">
                <a:latin typeface="Cambria" panose="02040503050406030204" pitchFamily="18" charset="0"/>
                <a:ea typeface="Cambria" panose="02040503050406030204" pitchFamily="18" charset="0"/>
              </a:rPr>
              <a:t>Se debe crear un nuevo proyecto, luego se debe seleccionar la plantilla de Aplicación de servicios WCF, a la cual se le debe asignar nombre y ubicación.</a:t>
            </a:r>
          </a:p>
        </p:txBody>
      </p:sp>
      <p:sp>
        <p:nvSpPr>
          <p:cNvPr id="6" name="Google Shape;122;p16">
            <a:extLst>
              <a:ext uri="{FF2B5EF4-FFF2-40B4-BE49-F238E27FC236}">
                <a16:creationId xmlns:a16="http://schemas.microsoft.com/office/drawing/2014/main" id="{C330C56B-5015-BF91-D20B-1009F7D44E1C}"/>
              </a:ext>
            </a:extLst>
          </p:cNvPr>
          <p:cNvSpPr txBox="1">
            <a:spLocks/>
          </p:cNvSpPr>
          <p:nvPr/>
        </p:nvSpPr>
        <p:spPr>
          <a:xfrm>
            <a:off x="4894044" y="2418012"/>
            <a:ext cx="394187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En el proyecto WFC se debe asignar una nueva referencia</a:t>
            </a:r>
          </a:p>
        </p:txBody>
      </p:sp>
      <p:pic>
        <p:nvPicPr>
          <p:cNvPr id="9" name="Imagen 8">
            <a:extLst>
              <a:ext uri="{FF2B5EF4-FFF2-40B4-BE49-F238E27FC236}">
                <a16:creationId xmlns:a16="http://schemas.microsoft.com/office/drawing/2014/main" id="{E691A613-627C-7B4A-77D8-6D776E64DB6A}"/>
              </a:ext>
            </a:extLst>
          </p:cNvPr>
          <p:cNvPicPr>
            <a:picLocks noChangeAspect="1"/>
          </p:cNvPicPr>
          <p:nvPr/>
        </p:nvPicPr>
        <p:blipFill>
          <a:blip r:embed="rId3"/>
          <a:stretch>
            <a:fillRect/>
          </a:stretch>
        </p:blipFill>
        <p:spPr>
          <a:xfrm>
            <a:off x="455471" y="4223528"/>
            <a:ext cx="3941871" cy="2538537"/>
          </a:xfrm>
          <a:prstGeom prst="rect">
            <a:avLst/>
          </a:prstGeom>
        </p:spPr>
      </p:pic>
      <p:pic>
        <p:nvPicPr>
          <p:cNvPr id="10" name="Imagen 9">
            <a:extLst>
              <a:ext uri="{FF2B5EF4-FFF2-40B4-BE49-F238E27FC236}">
                <a16:creationId xmlns:a16="http://schemas.microsoft.com/office/drawing/2014/main" id="{3199784F-7A52-6771-219F-2518DFD2A476}"/>
              </a:ext>
            </a:extLst>
          </p:cNvPr>
          <p:cNvPicPr>
            <a:picLocks noChangeAspect="1"/>
          </p:cNvPicPr>
          <p:nvPr/>
        </p:nvPicPr>
        <p:blipFill>
          <a:blip r:embed="rId4"/>
          <a:stretch>
            <a:fillRect/>
          </a:stretch>
        </p:blipFill>
        <p:spPr>
          <a:xfrm>
            <a:off x="4945124" y="3934926"/>
            <a:ext cx="4217903" cy="2414437"/>
          </a:xfrm>
          <a:prstGeom prst="rect">
            <a:avLst/>
          </a:prstGeom>
        </p:spPr>
      </p:pic>
      <p:sp>
        <p:nvSpPr>
          <p:cNvPr id="11" name="Elipse 10">
            <a:extLst>
              <a:ext uri="{FF2B5EF4-FFF2-40B4-BE49-F238E27FC236}">
                <a16:creationId xmlns:a16="http://schemas.microsoft.com/office/drawing/2014/main" id="{54CDCF5C-DDF1-0FCC-B4B8-D79764947E5E}"/>
              </a:ext>
            </a:extLst>
          </p:cNvPr>
          <p:cNvSpPr/>
          <p:nvPr/>
        </p:nvSpPr>
        <p:spPr>
          <a:xfrm>
            <a:off x="2556395" y="3838866"/>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6</a:t>
            </a:r>
            <a:endParaRPr lang="es-EC" b="1" dirty="0"/>
          </a:p>
        </p:txBody>
      </p:sp>
      <p:sp>
        <p:nvSpPr>
          <p:cNvPr id="12" name="Elipse 11">
            <a:extLst>
              <a:ext uri="{FF2B5EF4-FFF2-40B4-BE49-F238E27FC236}">
                <a16:creationId xmlns:a16="http://schemas.microsoft.com/office/drawing/2014/main" id="{6EFE193A-5E1D-0FB8-B115-DA1F2C00A3C6}"/>
              </a:ext>
            </a:extLst>
          </p:cNvPr>
          <p:cNvSpPr/>
          <p:nvPr/>
        </p:nvSpPr>
        <p:spPr>
          <a:xfrm>
            <a:off x="7685268" y="3486865"/>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7</a:t>
            </a:r>
            <a:endParaRPr lang="es-EC" b="1" dirty="0"/>
          </a:p>
        </p:txBody>
      </p:sp>
      <p:sp>
        <p:nvSpPr>
          <p:cNvPr id="4" name="CuadroTexto 3">
            <a:extLst>
              <a:ext uri="{FF2B5EF4-FFF2-40B4-BE49-F238E27FC236}">
                <a16:creationId xmlns:a16="http://schemas.microsoft.com/office/drawing/2014/main" id="{18FA0291-D06F-C7D9-6D65-4630B12674D0}"/>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5" name="Google Shape;116;p15">
            <a:extLst>
              <a:ext uri="{FF2B5EF4-FFF2-40B4-BE49-F238E27FC236}">
                <a16:creationId xmlns:a16="http://schemas.microsoft.com/office/drawing/2014/main" id="{AB2DAEBD-1589-3C4D-5138-F5E8F8AA865B}"/>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024969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5D9EA4A7-B1CB-1423-0C5D-1614D98A5C5E}"/>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D0545448-5DF4-5716-38A4-FD253A501FDA}"/>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09DD7414-501A-CAE0-0EDE-9CA100563C9E}"/>
              </a:ext>
            </a:extLst>
          </p:cNvPr>
          <p:cNvSpPr txBox="1">
            <a:spLocks noGrp="1"/>
          </p:cNvSpPr>
          <p:nvPr>
            <p:ph type="body" idx="1"/>
          </p:nvPr>
        </p:nvSpPr>
        <p:spPr>
          <a:xfrm>
            <a:off x="404391" y="2418012"/>
            <a:ext cx="3941871" cy="1633500"/>
          </a:xfrm>
          <a:prstGeom prst="rect">
            <a:avLst/>
          </a:prstGeom>
          <a:noFill/>
          <a:ln>
            <a:noFill/>
          </a:ln>
        </p:spPr>
        <p:txBody>
          <a:bodyPr spcFirstLastPara="1" wrap="square" lIns="91425" tIns="45700" rIns="91425" bIns="45700" anchor="ctr" anchorCtr="0">
            <a:normAutofit/>
          </a:bodyPr>
          <a:lstStyle/>
          <a:p>
            <a:pPr marL="0" lvl="0" indent="0" algn="just">
              <a:lnSpc>
                <a:spcPct val="107000"/>
              </a:lnSpc>
              <a:spcBef>
                <a:spcPts val="0"/>
              </a:spcBef>
              <a:buSzPts val="1785"/>
              <a:buNone/>
            </a:pPr>
            <a:r>
              <a:rPr lang="es-ES" dirty="0">
                <a:latin typeface="Cambria" panose="02040503050406030204" pitchFamily="18" charset="0"/>
                <a:ea typeface="Cambria" panose="02040503050406030204" pitchFamily="18" charset="0"/>
              </a:rPr>
              <a:t>Se ubica y se realiza la respectiva referencia al proyecto.</a:t>
            </a:r>
          </a:p>
        </p:txBody>
      </p:sp>
      <p:sp>
        <p:nvSpPr>
          <p:cNvPr id="6" name="Google Shape;122;p16">
            <a:extLst>
              <a:ext uri="{FF2B5EF4-FFF2-40B4-BE49-F238E27FC236}">
                <a16:creationId xmlns:a16="http://schemas.microsoft.com/office/drawing/2014/main" id="{4383003B-B3E5-482F-091B-DFC225F1901D}"/>
              </a:ext>
            </a:extLst>
          </p:cNvPr>
          <p:cNvSpPr txBox="1">
            <a:spLocks/>
          </p:cNvSpPr>
          <p:nvPr/>
        </p:nvSpPr>
        <p:spPr>
          <a:xfrm>
            <a:off x="4894044" y="2418012"/>
            <a:ext cx="394187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agrega el correspondiente nombre a la nueva solución creada.</a:t>
            </a:r>
          </a:p>
        </p:txBody>
      </p:sp>
      <p:sp>
        <p:nvSpPr>
          <p:cNvPr id="11" name="Elipse 10">
            <a:extLst>
              <a:ext uri="{FF2B5EF4-FFF2-40B4-BE49-F238E27FC236}">
                <a16:creationId xmlns:a16="http://schemas.microsoft.com/office/drawing/2014/main" id="{9C3949EF-C5F5-5E3D-F74A-2F79C13AF5FD}"/>
              </a:ext>
            </a:extLst>
          </p:cNvPr>
          <p:cNvSpPr/>
          <p:nvPr/>
        </p:nvSpPr>
        <p:spPr>
          <a:xfrm>
            <a:off x="2733166" y="3603451"/>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8</a:t>
            </a:r>
            <a:endParaRPr lang="es-EC" b="1" dirty="0"/>
          </a:p>
        </p:txBody>
      </p:sp>
      <p:sp>
        <p:nvSpPr>
          <p:cNvPr id="12" name="Elipse 11">
            <a:extLst>
              <a:ext uri="{FF2B5EF4-FFF2-40B4-BE49-F238E27FC236}">
                <a16:creationId xmlns:a16="http://schemas.microsoft.com/office/drawing/2014/main" id="{088366A1-1404-27AA-AA32-F62F3F0E1A4A}"/>
              </a:ext>
            </a:extLst>
          </p:cNvPr>
          <p:cNvSpPr/>
          <p:nvPr/>
        </p:nvSpPr>
        <p:spPr>
          <a:xfrm>
            <a:off x="7685268" y="3486865"/>
            <a:ext cx="1094210"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9</a:t>
            </a:r>
            <a:endParaRPr lang="es-EC" b="1" dirty="0"/>
          </a:p>
        </p:txBody>
      </p:sp>
      <p:pic>
        <p:nvPicPr>
          <p:cNvPr id="4" name="Imagen 3">
            <a:extLst>
              <a:ext uri="{FF2B5EF4-FFF2-40B4-BE49-F238E27FC236}">
                <a16:creationId xmlns:a16="http://schemas.microsoft.com/office/drawing/2014/main" id="{C1E382CD-BEB8-5F55-A2DC-4CC81EEBA8CD}"/>
              </a:ext>
            </a:extLst>
          </p:cNvPr>
          <p:cNvPicPr>
            <a:picLocks noChangeAspect="1"/>
          </p:cNvPicPr>
          <p:nvPr/>
        </p:nvPicPr>
        <p:blipFill>
          <a:blip r:embed="rId3"/>
          <a:stretch>
            <a:fillRect/>
          </a:stretch>
        </p:blipFill>
        <p:spPr>
          <a:xfrm>
            <a:off x="493694" y="4088642"/>
            <a:ext cx="3763263" cy="2576476"/>
          </a:xfrm>
          <a:prstGeom prst="rect">
            <a:avLst/>
          </a:prstGeom>
        </p:spPr>
      </p:pic>
      <p:pic>
        <p:nvPicPr>
          <p:cNvPr id="5" name="Imagen 4">
            <a:extLst>
              <a:ext uri="{FF2B5EF4-FFF2-40B4-BE49-F238E27FC236}">
                <a16:creationId xmlns:a16="http://schemas.microsoft.com/office/drawing/2014/main" id="{892E8FCE-4A39-0316-CCAA-A00FA9859D44}"/>
              </a:ext>
            </a:extLst>
          </p:cNvPr>
          <p:cNvPicPr>
            <a:picLocks noChangeAspect="1"/>
          </p:cNvPicPr>
          <p:nvPr/>
        </p:nvPicPr>
        <p:blipFill>
          <a:blip r:embed="rId4"/>
          <a:stretch>
            <a:fillRect/>
          </a:stretch>
        </p:blipFill>
        <p:spPr>
          <a:xfrm>
            <a:off x="4894044" y="4016188"/>
            <a:ext cx="4189350" cy="2721384"/>
          </a:xfrm>
          <a:prstGeom prst="rect">
            <a:avLst/>
          </a:prstGeom>
        </p:spPr>
      </p:pic>
      <p:sp>
        <p:nvSpPr>
          <p:cNvPr id="7" name="CuadroTexto 6">
            <a:extLst>
              <a:ext uri="{FF2B5EF4-FFF2-40B4-BE49-F238E27FC236}">
                <a16:creationId xmlns:a16="http://schemas.microsoft.com/office/drawing/2014/main" id="{63F32F2A-BF09-733E-7439-3DD23B18721E}"/>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8" name="Google Shape;116;p15">
            <a:extLst>
              <a:ext uri="{FF2B5EF4-FFF2-40B4-BE49-F238E27FC236}">
                <a16:creationId xmlns:a16="http://schemas.microsoft.com/office/drawing/2014/main" id="{E3A92E53-94AC-1871-5946-716A1CC4605A}"/>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02179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10E5D69C-AD3C-58F3-96F3-2A237F997794}"/>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E62028E6-B643-AD30-0EE7-33A1B32CEEF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C32C63D0-53D9-42C4-EB46-F431B34CF913}"/>
              </a:ext>
            </a:extLst>
          </p:cNvPr>
          <p:cNvSpPr txBox="1">
            <a:spLocks noGrp="1"/>
          </p:cNvSpPr>
          <p:nvPr>
            <p:ph type="body" idx="1"/>
          </p:nvPr>
        </p:nvSpPr>
        <p:spPr>
          <a:xfrm>
            <a:off x="467765" y="2301426"/>
            <a:ext cx="7245787"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debe seleccionar </a:t>
            </a:r>
            <a:r>
              <a:rPr lang="es-ES" dirty="0" err="1">
                <a:latin typeface="Cambria" panose="02040503050406030204" pitchFamily="18" charset="0"/>
                <a:ea typeface="Cambria" panose="02040503050406030204" pitchFamily="18" charset="0"/>
              </a:rPr>
              <a:t>federacion.datos</a:t>
            </a:r>
            <a:r>
              <a:rPr lang="es-ES" dirty="0">
                <a:latin typeface="Cambria" panose="02040503050406030204" pitchFamily="18" charset="0"/>
                <a:ea typeface="Cambria" panose="02040503050406030204" pitchFamily="18" charset="0"/>
              </a:rPr>
              <a:t> y se debe agregar un nuevo elemento.</a:t>
            </a:r>
            <a:br>
              <a:rPr lang="es-ES" dirty="0">
                <a:latin typeface="Cambria" panose="02040503050406030204" pitchFamily="18" charset="0"/>
                <a:ea typeface="Cambria" panose="02040503050406030204" pitchFamily="18" charset="0"/>
              </a:rPr>
            </a:br>
            <a:r>
              <a:rPr lang="es-ES" dirty="0">
                <a:latin typeface="Cambria" panose="02040503050406030204" pitchFamily="18" charset="0"/>
                <a:ea typeface="Cambria" panose="02040503050406030204" pitchFamily="18" charset="0"/>
              </a:rPr>
              <a:t>Aquí se debe seleccionar la plantilla de ADO.NET </a:t>
            </a:r>
            <a:r>
              <a:rPr lang="es-ES" dirty="0" err="1">
                <a:latin typeface="Cambria" panose="02040503050406030204" pitchFamily="18" charset="0"/>
                <a:ea typeface="Cambria" panose="02040503050406030204" pitchFamily="18" charset="0"/>
              </a:rPr>
              <a:t>Entity</a:t>
            </a:r>
            <a:r>
              <a:rPr lang="es-ES" dirty="0">
                <a:latin typeface="Cambria" panose="02040503050406030204" pitchFamily="18" charset="0"/>
                <a:ea typeface="Cambria" panose="02040503050406030204" pitchFamily="18" charset="0"/>
              </a:rPr>
              <a:t> Data Model  en el apartado de datos, donde se asigna un nombre y se agrega</a:t>
            </a:r>
          </a:p>
        </p:txBody>
      </p:sp>
      <p:sp>
        <p:nvSpPr>
          <p:cNvPr id="11" name="Elipse 10">
            <a:extLst>
              <a:ext uri="{FF2B5EF4-FFF2-40B4-BE49-F238E27FC236}">
                <a16:creationId xmlns:a16="http://schemas.microsoft.com/office/drawing/2014/main" id="{A0AEA1C6-F1AA-746C-F7B9-D08AF3253590}"/>
              </a:ext>
            </a:extLst>
          </p:cNvPr>
          <p:cNvSpPr/>
          <p:nvPr/>
        </p:nvSpPr>
        <p:spPr>
          <a:xfrm>
            <a:off x="7776926" y="257062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10</a:t>
            </a:r>
            <a:endParaRPr lang="es-EC" b="1" dirty="0"/>
          </a:p>
        </p:txBody>
      </p:sp>
      <p:pic>
        <p:nvPicPr>
          <p:cNvPr id="8" name="Imagen 7">
            <a:extLst>
              <a:ext uri="{FF2B5EF4-FFF2-40B4-BE49-F238E27FC236}">
                <a16:creationId xmlns:a16="http://schemas.microsoft.com/office/drawing/2014/main" id="{585E286E-46FB-1131-1324-BBC815C066BD}"/>
              </a:ext>
            </a:extLst>
          </p:cNvPr>
          <p:cNvPicPr>
            <a:picLocks noChangeAspect="1"/>
          </p:cNvPicPr>
          <p:nvPr/>
        </p:nvPicPr>
        <p:blipFill>
          <a:blip r:embed="rId3"/>
          <a:stretch>
            <a:fillRect/>
          </a:stretch>
        </p:blipFill>
        <p:spPr>
          <a:xfrm>
            <a:off x="274589" y="3877342"/>
            <a:ext cx="4313810" cy="2803051"/>
          </a:xfrm>
          <a:prstGeom prst="rect">
            <a:avLst/>
          </a:prstGeom>
        </p:spPr>
      </p:pic>
      <p:pic>
        <p:nvPicPr>
          <p:cNvPr id="9" name="Imagen 8">
            <a:extLst>
              <a:ext uri="{FF2B5EF4-FFF2-40B4-BE49-F238E27FC236}">
                <a16:creationId xmlns:a16="http://schemas.microsoft.com/office/drawing/2014/main" id="{5A0C5ADE-37F3-71CF-787E-477756F50DF8}"/>
              </a:ext>
            </a:extLst>
          </p:cNvPr>
          <p:cNvPicPr>
            <a:picLocks noChangeAspect="1"/>
          </p:cNvPicPr>
          <p:nvPr/>
        </p:nvPicPr>
        <p:blipFill>
          <a:blip r:embed="rId4"/>
          <a:stretch>
            <a:fillRect/>
          </a:stretch>
        </p:blipFill>
        <p:spPr>
          <a:xfrm>
            <a:off x="4981025" y="3839311"/>
            <a:ext cx="4010046" cy="2745467"/>
          </a:xfrm>
          <a:prstGeom prst="rect">
            <a:avLst/>
          </a:prstGeom>
        </p:spPr>
      </p:pic>
      <p:sp>
        <p:nvSpPr>
          <p:cNvPr id="4" name="CuadroTexto 3">
            <a:extLst>
              <a:ext uri="{FF2B5EF4-FFF2-40B4-BE49-F238E27FC236}">
                <a16:creationId xmlns:a16="http://schemas.microsoft.com/office/drawing/2014/main" id="{AB048B79-ACFE-AFA5-667F-C8E6C2B9D978}"/>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5" name="Google Shape;116;p15">
            <a:extLst>
              <a:ext uri="{FF2B5EF4-FFF2-40B4-BE49-F238E27FC236}">
                <a16:creationId xmlns:a16="http://schemas.microsoft.com/office/drawing/2014/main" id="{0C399A46-77FF-739A-C531-6DDA80C672F1}"/>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23182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F362B659-F636-620B-283B-7766BA05A65B}"/>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A031FEDD-0B2F-F901-24FA-5C062A3F2819}"/>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FDE991D5-296F-58DB-D296-76A9156243F4}"/>
              </a:ext>
            </a:extLst>
          </p:cNvPr>
          <p:cNvSpPr txBox="1">
            <a:spLocks noGrp="1"/>
          </p:cNvSpPr>
          <p:nvPr>
            <p:ph type="body" idx="1"/>
          </p:nvPr>
        </p:nvSpPr>
        <p:spPr>
          <a:xfrm>
            <a:off x="498260" y="1915458"/>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selecciona el EF </a:t>
            </a:r>
            <a:r>
              <a:rPr lang="es-ES" dirty="0" err="1">
                <a:latin typeface="Cambria" panose="02040503050406030204" pitchFamily="18" charset="0"/>
                <a:ea typeface="Cambria" panose="02040503050406030204" pitchFamily="18" charset="0"/>
              </a:rPr>
              <a:t>Designer</a:t>
            </a:r>
            <a:r>
              <a:rPr lang="es-ES" dirty="0">
                <a:latin typeface="Cambria" panose="02040503050406030204" pitchFamily="18" charset="0"/>
                <a:ea typeface="Cambria" panose="02040503050406030204" pitchFamily="18" charset="0"/>
              </a:rPr>
              <a:t> desde base de datos</a:t>
            </a:r>
          </a:p>
        </p:txBody>
      </p:sp>
      <p:sp>
        <p:nvSpPr>
          <p:cNvPr id="11" name="Elipse 10">
            <a:extLst>
              <a:ext uri="{FF2B5EF4-FFF2-40B4-BE49-F238E27FC236}">
                <a16:creationId xmlns:a16="http://schemas.microsoft.com/office/drawing/2014/main" id="{BDA52334-D168-BFA7-DFB5-9208D9C64C6D}"/>
              </a:ext>
            </a:extLst>
          </p:cNvPr>
          <p:cNvSpPr/>
          <p:nvPr/>
        </p:nvSpPr>
        <p:spPr>
          <a:xfrm>
            <a:off x="3848721" y="271150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10</a:t>
            </a:r>
            <a:endParaRPr lang="es-EC" b="1" dirty="0"/>
          </a:p>
        </p:txBody>
      </p:sp>
      <p:pic>
        <p:nvPicPr>
          <p:cNvPr id="4" name="Imagen 3">
            <a:extLst>
              <a:ext uri="{FF2B5EF4-FFF2-40B4-BE49-F238E27FC236}">
                <a16:creationId xmlns:a16="http://schemas.microsoft.com/office/drawing/2014/main" id="{4B6F8754-83BE-D8BC-46E0-2333B5D0E74B}"/>
              </a:ext>
            </a:extLst>
          </p:cNvPr>
          <p:cNvPicPr>
            <a:picLocks noChangeAspect="1"/>
          </p:cNvPicPr>
          <p:nvPr/>
        </p:nvPicPr>
        <p:blipFill>
          <a:blip r:embed="rId3"/>
          <a:stretch>
            <a:fillRect/>
          </a:stretch>
        </p:blipFill>
        <p:spPr>
          <a:xfrm>
            <a:off x="649433" y="3237875"/>
            <a:ext cx="2756853" cy="2960484"/>
          </a:xfrm>
          <a:prstGeom prst="rect">
            <a:avLst/>
          </a:prstGeom>
        </p:spPr>
      </p:pic>
      <p:sp>
        <p:nvSpPr>
          <p:cNvPr id="5" name="Google Shape;122;p16">
            <a:extLst>
              <a:ext uri="{FF2B5EF4-FFF2-40B4-BE49-F238E27FC236}">
                <a16:creationId xmlns:a16="http://schemas.microsoft.com/office/drawing/2014/main" id="{351BE61F-9B0C-61E4-5DC7-88E25EB78E82}"/>
              </a:ext>
            </a:extLst>
          </p:cNvPr>
          <p:cNvSpPr txBox="1">
            <a:spLocks/>
          </p:cNvSpPr>
          <p:nvPr/>
        </p:nvSpPr>
        <p:spPr>
          <a:xfrm>
            <a:off x="5209406" y="1961125"/>
            <a:ext cx="3738039"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configura las credenciales de la Base de datos de federación de futbol para poder establecer la conexión</a:t>
            </a:r>
          </a:p>
        </p:txBody>
      </p:sp>
      <p:pic>
        <p:nvPicPr>
          <p:cNvPr id="6" name="Imagen 5">
            <a:extLst>
              <a:ext uri="{FF2B5EF4-FFF2-40B4-BE49-F238E27FC236}">
                <a16:creationId xmlns:a16="http://schemas.microsoft.com/office/drawing/2014/main" id="{5FA3EED4-1EC8-3074-386B-ECDF77B5F598}"/>
              </a:ext>
            </a:extLst>
          </p:cNvPr>
          <p:cNvPicPr>
            <a:picLocks noChangeAspect="1"/>
          </p:cNvPicPr>
          <p:nvPr/>
        </p:nvPicPr>
        <p:blipFill>
          <a:blip r:embed="rId4"/>
          <a:stretch>
            <a:fillRect/>
          </a:stretch>
        </p:blipFill>
        <p:spPr>
          <a:xfrm>
            <a:off x="6531849" y="3237875"/>
            <a:ext cx="2253867" cy="3263375"/>
          </a:xfrm>
          <a:prstGeom prst="rect">
            <a:avLst/>
          </a:prstGeom>
        </p:spPr>
      </p:pic>
      <p:sp>
        <p:nvSpPr>
          <p:cNvPr id="7" name="CuadroTexto 6">
            <a:extLst>
              <a:ext uri="{FF2B5EF4-FFF2-40B4-BE49-F238E27FC236}">
                <a16:creationId xmlns:a16="http://schemas.microsoft.com/office/drawing/2014/main" id="{CF10F687-B053-9B1D-8F13-7EF8A6CA15EC}"/>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8" name="Google Shape;116;p15">
            <a:extLst>
              <a:ext uri="{FF2B5EF4-FFF2-40B4-BE49-F238E27FC236}">
                <a16:creationId xmlns:a16="http://schemas.microsoft.com/office/drawing/2014/main" id="{9AFD7565-0C1F-3B1A-4EB1-02DBAC17D8BC}"/>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36018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19ACD7E-33D5-D554-2A38-B4E79542BF72}"/>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F38F669E-A409-125F-A4C6-0F2C1E6D6426}"/>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B2EA52A4-8555-228B-14B3-87E1D75889B1}"/>
              </a:ext>
            </a:extLst>
          </p:cNvPr>
          <p:cNvSpPr txBox="1">
            <a:spLocks noGrp="1"/>
          </p:cNvSpPr>
          <p:nvPr>
            <p:ph type="body" idx="1"/>
          </p:nvPr>
        </p:nvSpPr>
        <p:spPr>
          <a:xfrm>
            <a:off x="499711" y="2393788"/>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Por cuestiones académicas se utiliza cadena de datos, así se puede ver en el código, para configuraciones futuras fácilmente</a:t>
            </a:r>
          </a:p>
        </p:txBody>
      </p:sp>
      <p:sp>
        <p:nvSpPr>
          <p:cNvPr id="11" name="Elipse 10">
            <a:extLst>
              <a:ext uri="{FF2B5EF4-FFF2-40B4-BE49-F238E27FC236}">
                <a16:creationId xmlns:a16="http://schemas.microsoft.com/office/drawing/2014/main" id="{1DB94609-858A-5E05-C51E-6EBB6FBA2F9F}"/>
              </a:ext>
            </a:extLst>
          </p:cNvPr>
          <p:cNvSpPr/>
          <p:nvPr/>
        </p:nvSpPr>
        <p:spPr>
          <a:xfrm>
            <a:off x="3848721" y="271150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10</a:t>
            </a:r>
            <a:endParaRPr lang="es-EC" b="1" dirty="0"/>
          </a:p>
        </p:txBody>
      </p:sp>
      <p:sp>
        <p:nvSpPr>
          <p:cNvPr id="5" name="Google Shape;122;p16">
            <a:extLst>
              <a:ext uri="{FF2B5EF4-FFF2-40B4-BE49-F238E27FC236}">
                <a16:creationId xmlns:a16="http://schemas.microsoft.com/office/drawing/2014/main" id="{ABE48BE1-5EAF-5B0B-B070-2C9C2A0D10F1}"/>
              </a:ext>
            </a:extLst>
          </p:cNvPr>
          <p:cNvSpPr txBox="1">
            <a:spLocks/>
          </p:cNvSpPr>
          <p:nvPr/>
        </p:nvSpPr>
        <p:spPr>
          <a:xfrm>
            <a:off x="5209406" y="1961125"/>
            <a:ext cx="3738039"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 Se selecciona la versión del ORM de </a:t>
            </a:r>
            <a:r>
              <a:rPr lang="es-ES" dirty="0" err="1">
                <a:latin typeface="Cambria" panose="02040503050406030204" pitchFamily="18" charset="0"/>
                <a:ea typeface="Cambria" panose="02040503050406030204" pitchFamily="18" charset="0"/>
              </a:rPr>
              <a:t>entity</a:t>
            </a:r>
            <a:r>
              <a:rPr lang="es-ES" dirty="0">
                <a:latin typeface="Cambria" panose="02040503050406030204" pitchFamily="18" charset="0"/>
                <a:ea typeface="Cambria" panose="02040503050406030204" pitchFamily="18" charset="0"/>
              </a:rPr>
              <a:t> Framework</a:t>
            </a:r>
          </a:p>
        </p:txBody>
      </p:sp>
      <p:pic>
        <p:nvPicPr>
          <p:cNvPr id="7" name="Imagen 6">
            <a:extLst>
              <a:ext uri="{FF2B5EF4-FFF2-40B4-BE49-F238E27FC236}">
                <a16:creationId xmlns:a16="http://schemas.microsoft.com/office/drawing/2014/main" id="{4370A18C-1112-0651-F22F-F26D6D6E94BB}"/>
              </a:ext>
            </a:extLst>
          </p:cNvPr>
          <p:cNvPicPr>
            <a:picLocks noChangeAspect="1"/>
          </p:cNvPicPr>
          <p:nvPr/>
        </p:nvPicPr>
        <p:blipFill>
          <a:blip r:embed="rId3"/>
          <a:stretch>
            <a:fillRect/>
          </a:stretch>
        </p:blipFill>
        <p:spPr>
          <a:xfrm>
            <a:off x="753133" y="4098955"/>
            <a:ext cx="2404397" cy="2582501"/>
          </a:xfrm>
          <a:prstGeom prst="rect">
            <a:avLst/>
          </a:prstGeom>
        </p:spPr>
      </p:pic>
      <p:pic>
        <p:nvPicPr>
          <p:cNvPr id="8" name="Imagen 7">
            <a:extLst>
              <a:ext uri="{FF2B5EF4-FFF2-40B4-BE49-F238E27FC236}">
                <a16:creationId xmlns:a16="http://schemas.microsoft.com/office/drawing/2014/main" id="{41C2893E-158D-FA45-F6F6-D1C841D5D4A1}"/>
              </a:ext>
            </a:extLst>
          </p:cNvPr>
          <p:cNvPicPr>
            <a:picLocks noChangeAspect="1"/>
          </p:cNvPicPr>
          <p:nvPr/>
        </p:nvPicPr>
        <p:blipFill>
          <a:blip r:embed="rId4"/>
          <a:stretch>
            <a:fillRect/>
          </a:stretch>
        </p:blipFill>
        <p:spPr>
          <a:xfrm>
            <a:off x="5603573" y="3245366"/>
            <a:ext cx="2867659" cy="3130596"/>
          </a:xfrm>
          <a:prstGeom prst="rect">
            <a:avLst/>
          </a:prstGeom>
        </p:spPr>
      </p:pic>
      <p:sp>
        <p:nvSpPr>
          <p:cNvPr id="4" name="CuadroTexto 3">
            <a:extLst>
              <a:ext uri="{FF2B5EF4-FFF2-40B4-BE49-F238E27FC236}">
                <a16:creationId xmlns:a16="http://schemas.microsoft.com/office/drawing/2014/main" id="{E460A5A3-B4B4-0864-8987-FC994DE5474D}"/>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6" name="Google Shape;116;p15">
            <a:extLst>
              <a:ext uri="{FF2B5EF4-FFF2-40B4-BE49-F238E27FC236}">
                <a16:creationId xmlns:a16="http://schemas.microsoft.com/office/drawing/2014/main" id="{AB395D4D-E667-151E-D474-0ACB36AAF678}"/>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63549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DDEE52DE-AA50-60D9-7A2D-968FC095892F}"/>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22B9D394-EED7-DE11-6962-A082B69D4EC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69A622DD-3498-3880-7C52-58D86487C657}"/>
              </a:ext>
            </a:extLst>
          </p:cNvPr>
          <p:cNvSpPr txBox="1">
            <a:spLocks noGrp="1"/>
          </p:cNvSpPr>
          <p:nvPr>
            <p:ph type="body" idx="1"/>
          </p:nvPr>
        </p:nvSpPr>
        <p:spPr>
          <a:xfrm>
            <a:off x="423496" y="1961125"/>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procede a la selección las tablas de la base de datos </a:t>
            </a:r>
          </a:p>
        </p:txBody>
      </p:sp>
      <p:sp>
        <p:nvSpPr>
          <p:cNvPr id="3" name="CuadroTexto 2">
            <a:extLst>
              <a:ext uri="{FF2B5EF4-FFF2-40B4-BE49-F238E27FC236}">
                <a16:creationId xmlns:a16="http://schemas.microsoft.com/office/drawing/2014/main" id="{0B7AFB56-10C6-AC71-AD0B-2783103EC4FD}"/>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1" name="Elipse 10">
            <a:extLst>
              <a:ext uri="{FF2B5EF4-FFF2-40B4-BE49-F238E27FC236}">
                <a16:creationId xmlns:a16="http://schemas.microsoft.com/office/drawing/2014/main" id="{46EFD801-359F-5E6C-DBC3-B2175D05A44E}"/>
              </a:ext>
            </a:extLst>
          </p:cNvPr>
          <p:cNvSpPr/>
          <p:nvPr/>
        </p:nvSpPr>
        <p:spPr>
          <a:xfrm>
            <a:off x="2567834" y="3047711"/>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10</a:t>
            </a:r>
            <a:endParaRPr lang="es-EC" b="1" dirty="0"/>
          </a:p>
        </p:txBody>
      </p:sp>
      <p:pic>
        <p:nvPicPr>
          <p:cNvPr id="4" name="Imagen 3">
            <a:extLst>
              <a:ext uri="{FF2B5EF4-FFF2-40B4-BE49-F238E27FC236}">
                <a16:creationId xmlns:a16="http://schemas.microsoft.com/office/drawing/2014/main" id="{D8A6D246-1743-156D-A4E8-C4AB2AE90067}"/>
              </a:ext>
            </a:extLst>
          </p:cNvPr>
          <p:cNvPicPr>
            <a:picLocks noChangeAspect="1"/>
          </p:cNvPicPr>
          <p:nvPr/>
        </p:nvPicPr>
        <p:blipFill>
          <a:blip r:embed="rId3"/>
          <a:stretch>
            <a:fillRect/>
          </a:stretch>
        </p:blipFill>
        <p:spPr>
          <a:xfrm>
            <a:off x="625550" y="3594625"/>
            <a:ext cx="2829858" cy="3101882"/>
          </a:xfrm>
          <a:prstGeom prst="rect">
            <a:avLst/>
          </a:prstGeom>
        </p:spPr>
      </p:pic>
      <p:sp>
        <p:nvSpPr>
          <p:cNvPr id="6" name="Google Shape;122;p16">
            <a:extLst>
              <a:ext uri="{FF2B5EF4-FFF2-40B4-BE49-F238E27FC236}">
                <a16:creationId xmlns:a16="http://schemas.microsoft.com/office/drawing/2014/main" id="{B3062791-CF78-51FB-A1D0-9C0FD6056C58}"/>
              </a:ext>
            </a:extLst>
          </p:cNvPr>
          <p:cNvSpPr txBox="1">
            <a:spLocks/>
          </p:cNvSpPr>
          <p:nvPr/>
        </p:nvSpPr>
        <p:spPr>
          <a:xfrm>
            <a:off x="4415794" y="2230961"/>
            <a:ext cx="4656612"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debe colocar la cadena de conexión dentro del archivo de </a:t>
            </a:r>
            <a:r>
              <a:rPr lang="es-ES" dirty="0" err="1">
                <a:latin typeface="Cambria" panose="02040503050406030204" pitchFamily="18" charset="0"/>
                <a:ea typeface="Cambria" panose="02040503050406030204" pitchFamily="18" charset="0"/>
              </a:rPr>
              <a:t>web.config</a:t>
            </a:r>
            <a:r>
              <a:rPr lang="es-ES" dirty="0">
                <a:latin typeface="Cambria" panose="02040503050406030204" pitchFamily="18" charset="0"/>
                <a:ea typeface="Cambria" panose="02040503050406030204" pitchFamily="18" charset="0"/>
              </a:rPr>
              <a:t> para poder establecer la conexión a la BD con las credenciales correspondientes</a:t>
            </a:r>
          </a:p>
        </p:txBody>
      </p:sp>
      <p:pic>
        <p:nvPicPr>
          <p:cNvPr id="9" name="Imagen 8">
            <a:extLst>
              <a:ext uri="{FF2B5EF4-FFF2-40B4-BE49-F238E27FC236}">
                <a16:creationId xmlns:a16="http://schemas.microsoft.com/office/drawing/2014/main" id="{C8F5E26F-E9C7-8C12-0833-8E0DF22D4BAC}"/>
              </a:ext>
            </a:extLst>
          </p:cNvPr>
          <p:cNvPicPr>
            <a:picLocks noChangeAspect="1"/>
          </p:cNvPicPr>
          <p:nvPr/>
        </p:nvPicPr>
        <p:blipFill>
          <a:blip r:embed="rId4"/>
          <a:stretch>
            <a:fillRect/>
          </a:stretch>
        </p:blipFill>
        <p:spPr>
          <a:xfrm>
            <a:off x="3993590" y="4379566"/>
            <a:ext cx="5078816" cy="2212685"/>
          </a:xfrm>
          <a:prstGeom prst="rect">
            <a:avLst/>
          </a:prstGeom>
        </p:spPr>
      </p:pic>
      <p:sp>
        <p:nvSpPr>
          <p:cNvPr id="10" name="Elipse 9">
            <a:extLst>
              <a:ext uri="{FF2B5EF4-FFF2-40B4-BE49-F238E27FC236}">
                <a16:creationId xmlns:a16="http://schemas.microsoft.com/office/drawing/2014/main" id="{13D5678F-0264-7486-D777-DCA62A42B83B}"/>
              </a:ext>
            </a:extLst>
          </p:cNvPr>
          <p:cNvSpPr/>
          <p:nvPr/>
        </p:nvSpPr>
        <p:spPr>
          <a:xfrm>
            <a:off x="7406834" y="3864461"/>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a:t>Paso 11</a:t>
            </a:r>
            <a:endParaRPr lang="es-EC" b="1" dirty="0"/>
          </a:p>
        </p:txBody>
      </p:sp>
      <p:sp>
        <p:nvSpPr>
          <p:cNvPr id="5" name="Google Shape;116;p15">
            <a:extLst>
              <a:ext uri="{FF2B5EF4-FFF2-40B4-BE49-F238E27FC236}">
                <a16:creationId xmlns:a16="http://schemas.microsoft.com/office/drawing/2014/main" id="{A0614835-5855-7A32-D78C-860810CBBF9B}"/>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237100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8E83ABCC-FA3E-36CD-2D6D-0BD40EA2CB98}"/>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0DE895B3-E722-5C46-BDE0-CB89A5B2A79B}"/>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2313DBDD-2CC6-95B7-A939-08DED0EA55DA}"/>
              </a:ext>
            </a:extLst>
          </p:cNvPr>
          <p:cNvSpPr txBox="1">
            <a:spLocks noGrp="1"/>
          </p:cNvSpPr>
          <p:nvPr>
            <p:ph type="body" idx="1"/>
          </p:nvPr>
        </p:nvSpPr>
        <p:spPr>
          <a:xfrm>
            <a:off x="486870" y="2322121"/>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definen las clases con el código que contiene la lógica y la manera de interactuar con los datos</a:t>
            </a:r>
          </a:p>
          <a:p>
            <a:pPr marL="0" lvl="0" indent="0">
              <a:lnSpc>
                <a:spcPct val="107000"/>
              </a:lnSpc>
              <a:spcBef>
                <a:spcPts val="0"/>
              </a:spcBef>
              <a:buSzPts val="1785"/>
              <a:buNone/>
            </a:pPr>
            <a:endParaRPr lang="es-ES" dirty="0">
              <a:latin typeface="Cambria" panose="02040503050406030204" pitchFamily="18" charset="0"/>
              <a:ea typeface="Cambria" panose="02040503050406030204" pitchFamily="18" charset="0"/>
            </a:endParaRPr>
          </a:p>
        </p:txBody>
      </p:sp>
      <p:sp>
        <p:nvSpPr>
          <p:cNvPr id="3" name="CuadroTexto 2">
            <a:extLst>
              <a:ext uri="{FF2B5EF4-FFF2-40B4-BE49-F238E27FC236}">
                <a16:creationId xmlns:a16="http://schemas.microsoft.com/office/drawing/2014/main" id="{AE268A06-9796-D195-D14C-2676D6EA82EC}"/>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1" name="Elipse 10">
            <a:extLst>
              <a:ext uri="{FF2B5EF4-FFF2-40B4-BE49-F238E27FC236}">
                <a16:creationId xmlns:a16="http://schemas.microsoft.com/office/drawing/2014/main" id="{FD9067CF-9CA6-67DE-4170-F8CB2AC7FEAB}"/>
              </a:ext>
            </a:extLst>
          </p:cNvPr>
          <p:cNvSpPr/>
          <p:nvPr/>
        </p:nvSpPr>
        <p:spPr>
          <a:xfrm>
            <a:off x="4290853" y="259186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12</a:t>
            </a:r>
            <a:endParaRPr lang="es-EC" b="1" dirty="0"/>
          </a:p>
        </p:txBody>
      </p:sp>
      <p:pic>
        <p:nvPicPr>
          <p:cNvPr id="7" name="Imagen 6">
            <a:extLst>
              <a:ext uri="{FF2B5EF4-FFF2-40B4-BE49-F238E27FC236}">
                <a16:creationId xmlns:a16="http://schemas.microsoft.com/office/drawing/2014/main" id="{A7426983-DD32-03B0-E4AA-102C71DBD54B}"/>
              </a:ext>
            </a:extLst>
          </p:cNvPr>
          <p:cNvPicPr>
            <a:picLocks noChangeAspect="1"/>
          </p:cNvPicPr>
          <p:nvPr/>
        </p:nvPicPr>
        <p:blipFill>
          <a:blip r:embed="rId3"/>
          <a:stretch>
            <a:fillRect/>
          </a:stretch>
        </p:blipFill>
        <p:spPr>
          <a:xfrm>
            <a:off x="329492" y="3955621"/>
            <a:ext cx="4568434" cy="2391191"/>
          </a:xfrm>
          <a:prstGeom prst="rect">
            <a:avLst/>
          </a:prstGeom>
        </p:spPr>
      </p:pic>
      <p:pic>
        <p:nvPicPr>
          <p:cNvPr id="12" name="Imagen 11">
            <a:extLst>
              <a:ext uri="{FF2B5EF4-FFF2-40B4-BE49-F238E27FC236}">
                <a16:creationId xmlns:a16="http://schemas.microsoft.com/office/drawing/2014/main" id="{0305477B-DCF6-133B-75BD-6E41A298932E}"/>
              </a:ext>
            </a:extLst>
          </p:cNvPr>
          <p:cNvPicPr>
            <a:picLocks noChangeAspect="1"/>
          </p:cNvPicPr>
          <p:nvPr/>
        </p:nvPicPr>
        <p:blipFill>
          <a:blip r:embed="rId4"/>
          <a:stretch>
            <a:fillRect/>
          </a:stretch>
        </p:blipFill>
        <p:spPr>
          <a:xfrm>
            <a:off x="5242135" y="3429000"/>
            <a:ext cx="4103882" cy="2846166"/>
          </a:xfrm>
          <a:prstGeom prst="rect">
            <a:avLst/>
          </a:prstGeom>
        </p:spPr>
      </p:pic>
      <p:sp>
        <p:nvSpPr>
          <p:cNvPr id="13" name="Google Shape;116;p15">
            <a:extLst>
              <a:ext uri="{FF2B5EF4-FFF2-40B4-BE49-F238E27FC236}">
                <a16:creationId xmlns:a16="http://schemas.microsoft.com/office/drawing/2014/main" id="{CC70BE27-F69D-AFD0-15D5-1E1FD7B97652}"/>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66497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DE01152-4150-F2CB-345C-B4955CB909D8}"/>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FBE8E56D-0621-57B5-4EFA-432B010AC414}"/>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A4EE8423-4E7E-C24C-951E-6EF4DA51D231}"/>
              </a:ext>
            </a:extLst>
          </p:cNvPr>
          <p:cNvSpPr txBox="1">
            <a:spLocks noGrp="1"/>
          </p:cNvSpPr>
          <p:nvPr>
            <p:ph type="body" idx="1"/>
          </p:nvPr>
        </p:nvSpPr>
        <p:spPr>
          <a:xfrm>
            <a:off x="423496" y="1961125"/>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crea el </a:t>
            </a:r>
            <a:r>
              <a:rPr lang="es-ES" dirty="0" err="1">
                <a:latin typeface="Cambria" panose="02040503050406030204" pitchFamily="18" charset="0"/>
                <a:ea typeface="Cambria" panose="02040503050406030204" pitchFamily="18" charset="0"/>
              </a:rPr>
              <a:t>servicion</a:t>
            </a:r>
            <a:r>
              <a:rPr lang="es-ES" dirty="0">
                <a:latin typeface="Cambria" panose="02040503050406030204" pitchFamily="18" charset="0"/>
                <a:ea typeface="Cambria" panose="02040503050406030204" pitchFamily="18" charset="0"/>
              </a:rPr>
              <a:t> WFC f</a:t>
            </a:r>
            <a:r>
              <a:rPr lang="es-EC" dirty="0" err="1"/>
              <a:t>edereacionService</a:t>
            </a:r>
            <a:endParaRPr lang="es-ES" dirty="0">
              <a:latin typeface="Cambria" panose="02040503050406030204" pitchFamily="18" charset="0"/>
              <a:ea typeface="Cambria" panose="02040503050406030204" pitchFamily="18" charset="0"/>
            </a:endParaRPr>
          </a:p>
        </p:txBody>
      </p:sp>
      <p:sp>
        <p:nvSpPr>
          <p:cNvPr id="3" name="CuadroTexto 2">
            <a:extLst>
              <a:ext uri="{FF2B5EF4-FFF2-40B4-BE49-F238E27FC236}">
                <a16:creationId xmlns:a16="http://schemas.microsoft.com/office/drawing/2014/main" id="{300B4ECD-48F0-965D-1405-4A7CB12BC2B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1" name="Elipse 10">
            <a:extLst>
              <a:ext uri="{FF2B5EF4-FFF2-40B4-BE49-F238E27FC236}">
                <a16:creationId xmlns:a16="http://schemas.microsoft.com/office/drawing/2014/main" id="{B56C6C3B-F2D2-3CF9-7405-8D63A7D69313}"/>
              </a:ext>
            </a:extLst>
          </p:cNvPr>
          <p:cNvSpPr/>
          <p:nvPr/>
        </p:nvSpPr>
        <p:spPr>
          <a:xfrm>
            <a:off x="2808328" y="3269198"/>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13</a:t>
            </a:r>
            <a:endParaRPr lang="es-EC" b="1" dirty="0"/>
          </a:p>
        </p:txBody>
      </p:sp>
      <p:sp>
        <p:nvSpPr>
          <p:cNvPr id="6" name="Google Shape;122;p16">
            <a:extLst>
              <a:ext uri="{FF2B5EF4-FFF2-40B4-BE49-F238E27FC236}">
                <a16:creationId xmlns:a16="http://schemas.microsoft.com/office/drawing/2014/main" id="{5EE101ED-9BB0-DB7B-6958-C548329D15FC}"/>
              </a:ext>
            </a:extLst>
          </p:cNvPr>
          <p:cNvSpPr txBox="1">
            <a:spLocks/>
          </p:cNvSpPr>
          <p:nvPr/>
        </p:nvSpPr>
        <p:spPr>
          <a:xfrm>
            <a:off x="4441811" y="2032050"/>
            <a:ext cx="4656612"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crea la base de datos </a:t>
            </a:r>
            <a:r>
              <a:rPr lang="es-ES" dirty="0" err="1">
                <a:latin typeface="Cambria" panose="02040503050406030204" pitchFamily="18" charset="0"/>
                <a:ea typeface="Cambria" panose="02040503050406030204" pitchFamily="18" charset="0"/>
              </a:rPr>
              <a:t>TicketPremiumDB</a:t>
            </a:r>
            <a:r>
              <a:rPr lang="es-ES" dirty="0">
                <a:latin typeface="Cambria" panose="02040503050406030204" pitchFamily="18" charset="0"/>
                <a:ea typeface="Cambria" panose="02040503050406030204" pitchFamily="18" charset="0"/>
              </a:rPr>
              <a:t>, después de se crea un nuevo proyecto el cual servirá par establecer la conexión con la base de dato</a:t>
            </a:r>
          </a:p>
        </p:txBody>
      </p:sp>
      <p:sp>
        <p:nvSpPr>
          <p:cNvPr id="10" name="Elipse 9">
            <a:extLst>
              <a:ext uri="{FF2B5EF4-FFF2-40B4-BE49-F238E27FC236}">
                <a16:creationId xmlns:a16="http://schemas.microsoft.com/office/drawing/2014/main" id="{2CC3EACE-FBCB-7D0B-8B87-04581A7C9DA0}"/>
              </a:ext>
            </a:extLst>
          </p:cNvPr>
          <p:cNvSpPr/>
          <p:nvPr/>
        </p:nvSpPr>
        <p:spPr>
          <a:xfrm>
            <a:off x="7750191" y="3469223"/>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14</a:t>
            </a:r>
            <a:endParaRPr lang="es-EC" b="1" dirty="0"/>
          </a:p>
        </p:txBody>
      </p:sp>
      <p:pic>
        <p:nvPicPr>
          <p:cNvPr id="5" name="Imagen 4">
            <a:extLst>
              <a:ext uri="{FF2B5EF4-FFF2-40B4-BE49-F238E27FC236}">
                <a16:creationId xmlns:a16="http://schemas.microsoft.com/office/drawing/2014/main" id="{7147AC29-527B-4BEB-71A9-F7E24AED831D}"/>
              </a:ext>
            </a:extLst>
          </p:cNvPr>
          <p:cNvPicPr>
            <a:picLocks noChangeAspect="1"/>
          </p:cNvPicPr>
          <p:nvPr/>
        </p:nvPicPr>
        <p:blipFill>
          <a:blip r:embed="rId3"/>
          <a:stretch>
            <a:fillRect/>
          </a:stretch>
        </p:blipFill>
        <p:spPr>
          <a:xfrm>
            <a:off x="392038" y="4024960"/>
            <a:ext cx="3814312" cy="2647657"/>
          </a:xfrm>
          <a:prstGeom prst="rect">
            <a:avLst/>
          </a:prstGeom>
        </p:spPr>
      </p:pic>
      <p:pic>
        <p:nvPicPr>
          <p:cNvPr id="7" name="Imagen 6">
            <a:extLst>
              <a:ext uri="{FF2B5EF4-FFF2-40B4-BE49-F238E27FC236}">
                <a16:creationId xmlns:a16="http://schemas.microsoft.com/office/drawing/2014/main" id="{5AA6E854-CE5C-7747-BAA7-3455298C9D5C}"/>
              </a:ext>
            </a:extLst>
          </p:cNvPr>
          <p:cNvPicPr>
            <a:picLocks noChangeAspect="1"/>
          </p:cNvPicPr>
          <p:nvPr/>
        </p:nvPicPr>
        <p:blipFill>
          <a:blip r:embed="rId4"/>
          <a:stretch>
            <a:fillRect/>
          </a:stretch>
        </p:blipFill>
        <p:spPr>
          <a:xfrm>
            <a:off x="4902484" y="4024960"/>
            <a:ext cx="4020539" cy="2584117"/>
          </a:xfrm>
          <a:prstGeom prst="rect">
            <a:avLst/>
          </a:prstGeom>
        </p:spPr>
      </p:pic>
      <p:sp>
        <p:nvSpPr>
          <p:cNvPr id="8" name="Google Shape;116;p15">
            <a:extLst>
              <a:ext uri="{FF2B5EF4-FFF2-40B4-BE49-F238E27FC236}">
                <a16:creationId xmlns:a16="http://schemas.microsoft.com/office/drawing/2014/main" id="{E4617EA1-CA4A-4B8A-83A2-BD11317BBCA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91699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62DBB79-EB6A-BA10-13D6-C28B76D22AE6}"/>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45A36E1E-2772-2939-825C-0F5AC0AA41CB}"/>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ADFB2230-ED8F-581F-4172-6C970D92B61C}"/>
              </a:ext>
            </a:extLst>
          </p:cNvPr>
          <p:cNvSpPr txBox="1">
            <a:spLocks noGrp="1"/>
          </p:cNvSpPr>
          <p:nvPr>
            <p:ph type="body" idx="1"/>
          </p:nvPr>
        </p:nvSpPr>
        <p:spPr>
          <a:xfrm>
            <a:off x="486870" y="2322121"/>
            <a:ext cx="3443332"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crea el código que maneja los contratos y la lógica de este web </a:t>
            </a:r>
            <a:r>
              <a:rPr lang="es-ES" dirty="0" err="1">
                <a:latin typeface="Cambria" panose="02040503050406030204" pitchFamily="18" charset="0"/>
                <a:ea typeface="Cambria" panose="02040503050406030204" pitchFamily="18" charset="0"/>
              </a:rPr>
              <a:t>services</a:t>
            </a:r>
            <a:endParaRPr lang="es-ES" dirty="0">
              <a:latin typeface="Cambria" panose="02040503050406030204" pitchFamily="18" charset="0"/>
              <a:ea typeface="Cambria" panose="02040503050406030204" pitchFamily="18" charset="0"/>
            </a:endParaRPr>
          </a:p>
        </p:txBody>
      </p:sp>
      <p:sp>
        <p:nvSpPr>
          <p:cNvPr id="3" name="CuadroTexto 2">
            <a:extLst>
              <a:ext uri="{FF2B5EF4-FFF2-40B4-BE49-F238E27FC236}">
                <a16:creationId xmlns:a16="http://schemas.microsoft.com/office/drawing/2014/main" id="{2CCC4132-F241-23C1-5C9F-F441407BCE6E}"/>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1" name="Elipse 10">
            <a:extLst>
              <a:ext uri="{FF2B5EF4-FFF2-40B4-BE49-F238E27FC236}">
                <a16:creationId xmlns:a16="http://schemas.microsoft.com/office/drawing/2014/main" id="{59A1DFAA-2D61-5FD8-6804-009D66992CC8}"/>
              </a:ext>
            </a:extLst>
          </p:cNvPr>
          <p:cNvSpPr/>
          <p:nvPr/>
        </p:nvSpPr>
        <p:spPr>
          <a:xfrm>
            <a:off x="4290853" y="259186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15</a:t>
            </a:r>
            <a:endParaRPr lang="es-EC" b="1" dirty="0"/>
          </a:p>
        </p:txBody>
      </p:sp>
      <p:pic>
        <p:nvPicPr>
          <p:cNvPr id="10" name="Imagen 9">
            <a:extLst>
              <a:ext uri="{FF2B5EF4-FFF2-40B4-BE49-F238E27FC236}">
                <a16:creationId xmlns:a16="http://schemas.microsoft.com/office/drawing/2014/main" id="{64211B96-75B1-1063-2137-2C209240E642}"/>
              </a:ext>
            </a:extLst>
          </p:cNvPr>
          <p:cNvPicPr>
            <a:picLocks noChangeAspect="1"/>
          </p:cNvPicPr>
          <p:nvPr/>
        </p:nvPicPr>
        <p:blipFill>
          <a:blip r:embed="rId3"/>
          <a:stretch>
            <a:fillRect/>
          </a:stretch>
        </p:blipFill>
        <p:spPr>
          <a:xfrm>
            <a:off x="5204328" y="3429000"/>
            <a:ext cx="3996025" cy="3280537"/>
          </a:xfrm>
          <a:prstGeom prst="rect">
            <a:avLst/>
          </a:prstGeom>
        </p:spPr>
      </p:pic>
      <p:pic>
        <p:nvPicPr>
          <p:cNvPr id="14" name="Imagen 13">
            <a:extLst>
              <a:ext uri="{FF2B5EF4-FFF2-40B4-BE49-F238E27FC236}">
                <a16:creationId xmlns:a16="http://schemas.microsoft.com/office/drawing/2014/main" id="{369EF283-4AB2-5992-3E24-CB074FE8ADB8}"/>
              </a:ext>
            </a:extLst>
          </p:cNvPr>
          <p:cNvPicPr>
            <a:picLocks noChangeAspect="1"/>
          </p:cNvPicPr>
          <p:nvPr/>
        </p:nvPicPr>
        <p:blipFill>
          <a:blip r:embed="rId4"/>
          <a:stretch>
            <a:fillRect/>
          </a:stretch>
        </p:blipFill>
        <p:spPr>
          <a:xfrm>
            <a:off x="157650" y="3643694"/>
            <a:ext cx="5046678" cy="2837612"/>
          </a:xfrm>
          <a:prstGeom prst="rect">
            <a:avLst/>
          </a:prstGeom>
        </p:spPr>
      </p:pic>
      <p:sp>
        <p:nvSpPr>
          <p:cNvPr id="15" name="Google Shape;116;p15">
            <a:extLst>
              <a:ext uri="{FF2B5EF4-FFF2-40B4-BE49-F238E27FC236}">
                <a16:creationId xmlns:a16="http://schemas.microsoft.com/office/drawing/2014/main" id="{FAFB1C5A-3BBB-C698-77E7-6073717C5C8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22940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F9B7D60A-287C-FAF7-2ACA-B15E95A8C7E2}"/>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FE12AA2B-2F30-CD78-410A-0E084209D534}"/>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51C2E86F-ED0C-6584-F3D5-C607C43B4B14}"/>
              </a:ext>
            </a:extLst>
          </p:cNvPr>
          <p:cNvSpPr txBox="1">
            <a:spLocks noGrp="1"/>
          </p:cNvSpPr>
          <p:nvPr>
            <p:ph type="body" idx="1"/>
          </p:nvPr>
        </p:nvSpPr>
        <p:spPr>
          <a:xfrm>
            <a:off x="404391" y="2014628"/>
            <a:ext cx="5470311"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Se agregan un nuevo elemento de tipo: ADO.NET </a:t>
            </a:r>
            <a:r>
              <a:rPr lang="es-ES" dirty="0" err="1">
                <a:latin typeface="Cambria" panose="02040503050406030204" pitchFamily="18" charset="0"/>
                <a:ea typeface="Cambria" panose="02040503050406030204" pitchFamily="18" charset="0"/>
              </a:rPr>
              <a:t>Entity</a:t>
            </a:r>
            <a:r>
              <a:rPr lang="es-ES" dirty="0">
                <a:latin typeface="Cambria" panose="02040503050406030204" pitchFamily="18" charset="0"/>
                <a:ea typeface="Cambria" panose="02040503050406030204" pitchFamily="18" charset="0"/>
              </a:rPr>
              <a:t> Data Model.  en el cual de igual forma se generar que la cadena de conexión </a:t>
            </a:r>
          </a:p>
        </p:txBody>
      </p:sp>
      <p:sp>
        <p:nvSpPr>
          <p:cNvPr id="3" name="CuadroTexto 2">
            <a:extLst>
              <a:ext uri="{FF2B5EF4-FFF2-40B4-BE49-F238E27FC236}">
                <a16:creationId xmlns:a16="http://schemas.microsoft.com/office/drawing/2014/main" id="{10CF2490-3B53-6771-665A-F28AE7DD68B3}"/>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Servidor</a:t>
            </a:r>
          </a:p>
        </p:txBody>
      </p:sp>
      <p:sp>
        <p:nvSpPr>
          <p:cNvPr id="11" name="Elipse 10">
            <a:extLst>
              <a:ext uri="{FF2B5EF4-FFF2-40B4-BE49-F238E27FC236}">
                <a16:creationId xmlns:a16="http://schemas.microsoft.com/office/drawing/2014/main" id="{65C84AD9-F545-BFF5-FBA8-1920066938E2}"/>
              </a:ext>
            </a:extLst>
          </p:cNvPr>
          <p:cNvSpPr/>
          <p:nvPr/>
        </p:nvSpPr>
        <p:spPr>
          <a:xfrm>
            <a:off x="5710227" y="2014628"/>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16</a:t>
            </a:r>
            <a:endParaRPr lang="es-EC" b="1" dirty="0"/>
          </a:p>
        </p:txBody>
      </p:sp>
      <p:pic>
        <p:nvPicPr>
          <p:cNvPr id="4" name="Imagen 3">
            <a:extLst>
              <a:ext uri="{FF2B5EF4-FFF2-40B4-BE49-F238E27FC236}">
                <a16:creationId xmlns:a16="http://schemas.microsoft.com/office/drawing/2014/main" id="{0E5BDEDA-B92D-97B9-F7E9-F42C3063BE7F}"/>
              </a:ext>
            </a:extLst>
          </p:cNvPr>
          <p:cNvPicPr>
            <a:picLocks noChangeAspect="1"/>
          </p:cNvPicPr>
          <p:nvPr/>
        </p:nvPicPr>
        <p:blipFill>
          <a:blip r:embed="rId3"/>
          <a:stretch>
            <a:fillRect/>
          </a:stretch>
        </p:blipFill>
        <p:spPr>
          <a:xfrm>
            <a:off x="856867" y="3494637"/>
            <a:ext cx="2209532" cy="3261691"/>
          </a:xfrm>
          <a:prstGeom prst="rect">
            <a:avLst/>
          </a:prstGeom>
        </p:spPr>
      </p:pic>
      <p:pic>
        <p:nvPicPr>
          <p:cNvPr id="5" name="Imagen 4">
            <a:extLst>
              <a:ext uri="{FF2B5EF4-FFF2-40B4-BE49-F238E27FC236}">
                <a16:creationId xmlns:a16="http://schemas.microsoft.com/office/drawing/2014/main" id="{96FFF899-24CB-7D98-F92B-79C05394D0C3}"/>
              </a:ext>
            </a:extLst>
          </p:cNvPr>
          <p:cNvPicPr>
            <a:picLocks noChangeAspect="1"/>
          </p:cNvPicPr>
          <p:nvPr/>
        </p:nvPicPr>
        <p:blipFill>
          <a:blip r:embed="rId4"/>
          <a:stretch>
            <a:fillRect/>
          </a:stretch>
        </p:blipFill>
        <p:spPr>
          <a:xfrm>
            <a:off x="5339209" y="3494637"/>
            <a:ext cx="2808303" cy="3043993"/>
          </a:xfrm>
          <a:prstGeom prst="rect">
            <a:avLst/>
          </a:prstGeom>
        </p:spPr>
      </p:pic>
      <p:sp>
        <p:nvSpPr>
          <p:cNvPr id="6" name="Google Shape;116;p15">
            <a:extLst>
              <a:ext uri="{FF2B5EF4-FFF2-40B4-BE49-F238E27FC236}">
                <a16:creationId xmlns:a16="http://schemas.microsoft.com/office/drawing/2014/main" id="{062C3C4B-5BD7-D90E-9E8D-DA300FD92248}"/>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74537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0E198894-5010-98D5-F1C1-129C439860D9}"/>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CE64C36F-8688-9CCA-7A04-B93EDDB819C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10460151-31B7-9027-E722-0B6F807302FB}"/>
              </a:ext>
            </a:extLst>
          </p:cNvPr>
          <p:cNvSpPr txBox="1">
            <a:spLocks noGrp="1"/>
          </p:cNvSpPr>
          <p:nvPr>
            <p:ph type="body" idx="1"/>
          </p:nvPr>
        </p:nvSpPr>
        <p:spPr>
          <a:xfrm>
            <a:off x="404391" y="1601262"/>
            <a:ext cx="5470311"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Primero crea un proyecto “Biblioteca de clases”.</a:t>
            </a:r>
          </a:p>
        </p:txBody>
      </p:sp>
      <p:sp>
        <p:nvSpPr>
          <p:cNvPr id="3" name="CuadroTexto 2">
            <a:extLst>
              <a:ext uri="{FF2B5EF4-FFF2-40B4-BE49-F238E27FC236}">
                <a16:creationId xmlns:a16="http://schemas.microsoft.com/office/drawing/2014/main" id="{8CCFB711-C594-6411-63D2-E3A82B4D0335}"/>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Compartido</a:t>
            </a:r>
          </a:p>
        </p:txBody>
      </p:sp>
      <p:sp>
        <p:nvSpPr>
          <p:cNvPr id="11" name="Elipse 10">
            <a:extLst>
              <a:ext uri="{FF2B5EF4-FFF2-40B4-BE49-F238E27FC236}">
                <a16:creationId xmlns:a16="http://schemas.microsoft.com/office/drawing/2014/main" id="{161DBB16-A565-6C1C-7535-AC32AB648BB0}"/>
              </a:ext>
            </a:extLst>
          </p:cNvPr>
          <p:cNvSpPr/>
          <p:nvPr/>
        </p:nvSpPr>
        <p:spPr>
          <a:xfrm>
            <a:off x="5710227" y="2014628"/>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pic>
        <p:nvPicPr>
          <p:cNvPr id="6" name="Imagen 5">
            <a:extLst>
              <a:ext uri="{FF2B5EF4-FFF2-40B4-BE49-F238E27FC236}">
                <a16:creationId xmlns:a16="http://schemas.microsoft.com/office/drawing/2014/main" id="{DEDF0CE3-345B-E314-A90A-412B8520441D}"/>
              </a:ext>
            </a:extLst>
          </p:cNvPr>
          <p:cNvPicPr>
            <a:picLocks noChangeAspect="1"/>
          </p:cNvPicPr>
          <p:nvPr/>
        </p:nvPicPr>
        <p:blipFill>
          <a:blip r:embed="rId3"/>
          <a:stretch>
            <a:fillRect/>
          </a:stretch>
        </p:blipFill>
        <p:spPr>
          <a:xfrm>
            <a:off x="404391" y="2614962"/>
            <a:ext cx="5585379" cy="1687126"/>
          </a:xfrm>
          <a:prstGeom prst="rect">
            <a:avLst/>
          </a:prstGeom>
        </p:spPr>
      </p:pic>
      <p:pic>
        <p:nvPicPr>
          <p:cNvPr id="7" name="Imagen 6">
            <a:extLst>
              <a:ext uri="{FF2B5EF4-FFF2-40B4-BE49-F238E27FC236}">
                <a16:creationId xmlns:a16="http://schemas.microsoft.com/office/drawing/2014/main" id="{FDE0D73A-FD56-E82F-2953-D461A06CF5DF}"/>
              </a:ext>
            </a:extLst>
          </p:cNvPr>
          <p:cNvPicPr>
            <a:picLocks noChangeAspect="1"/>
          </p:cNvPicPr>
          <p:nvPr/>
        </p:nvPicPr>
        <p:blipFill>
          <a:blip r:embed="rId4"/>
          <a:stretch>
            <a:fillRect/>
          </a:stretch>
        </p:blipFill>
        <p:spPr>
          <a:xfrm>
            <a:off x="1339913" y="4514681"/>
            <a:ext cx="3911710" cy="2189021"/>
          </a:xfrm>
          <a:prstGeom prst="rect">
            <a:avLst/>
          </a:prstGeom>
        </p:spPr>
      </p:pic>
      <p:sp>
        <p:nvSpPr>
          <p:cNvPr id="8" name="Elipse 7">
            <a:extLst>
              <a:ext uri="{FF2B5EF4-FFF2-40B4-BE49-F238E27FC236}">
                <a16:creationId xmlns:a16="http://schemas.microsoft.com/office/drawing/2014/main" id="{DBE4C3BA-A42A-222F-6115-4EE50F158D2E}"/>
              </a:ext>
            </a:extLst>
          </p:cNvPr>
          <p:cNvSpPr/>
          <p:nvPr/>
        </p:nvSpPr>
        <p:spPr>
          <a:xfrm>
            <a:off x="55981" y="5474000"/>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sp>
        <p:nvSpPr>
          <p:cNvPr id="9" name="Google Shape;122;p16">
            <a:extLst>
              <a:ext uri="{FF2B5EF4-FFF2-40B4-BE49-F238E27FC236}">
                <a16:creationId xmlns:a16="http://schemas.microsoft.com/office/drawing/2014/main" id="{2AC1FA1E-F54E-4C56-9623-88DE41E0E90D}"/>
              </a:ext>
            </a:extLst>
          </p:cNvPr>
          <p:cNvSpPr txBox="1">
            <a:spLocks/>
          </p:cNvSpPr>
          <p:nvPr/>
        </p:nvSpPr>
        <p:spPr>
          <a:xfrm>
            <a:off x="5471987" y="4704169"/>
            <a:ext cx="323485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nombra el proyecto como “Compartido”, guardado en la carpeta 04.CLICON del proyecto raíz.</a:t>
            </a:r>
          </a:p>
        </p:txBody>
      </p:sp>
      <p:sp>
        <p:nvSpPr>
          <p:cNvPr id="10" name="Google Shape;116;p15">
            <a:extLst>
              <a:ext uri="{FF2B5EF4-FFF2-40B4-BE49-F238E27FC236}">
                <a16:creationId xmlns:a16="http://schemas.microsoft.com/office/drawing/2014/main" id="{230DFEF4-B809-40F0-4687-97A5C547E526}"/>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91759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315613C9-D48F-41BD-6072-F5697E14B6BF}"/>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DC21651F-FEAE-C1CF-E10C-F60E81B6463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A2B18C9C-A01C-40BC-3678-EA56E1B743F1}"/>
              </a:ext>
            </a:extLst>
          </p:cNvPr>
          <p:cNvSpPr txBox="1">
            <a:spLocks noGrp="1"/>
          </p:cNvSpPr>
          <p:nvPr>
            <p:ph type="body" idx="1"/>
          </p:nvPr>
        </p:nvSpPr>
        <p:spPr>
          <a:xfrm>
            <a:off x="404391" y="1601262"/>
            <a:ext cx="5470311" cy="1633500"/>
          </a:xfrm>
          <a:prstGeom prst="rect">
            <a:avLst/>
          </a:prstGeom>
          <a:noFill/>
          <a:ln>
            <a:noFill/>
          </a:ln>
        </p:spPr>
        <p:txBody>
          <a:bodyPr spcFirstLastPara="1" wrap="square" lIns="91425" tIns="45700" rIns="91425" bIns="45700" anchor="ctr" anchorCtr="0">
            <a:normAutofit/>
          </a:bodyPr>
          <a:lstStyle/>
          <a:p>
            <a:pPr marL="0" lvl="0" indent="0">
              <a:lnSpc>
                <a:spcPct val="107000"/>
              </a:lnSpc>
              <a:spcBef>
                <a:spcPts val="0"/>
              </a:spcBef>
              <a:buSzPts val="1785"/>
              <a:buNone/>
            </a:pPr>
            <a:r>
              <a:rPr lang="es-ES" dirty="0">
                <a:latin typeface="Cambria" panose="02040503050406030204" pitchFamily="18" charset="0"/>
                <a:ea typeface="Cambria" panose="02040503050406030204" pitchFamily="18" charset="0"/>
              </a:rPr>
              <a:t>Primero crea un proyecto “Biblioteca de clases”.</a:t>
            </a:r>
          </a:p>
        </p:txBody>
      </p:sp>
      <p:sp>
        <p:nvSpPr>
          <p:cNvPr id="3" name="CuadroTexto 2">
            <a:extLst>
              <a:ext uri="{FF2B5EF4-FFF2-40B4-BE49-F238E27FC236}">
                <a16:creationId xmlns:a16="http://schemas.microsoft.com/office/drawing/2014/main" id="{9778DCC5-69B0-DCC6-7A8F-313204967146}"/>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Compartido</a:t>
            </a:r>
          </a:p>
        </p:txBody>
      </p:sp>
      <p:sp>
        <p:nvSpPr>
          <p:cNvPr id="11" name="Elipse 10">
            <a:extLst>
              <a:ext uri="{FF2B5EF4-FFF2-40B4-BE49-F238E27FC236}">
                <a16:creationId xmlns:a16="http://schemas.microsoft.com/office/drawing/2014/main" id="{7BCE0CDC-1BED-61DF-1073-1DC535286BCA}"/>
              </a:ext>
            </a:extLst>
          </p:cNvPr>
          <p:cNvSpPr/>
          <p:nvPr/>
        </p:nvSpPr>
        <p:spPr>
          <a:xfrm>
            <a:off x="5710227" y="2014628"/>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pic>
        <p:nvPicPr>
          <p:cNvPr id="6" name="Imagen 5">
            <a:extLst>
              <a:ext uri="{FF2B5EF4-FFF2-40B4-BE49-F238E27FC236}">
                <a16:creationId xmlns:a16="http://schemas.microsoft.com/office/drawing/2014/main" id="{CAE71D36-7E46-73E6-D997-90E0E728482B}"/>
              </a:ext>
            </a:extLst>
          </p:cNvPr>
          <p:cNvPicPr>
            <a:picLocks noChangeAspect="1"/>
          </p:cNvPicPr>
          <p:nvPr/>
        </p:nvPicPr>
        <p:blipFill>
          <a:blip r:embed="rId3"/>
          <a:stretch>
            <a:fillRect/>
          </a:stretch>
        </p:blipFill>
        <p:spPr>
          <a:xfrm>
            <a:off x="404391" y="2614962"/>
            <a:ext cx="5585379" cy="1687126"/>
          </a:xfrm>
          <a:prstGeom prst="rect">
            <a:avLst/>
          </a:prstGeom>
        </p:spPr>
      </p:pic>
      <p:pic>
        <p:nvPicPr>
          <p:cNvPr id="7" name="Imagen 6">
            <a:extLst>
              <a:ext uri="{FF2B5EF4-FFF2-40B4-BE49-F238E27FC236}">
                <a16:creationId xmlns:a16="http://schemas.microsoft.com/office/drawing/2014/main" id="{299DA780-E5CF-420E-5A17-3F90576DD7D3}"/>
              </a:ext>
            </a:extLst>
          </p:cNvPr>
          <p:cNvPicPr>
            <a:picLocks noChangeAspect="1"/>
          </p:cNvPicPr>
          <p:nvPr/>
        </p:nvPicPr>
        <p:blipFill>
          <a:blip r:embed="rId4"/>
          <a:stretch>
            <a:fillRect/>
          </a:stretch>
        </p:blipFill>
        <p:spPr>
          <a:xfrm>
            <a:off x="1339913" y="4514681"/>
            <a:ext cx="3911710" cy="2189021"/>
          </a:xfrm>
          <a:prstGeom prst="rect">
            <a:avLst/>
          </a:prstGeom>
        </p:spPr>
      </p:pic>
      <p:sp>
        <p:nvSpPr>
          <p:cNvPr id="8" name="Elipse 7">
            <a:extLst>
              <a:ext uri="{FF2B5EF4-FFF2-40B4-BE49-F238E27FC236}">
                <a16:creationId xmlns:a16="http://schemas.microsoft.com/office/drawing/2014/main" id="{6A5DD809-CD4C-3C21-B538-1D08676BCEBC}"/>
              </a:ext>
            </a:extLst>
          </p:cNvPr>
          <p:cNvSpPr/>
          <p:nvPr/>
        </p:nvSpPr>
        <p:spPr>
          <a:xfrm>
            <a:off x="55981" y="5474000"/>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sp>
        <p:nvSpPr>
          <p:cNvPr id="9" name="Google Shape;122;p16">
            <a:extLst>
              <a:ext uri="{FF2B5EF4-FFF2-40B4-BE49-F238E27FC236}">
                <a16:creationId xmlns:a16="http://schemas.microsoft.com/office/drawing/2014/main" id="{E3C7DA92-5823-C75D-0190-92F1A131FB6E}"/>
              </a:ext>
            </a:extLst>
          </p:cNvPr>
          <p:cNvSpPr txBox="1">
            <a:spLocks/>
          </p:cNvSpPr>
          <p:nvPr/>
        </p:nvSpPr>
        <p:spPr>
          <a:xfrm>
            <a:off x="5471987" y="4704169"/>
            <a:ext cx="3234851" cy="16335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07000"/>
              </a:lnSpc>
              <a:spcBef>
                <a:spcPts val="0"/>
              </a:spcBef>
              <a:buSzPts val="1785"/>
              <a:buFont typeface="Noto Sans Symbols"/>
              <a:buNone/>
            </a:pPr>
            <a:r>
              <a:rPr lang="es-ES" dirty="0">
                <a:latin typeface="Cambria" panose="02040503050406030204" pitchFamily="18" charset="0"/>
                <a:ea typeface="Cambria" panose="02040503050406030204" pitchFamily="18" charset="0"/>
              </a:rPr>
              <a:t>se nombra el proyecto como “Compartido”, guardado en la carpeta 04.CLICON del proyecto raíz.</a:t>
            </a:r>
          </a:p>
        </p:txBody>
      </p:sp>
      <p:sp>
        <p:nvSpPr>
          <p:cNvPr id="4" name="Google Shape;116;p15">
            <a:extLst>
              <a:ext uri="{FF2B5EF4-FFF2-40B4-BE49-F238E27FC236}">
                <a16:creationId xmlns:a16="http://schemas.microsoft.com/office/drawing/2014/main" id="{2034068F-ABB1-7604-9468-D49ECFC604E6}"/>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06322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29D379DD-B8BE-5A54-C1EC-55EDA2867377}"/>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8BDDC1EB-3527-4C0E-7E41-023975838A4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2D1AF037-79C7-BA5D-0767-5EFEA4C00FFA}"/>
              </a:ext>
            </a:extLst>
          </p:cNvPr>
          <p:cNvSpPr txBox="1">
            <a:spLocks noGrp="1"/>
          </p:cNvSpPr>
          <p:nvPr>
            <p:ph type="body" idx="1"/>
          </p:nvPr>
        </p:nvSpPr>
        <p:spPr>
          <a:xfrm>
            <a:off x="404391" y="3655756"/>
            <a:ext cx="5779126" cy="1633500"/>
          </a:xfrm>
          <a:prstGeom prst="rect">
            <a:avLst/>
          </a:prstGeom>
          <a:noFill/>
          <a:ln>
            <a:noFill/>
          </a:ln>
        </p:spPr>
        <p:txBody>
          <a:bodyPr spcFirstLastPara="1" wrap="square" lIns="91425" tIns="45700" rIns="91425" bIns="45700" anchor="ctr" anchorCtr="0">
            <a:noAutofit/>
          </a:bodyPr>
          <a:lstStyle/>
          <a:p>
            <a:pPr marL="0" lvl="0" indent="0">
              <a:lnSpc>
                <a:spcPct val="107000"/>
              </a:lnSpc>
              <a:spcBef>
                <a:spcPts val="0"/>
              </a:spcBef>
              <a:buSzPts val="1785"/>
              <a:buNone/>
            </a:pPr>
            <a:r>
              <a:rPr lang="es-ES" sz="1500" dirty="0">
                <a:latin typeface="Cambria" panose="02040503050406030204" pitchFamily="18" charset="0"/>
                <a:ea typeface="Cambria" panose="02040503050406030204" pitchFamily="18" charset="0"/>
              </a:rPr>
              <a:t>Dentro del proyecto, se crean los siguientes paquetes:</a:t>
            </a:r>
          </a:p>
          <a:p>
            <a:pPr marL="285750" indent="-285750">
              <a:lnSpc>
                <a:spcPct val="107000"/>
              </a:lnSpc>
              <a:spcBef>
                <a:spcPts val="0"/>
              </a:spcBef>
              <a:buSzPts val="1785"/>
            </a:pPr>
            <a:r>
              <a:rPr lang="es-ES" sz="1500" dirty="0">
                <a:latin typeface="Cambria" panose="02040503050406030204" pitchFamily="18" charset="0"/>
                <a:ea typeface="Cambria" panose="02040503050406030204" pitchFamily="18" charset="0"/>
              </a:rPr>
              <a:t>Servicios: Es un paquete dedicado a la implementación de servicios que consumen modelos. Está dividido según el alcance.</a:t>
            </a:r>
          </a:p>
          <a:p>
            <a:pPr marL="742950" lvl="1" indent="-285750">
              <a:lnSpc>
                <a:spcPct val="107000"/>
              </a:lnSpc>
              <a:spcBef>
                <a:spcPts val="0"/>
              </a:spcBef>
              <a:buSzPts val="1785"/>
            </a:pPr>
            <a:r>
              <a:rPr lang="es-ES" sz="1500" dirty="0">
                <a:latin typeface="Cambria" panose="02040503050406030204" pitchFamily="18" charset="0"/>
                <a:ea typeface="Cambria" panose="02040503050406030204" pitchFamily="18" charset="0"/>
              </a:rPr>
              <a:t>Comunicación: Es un paquete dedicado a la implementación de utilidades de comunicación.</a:t>
            </a:r>
          </a:p>
          <a:p>
            <a:pPr marL="742950" lvl="1" indent="-285750">
              <a:lnSpc>
                <a:spcPct val="107000"/>
              </a:lnSpc>
              <a:spcBef>
                <a:spcPts val="0"/>
              </a:spcBef>
              <a:buSzPts val="1785"/>
            </a:pPr>
            <a:r>
              <a:rPr lang="es-ES" sz="1500" dirty="0" err="1">
                <a:latin typeface="Cambria" panose="02040503050406030204" pitchFamily="18" charset="0"/>
                <a:ea typeface="Cambria" panose="02040503050406030204" pitchFamily="18" charset="0"/>
              </a:rPr>
              <a:t>Parseadores</a:t>
            </a:r>
            <a:r>
              <a:rPr lang="es-ES" sz="1500" dirty="0">
                <a:latin typeface="Cambria" panose="02040503050406030204" pitchFamily="18" charset="0"/>
                <a:ea typeface="Cambria" panose="02040503050406030204" pitchFamily="18" charset="0"/>
              </a:rPr>
              <a:t>: Es un paquete dedicado a la transformación del formato de datos obtenido hacia uno manejable por los clientes.</a:t>
            </a:r>
          </a:p>
          <a:p>
            <a:pPr marL="742950" lvl="1" indent="-285750">
              <a:lnSpc>
                <a:spcPct val="107000"/>
              </a:lnSpc>
              <a:spcBef>
                <a:spcPts val="0"/>
              </a:spcBef>
              <a:buSzPts val="1785"/>
            </a:pPr>
            <a:r>
              <a:rPr lang="es-ES" sz="1500" dirty="0" err="1">
                <a:latin typeface="Cambria" panose="02040503050406030204" pitchFamily="18" charset="0"/>
                <a:ea typeface="Cambria" panose="02040503050406030204" pitchFamily="18" charset="0"/>
              </a:rPr>
              <a:t>ServiciosNegocio</a:t>
            </a:r>
            <a:r>
              <a:rPr lang="es-ES" sz="1500" dirty="0">
                <a:latin typeface="Cambria" panose="02040503050406030204" pitchFamily="18" charset="0"/>
                <a:ea typeface="Cambria" panose="02040503050406030204" pitchFamily="18" charset="0"/>
              </a:rPr>
              <a:t>: Es el paquete dedicado al punto de entrada principal a los servicios que exponen los </a:t>
            </a:r>
            <a:r>
              <a:rPr lang="es-ES" sz="1500" dirty="0" err="1">
                <a:latin typeface="Cambria" panose="02040503050406030204" pitchFamily="18" charset="0"/>
                <a:ea typeface="Cambria" panose="02040503050406030204" pitchFamily="18" charset="0"/>
              </a:rPr>
              <a:t>WebServices</a:t>
            </a:r>
            <a:r>
              <a:rPr lang="es-ES" sz="1500" dirty="0">
                <a:latin typeface="Cambria" panose="02040503050406030204" pitchFamily="18" charset="0"/>
                <a:ea typeface="Cambria" panose="02040503050406030204" pitchFamily="18" charset="0"/>
              </a:rPr>
              <a:t>.</a:t>
            </a:r>
          </a:p>
          <a:p>
            <a:pPr marL="285750" indent="-285750">
              <a:lnSpc>
                <a:spcPct val="107000"/>
              </a:lnSpc>
              <a:spcBef>
                <a:spcPts val="0"/>
              </a:spcBef>
              <a:buSzPts val="1785"/>
            </a:pPr>
            <a:r>
              <a:rPr lang="es-ES" sz="1500" dirty="0">
                <a:latin typeface="Cambria" panose="02040503050406030204" pitchFamily="18" charset="0"/>
                <a:ea typeface="Cambria" panose="02040503050406030204" pitchFamily="18" charset="0"/>
              </a:rPr>
              <a:t>Modelos: Es un paquete dedicado a la implementación de modelos utilizables. Está dividido según el alcance.</a:t>
            </a:r>
          </a:p>
          <a:p>
            <a:pPr marL="742950" lvl="1" indent="-285750">
              <a:lnSpc>
                <a:spcPct val="107000"/>
              </a:lnSpc>
              <a:spcBef>
                <a:spcPts val="0"/>
              </a:spcBef>
              <a:buSzPts val="1785"/>
            </a:pPr>
            <a:r>
              <a:rPr lang="es-ES" sz="1500" dirty="0">
                <a:latin typeface="Cambria" panose="02040503050406030204" pitchFamily="18" charset="0"/>
                <a:ea typeface="Cambria" panose="02040503050406030204" pitchFamily="18" charset="0"/>
              </a:rPr>
              <a:t>Comunicación: Es un paquete que define los modelos estrictamente de peticiones asíncronas.</a:t>
            </a:r>
          </a:p>
          <a:p>
            <a:pPr marL="742950" lvl="1" indent="-285750">
              <a:lnSpc>
                <a:spcPct val="107000"/>
              </a:lnSpc>
              <a:spcBef>
                <a:spcPts val="0"/>
              </a:spcBef>
              <a:buSzPts val="1785"/>
            </a:pPr>
            <a:r>
              <a:rPr lang="es-ES" sz="1500" dirty="0">
                <a:latin typeface="Cambria" panose="02040503050406030204" pitchFamily="18" charset="0"/>
                <a:ea typeface="Cambria" panose="02040503050406030204" pitchFamily="18" charset="0"/>
              </a:rPr>
              <a:t>Negocio: Es un paquete que define los modelos de negocio que serán utilizados ya sea como peticiones o respuestas.</a:t>
            </a:r>
          </a:p>
        </p:txBody>
      </p:sp>
      <p:sp>
        <p:nvSpPr>
          <p:cNvPr id="3" name="CuadroTexto 2">
            <a:extLst>
              <a:ext uri="{FF2B5EF4-FFF2-40B4-BE49-F238E27FC236}">
                <a16:creationId xmlns:a16="http://schemas.microsoft.com/office/drawing/2014/main" id="{552DA825-D32C-5DB4-3983-B42E866E96FA}"/>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Compartido</a:t>
            </a:r>
          </a:p>
        </p:txBody>
      </p:sp>
      <p:sp>
        <p:nvSpPr>
          <p:cNvPr id="11" name="Elipse 10">
            <a:extLst>
              <a:ext uri="{FF2B5EF4-FFF2-40B4-BE49-F238E27FC236}">
                <a16:creationId xmlns:a16="http://schemas.microsoft.com/office/drawing/2014/main" id="{27610943-633B-1225-4A2A-39DF9D646F2A}"/>
              </a:ext>
            </a:extLst>
          </p:cNvPr>
          <p:cNvSpPr/>
          <p:nvPr/>
        </p:nvSpPr>
        <p:spPr>
          <a:xfrm>
            <a:off x="5710227" y="2014628"/>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3</a:t>
            </a:r>
            <a:endParaRPr lang="es-EC" b="1" dirty="0"/>
          </a:p>
        </p:txBody>
      </p:sp>
      <p:pic>
        <p:nvPicPr>
          <p:cNvPr id="4" name="Imagen 3">
            <a:extLst>
              <a:ext uri="{FF2B5EF4-FFF2-40B4-BE49-F238E27FC236}">
                <a16:creationId xmlns:a16="http://schemas.microsoft.com/office/drawing/2014/main" id="{188172C8-5B8B-E5B6-BB7F-2CAEADD3C4DC}"/>
              </a:ext>
            </a:extLst>
          </p:cNvPr>
          <p:cNvPicPr>
            <a:picLocks noChangeAspect="1"/>
          </p:cNvPicPr>
          <p:nvPr/>
        </p:nvPicPr>
        <p:blipFill>
          <a:blip r:embed="rId3"/>
          <a:stretch>
            <a:fillRect/>
          </a:stretch>
        </p:blipFill>
        <p:spPr>
          <a:xfrm>
            <a:off x="6317298" y="2789470"/>
            <a:ext cx="2898579" cy="2651663"/>
          </a:xfrm>
          <a:prstGeom prst="rect">
            <a:avLst/>
          </a:prstGeom>
        </p:spPr>
      </p:pic>
      <p:sp>
        <p:nvSpPr>
          <p:cNvPr id="5" name="Google Shape;116;p15">
            <a:extLst>
              <a:ext uri="{FF2B5EF4-FFF2-40B4-BE49-F238E27FC236}">
                <a16:creationId xmlns:a16="http://schemas.microsoft.com/office/drawing/2014/main" id="{8EC7F3B8-6F88-380C-AB07-2941830584C9}"/>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077462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89320D34-FA37-FC82-0A57-44773CA3AFE1}"/>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934AF106-1579-BBD7-8287-7378FFBC6B3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42970E34-43F1-084D-47E5-467EF7CC2958}"/>
              </a:ext>
            </a:extLst>
          </p:cNvPr>
          <p:cNvSpPr txBox="1">
            <a:spLocks noGrp="1"/>
          </p:cNvSpPr>
          <p:nvPr>
            <p:ph type="body" idx="1"/>
          </p:nvPr>
        </p:nvSpPr>
        <p:spPr>
          <a:xfrm>
            <a:off x="404391" y="2014628"/>
            <a:ext cx="5779126" cy="1633500"/>
          </a:xfrm>
          <a:prstGeom prst="rect">
            <a:avLst/>
          </a:prstGeom>
          <a:noFill/>
          <a:ln>
            <a:noFill/>
          </a:ln>
        </p:spPr>
        <p:txBody>
          <a:bodyPr spcFirstLastPara="1" wrap="square" lIns="91425" tIns="45700" rIns="91425" bIns="45700" anchor="ctr" anchorCtr="0">
            <a:noAutofit/>
          </a:bodyPr>
          <a:lstStyle/>
          <a:p>
            <a:pPr marL="0" lvl="0" indent="0">
              <a:lnSpc>
                <a:spcPct val="107000"/>
              </a:lnSpc>
              <a:spcBef>
                <a:spcPts val="0"/>
              </a:spcBef>
              <a:buSzPts val="1785"/>
              <a:buNone/>
            </a:pPr>
            <a:r>
              <a:rPr lang="es-ES" sz="1500" dirty="0">
                <a:latin typeface="Cambria" panose="02040503050406030204" pitchFamily="18" charset="0"/>
                <a:ea typeface="Cambria" panose="02040503050406030204" pitchFamily="18" charset="0"/>
              </a:rPr>
              <a:t>Luego de generados estos paquetes, se tiene el código fundamental (el punto de entrada a las funciones de los </a:t>
            </a:r>
            <a:r>
              <a:rPr lang="es-ES" sz="1500" dirty="0" err="1">
                <a:latin typeface="Cambria" panose="02040503050406030204" pitchFamily="18" charset="0"/>
                <a:ea typeface="Cambria" panose="02040503050406030204" pitchFamily="18" charset="0"/>
              </a:rPr>
              <a:t>WebServices</a:t>
            </a:r>
            <a:r>
              <a:rPr lang="es-ES" sz="1500" dirty="0">
                <a:latin typeface="Cambria" panose="02040503050406030204" pitchFamily="18" charset="0"/>
                <a:ea typeface="Cambria" panose="02040503050406030204" pitchFamily="18" charset="0"/>
              </a:rPr>
              <a:t>), representado por el “</a:t>
            </a:r>
            <a:r>
              <a:rPr lang="es-ES" sz="1500" dirty="0" err="1">
                <a:latin typeface="Cambria" panose="02040503050406030204" pitchFamily="18" charset="0"/>
                <a:ea typeface="Cambria" panose="02040503050406030204" pitchFamily="18" charset="0"/>
              </a:rPr>
              <a:t>ServicioFederacion.cs</a:t>
            </a:r>
            <a:r>
              <a:rPr lang="es-ES" sz="1500" dirty="0">
                <a:latin typeface="Cambria" panose="02040503050406030204" pitchFamily="18" charset="0"/>
                <a:ea typeface="Cambria" panose="02040503050406030204" pitchFamily="18" charset="0"/>
              </a:rPr>
              <a:t>” y el “</a:t>
            </a:r>
            <a:r>
              <a:rPr lang="es-ES" sz="1500" dirty="0" err="1">
                <a:latin typeface="Cambria" panose="02040503050406030204" pitchFamily="18" charset="0"/>
                <a:ea typeface="Cambria" panose="02040503050406030204" pitchFamily="18" charset="0"/>
              </a:rPr>
              <a:t>ServicioTicketPremium</a:t>
            </a:r>
            <a:r>
              <a:rPr lang="es-ES" sz="1500" dirty="0">
                <a:latin typeface="Cambria" panose="02040503050406030204" pitchFamily="18" charset="0"/>
                <a:ea typeface="Cambria" panose="02040503050406030204" pitchFamily="18" charset="0"/>
              </a:rPr>
              <a:t>”.</a:t>
            </a:r>
          </a:p>
        </p:txBody>
      </p:sp>
      <p:sp>
        <p:nvSpPr>
          <p:cNvPr id="3" name="CuadroTexto 2">
            <a:extLst>
              <a:ext uri="{FF2B5EF4-FFF2-40B4-BE49-F238E27FC236}">
                <a16:creationId xmlns:a16="http://schemas.microsoft.com/office/drawing/2014/main" id="{1F67C30A-7F38-4C6D-1FEB-680574D26338}"/>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Compartido</a:t>
            </a:r>
          </a:p>
        </p:txBody>
      </p:sp>
      <p:sp>
        <p:nvSpPr>
          <p:cNvPr id="11" name="Elipse 10">
            <a:extLst>
              <a:ext uri="{FF2B5EF4-FFF2-40B4-BE49-F238E27FC236}">
                <a16:creationId xmlns:a16="http://schemas.microsoft.com/office/drawing/2014/main" id="{BB172EB9-8C06-BA46-00ED-56C903F4D394}"/>
              </a:ext>
            </a:extLst>
          </p:cNvPr>
          <p:cNvSpPr/>
          <p:nvPr/>
        </p:nvSpPr>
        <p:spPr>
          <a:xfrm>
            <a:off x="6408007" y="2098090"/>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4</a:t>
            </a:r>
            <a:endParaRPr lang="es-EC" b="1" dirty="0"/>
          </a:p>
        </p:txBody>
      </p:sp>
      <p:pic>
        <p:nvPicPr>
          <p:cNvPr id="8" name="Imagen 7">
            <a:extLst>
              <a:ext uri="{FF2B5EF4-FFF2-40B4-BE49-F238E27FC236}">
                <a16:creationId xmlns:a16="http://schemas.microsoft.com/office/drawing/2014/main" id="{11BEC851-F533-01D1-04E2-4B80FBF82715}"/>
              </a:ext>
            </a:extLst>
          </p:cNvPr>
          <p:cNvPicPr>
            <a:picLocks noChangeAspect="1"/>
          </p:cNvPicPr>
          <p:nvPr/>
        </p:nvPicPr>
        <p:blipFill>
          <a:blip r:embed="rId3"/>
          <a:stretch>
            <a:fillRect/>
          </a:stretch>
        </p:blipFill>
        <p:spPr>
          <a:xfrm>
            <a:off x="404391" y="3429000"/>
            <a:ext cx="2791214" cy="2062450"/>
          </a:xfrm>
          <a:prstGeom prst="rect">
            <a:avLst/>
          </a:prstGeom>
        </p:spPr>
      </p:pic>
      <p:pic>
        <p:nvPicPr>
          <p:cNvPr id="10" name="Imagen 9">
            <a:extLst>
              <a:ext uri="{FF2B5EF4-FFF2-40B4-BE49-F238E27FC236}">
                <a16:creationId xmlns:a16="http://schemas.microsoft.com/office/drawing/2014/main" id="{64F3966F-A16B-1053-FE81-27DE33B0CEC4}"/>
              </a:ext>
            </a:extLst>
          </p:cNvPr>
          <p:cNvPicPr>
            <a:picLocks noChangeAspect="1"/>
          </p:cNvPicPr>
          <p:nvPr/>
        </p:nvPicPr>
        <p:blipFill>
          <a:blip r:embed="rId4"/>
          <a:stretch>
            <a:fillRect/>
          </a:stretch>
        </p:blipFill>
        <p:spPr>
          <a:xfrm>
            <a:off x="3232986" y="3429000"/>
            <a:ext cx="2862956" cy="2060983"/>
          </a:xfrm>
          <a:prstGeom prst="rect">
            <a:avLst/>
          </a:prstGeom>
        </p:spPr>
      </p:pic>
      <p:pic>
        <p:nvPicPr>
          <p:cNvPr id="13" name="Imagen 12">
            <a:extLst>
              <a:ext uri="{FF2B5EF4-FFF2-40B4-BE49-F238E27FC236}">
                <a16:creationId xmlns:a16="http://schemas.microsoft.com/office/drawing/2014/main" id="{BD78B5CC-7B66-1ACB-822D-70E1AAA7B41C}"/>
              </a:ext>
            </a:extLst>
          </p:cNvPr>
          <p:cNvPicPr>
            <a:picLocks noChangeAspect="1"/>
          </p:cNvPicPr>
          <p:nvPr/>
        </p:nvPicPr>
        <p:blipFill>
          <a:blip r:embed="rId5"/>
          <a:stretch>
            <a:fillRect/>
          </a:stretch>
        </p:blipFill>
        <p:spPr>
          <a:xfrm>
            <a:off x="6095942" y="3429000"/>
            <a:ext cx="3139816" cy="3354309"/>
          </a:xfrm>
          <a:prstGeom prst="rect">
            <a:avLst/>
          </a:prstGeom>
        </p:spPr>
      </p:pic>
      <p:sp>
        <p:nvSpPr>
          <p:cNvPr id="14" name="Google Shape;116;p15">
            <a:extLst>
              <a:ext uri="{FF2B5EF4-FFF2-40B4-BE49-F238E27FC236}">
                <a16:creationId xmlns:a16="http://schemas.microsoft.com/office/drawing/2014/main" id="{74241212-BFF5-3F9A-C61D-8826A85898D9}"/>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48604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7254CD80-5CE0-F154-8FF7-6C534DD2D3F7}"/>
            </a:ext>
          </a:extLst>
        </p:cNvPr>
        <p:cNvGrpSpPr/>
        <p:nvPr/>
      </p:nvGrpSpPr>
      <p:grpSpPr>
        <a:xfrm>
          <a:off x="0" y="0"/>
          <a:ext cx="0" cy="0"/>
          <a:chOff x="0" y="0"/>
          <a:chExt cx="0" cy="0"/>
        </a:xfrm>
      </p:grpSpPr>
      <p:sp>
        <p:nvSpPr>
          <p:cNvPr id="121" name="Google Shape;121;p16">
            <a:extLst>
              <a:ext uri="{FF2B5EF4-FFF2-40B4-BE49-F238E27FC236}">
                <a16:creationId xmlns:a16="http://schemas.microsoft.com/office/drawing/2014/main" id="{0B1CED47-D791-86EA-D2CA-8837270EB2A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 – CREACIÓN DEL SERVIDOR SOAP</a:t>
            </a:r>
            <a:endParaRPr dirty="0"/>
          </a:p>
        </p:txBody>
      </p:sp>
      <p:sp>
        <p:nvSpPr>
          <p:cNvPr id="122" name="Google Shape;122;p16">
            <a:extLst>
              <a:ext uri="{FF2B5EF4-FFF2-40B4-BE49-F238E27FC236}">
                <a16:creationId xmlns:a16="http://schemas.microsoft.com/office/drawing/2014/main" id="{0C5A18F5-FBEE-8A48-58A8-284C2C59606F}"/>
              </a:ext>
            </a:extLst>
          </p:cNvPr>
          <p:cNvSpPr txBox="1">
            <a:spLocks noGrp="1"/>
          </p:cNvSpPr>
          <p:nvPr>
            <p:ph type="body" idx="1"/>
          </p:nvPr>
        </p:nvSpPr>
        <p:spPr>
          <a:xfrm>
            <a:off x="490244" y="2141623"/>
            <a:ext cx="3556721" cy="1633500"/>
          </a:xfrm>
          <a:prstGeom prst="rect">
            <a:avLst/>
          </a:prstGeom>
          <a:noFill/>
          <a:ln>
            <a:noFill/>
          </a:ln>
        </p:spPr>
        <p:txBody>
          <a:bodyPr spcFirstLastPara="1" wrap="square" lIns="91425" tIns="45700" rIns="91425" bIns="45700" anchor="ctr" anchorCtr="0">
            <a:noAutofit/>
          </a:bodyPr>
          <a:lstStyle/>
          <a:p>
            <a:pPr marL="0" lvl="0" indent="0">
              <a:lnSpc>
                <a:spcPct val="107000"/>
              </a:lnSpc>
              <a:spcBef>
                <a:spcPts val="0"/>
              </a:spcBef>
              <a:buSzPts val="1785"/>
              <a:buNone/>
            </a:pPr>
            <a:r>
              <a:rPr lang="es-ES" sz="1500" dirty="0">
                <a:latin typeface="Cambria" panose="02040503050406030204" pitchFamily="18" charset="0"/>
                <a:ea typeface="Cambria" panose="02040503050406030204" pitchFamily="18" charset="0"/>
              </a:rPr>
              <a:t>El resto de los métodos y clases se codifican como buenas prácticas de codificación y parte de la lógica complementaria.</a:t>
            </a:r>
          </a:p>
        </p:txBody>
      </p:sp>
      <p:sp>
        <p:nvSpPr>
          <p:cNvPr id="3" name="CuadroTexto 2">
            <a:extLst>
              <a:ext uri="{FF2B5EF4-FFF2-40B4-BE49-F238E27FC236}">
                <a16:creationId xmlns:a16="http://schemas.microsoft.com/office/drawing/2014/main" id="{23261275-004E-1DB5-492D-8AE54D789465}"/>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Proyecto - Compartido</a:t>
            </a:r>
          </a:p>
        </p:txBody>
      </p:sp>
      <p:sp>
        <p:nvSpPr>
          <p:cNvPr id="11" name="Elipse 10">
            <a:extLst>
              <a:ext uri="{FF2B5EF4-FFF2-40B4-BE49-F238E27FC236}">
                <a16:creationId xmlns:a16="http://schemas.microsoft.com/office/drawing/2014/main" id="{1A5025A1-6A2F-9B24-BE6E-B0057D5E63D7}"/>
              </a:ext>
            </a:extLst>
          </p:cNvPr>
          <p:cNvSpPr/>
          <p:nvPr/>
        </p:nvSpPr>
        <p:spPr>
          <a:xfrm>
            <a:off x="7537964" y="2011025"/>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5</a:t>
            </a:r>
            <a:endParaRPr lang="es-EC" b="1" dirty="0"/>
          </a:p>
        </p:txBody>
      </p:sp>
      <p:pic>
        <p:nvPicPr>
          <p:cNvPr id="4" name="Imagen 3">
            <a:extLst>
              <a:ext uri="{FF2B5EF4-FFF2-40B4-BE49-F238E27FC236}">
                <a16:creationId xmlns:a16="http://schemas.microsoft.com/office/drawing/2014/main" id="{DDEB9AFC-1C84-EDD7-3423-288C09DD10B1}"/>
              </a:ext>
            </a:extLst>
          </p:cNvPr>
          <p:cNvPicPr>
            <a:picLocks noChangeAspect="1"/>
          </p:cNvPicPr>
          <p:nvPr/>
        </p:nvPicPr>
        <p:blipFill>
          <a:blip r:embed="rId3"/>
          <a:stretch>
            <a:fillRect/>
          </a:stretch>
        </p:blipFill>
        <p:spPr>
          <a:xfrm>
            <a:off x="4479309" y="2322121"/>
            <a:ext cx="3019425" cy="4362450"/>
          </a:xfrm>
          <a:prstGeom prst="rect">
            <a:avLst/>
          </a:prstGeom>
        </p:spPr>
      </p:pic>
      <p:sp>
        <p:nvSpPr>
          <p:cNvPr id="5" name="Google Shape;116;p15">
            <a:extLst>
              <a:ext uri="{FF2B5EF4-FFF2-40B4-BE49-F238E27FC236}">
                <a16:creationId xmlns:a16="http://schemas.microsoft.com/office/drawing/2014/main" id="{9F407B42-2260-7309-B403-63AC76BEF21A}"/>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SERVIDOR SOAP</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97903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7" name="Google Shape;317;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18" name="Google Shape;318;p39"/>
          <p:cNvSpPr txBox="1">
            <a:spLocks noGrp="1"/>
          </p:cNvSpPr>
          <p:nvPr>
            <p:ph type="body" idx="1"/>
          </p:nvPr>
        </p:nvSpPr>
        <p:spPr>
          <a:xfrm>
            <a:off x="404391" y="2227152"/>
            <a:ext cx="8581500" cy="850802"/>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Una vez codificada la clase que contiene la lógica que comparten entre clientes, se procede a continuar con el cliente consola.</a:t>
            </a:r>
            <a:endParaRPr sz="2000" dirty="0">
              <a:latin typeface="Cambria"/>
              <a:ea typeface="Cambria"/>
              <a:cs typeface="Cambria"/>
              <a:sym typeface="Cambria"/>
            </a:endParaRPr>
          </a:p>
        </p:txBody>
      </p:sp>
      <p:sp>
        <p:nvSpPr>
          <p:cNvPr id="2" name="Google Shape;116;p15">
            <a:extLst>
              <a:ext uri="{FF2B5EF4-FFF2-40B4-BE49-F238E27FC236}">
                <a16:creationId xmlns:a16="http://schemas.microsoft.com/office/drawing/2014/main" id="{07CD47A8-C1A4-162B-BEED-D9219E8E458D}"/>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66AB95BD-CADD-1767-78DC-8581FC0265B9}"/>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cliente consola</a:t>
            </a:r>
          </a:p>
        </p:txBody>
      </p:sp>
      <p:sp>
        <p:nvSpPr>
          <p:cNvPr id="4" name="Elipse 3">
            <a:extLst>
              <a:ext uri="{FF2B5EF4-FFF2-40B4-BE49-F238E27FC236}">
                <a16:creationId xmlns:a16="http://schemas.microsoft.com/office/drawing/2014/main" id="{13118E1C-5FB6-3605-09A2-0EA98A43C092}"/>
              </a:ext>
            </a:extLst>
          </p:cNvPr>
          <p:cNvSpPr/>
          <p:nvPr/>
        </p:nvSpPr>
        <p:spPr>
          <a:xfrm>
            <a:off x="1562677" y="3429000"/>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sp>
        <p:nvSpPr>
          <p:cNvPr id="5" name="Google Shape;318;p39">
            <a:extLst>
              <a:ext uri="{FF2B5EF4-FFF2-40B4-BE49-F238E27FC236}">
                <a16:creationId xmlns:a16="http://schemas.microsoft.com/office/drawing/2014/main" id="{DEA4CA66-BE95-FBBC-C340-20395BC280B8}"/>
              </a:ext>
            </a:extLst>
          </p:cNvPr>
          <p:cNvSpPr txBox="1">
            <a:spLocks/>
          </p:cNvSpPr>
          <p:nvPr/>
        </p:nvSpPr>
        <p:spPr>
          <a:xfrm>
            <a:off x="248973" y="3861527"/>
            <a:ext cx="4766647" cy="850802"/>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Primero se crea un proyecto “Aplicación de consola”</a:t>
            </a:r>
            <a:endParaRPr lang="es-ES" sz="2000" dirty="0">
              <a:latin typeface="Cambria"/>
              <a:ea typeface="Cambria"/>
              <a:cs typeface="Cambria"/>
              <a:sym typeface="Cambria"/>
            </a:endParaRPr>
          </a:p>
        </p:txBody>
      </p:sp>
      <p:pic>
        <p:nvPicPr>
          <p:cNvPr id="6" name="Imagen 5">
            <a:extLst>
              <a:ext uri="{FF2B5EF4-FFF2-40B4-BE49-F238E27FC236}">
                <a16:creationId xmlns:a16="http://schemas.microsoft.com/office/drawing/2014/main" id="{87FCF9D1-9466-0269-3AE9-155B8EF82FC8}"/>
              </a:ext>
            </a:extLst>
          </p:cNvPr>
          <p:cNvPicPr>
            <a:picLocks noChangeAspect="1"/>
          </p:cNvPicPr>
          <p:nvPr/>
        </p:nvPicPr>
        <p:blipFill>
          <a:blip r:embed="rId3"/>
          <a:stretch>
            <a:fillRect/>
          </a:stretch>
        </p:blipFill>
        <p:spPr>
          <a:xfrm>
            <a:off x="581192" y="4712329"/>
            <a:ext cx="3769684" cy="1726255"/>
          </a:xfrm>
          <a:prstGeom prst="rect">
            <a:avLst/>
          </a:prstGeom>
        </p:spPr>
      </p:pic>
      <p:sp>
        <p:nvSpPr>
          <p:cNvPr id="8" name="Elipse 7">
            <a:extLst>
              <a:ext uri="{FF2B5EF4-FFF2-40B4-BE49-F238E27FC236}">
                <a16:creationId xmlns:a16="http://schemas.microsoft.com/office/drawing/2014/main" id="{4513C9F1-7DF2-C8D1-1C5E-A425E4598467}"/>
              </a:ext>
            </a:extLst>
          </p:cNvPr>
          <p:cNvSpPr/>
          <p:nvPr/>
        </p:nvSpPr>
        <p:spPr>
          <a:xfrm>
            <a:off x="6510353" y="3470931"/>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sp>
        <p:nvSpPr>
          <p:cNvPr id="9" name="Google Shape;318;p39">
            <a:extLst>
              <a:ext uri="{FF2B5EF4-FFF2-40B4-BE49-F238E27FC236}">
                <a16:creationId xmlns:a16="http://schemas.microsoft.com/office/drawing/2014/main" id="{BCB56DD7-D4F1-1C34-3009-FE20C768F638}"/>
              </a:ext>
            </a:extLst>
          </p:cNvPr>
          <p:cNvSpPr txBox="1">
            <a:spLocks/>
          </p:cNvSpPr>
          <p:nvPr/>
        </p:nvSpPr>
        <p:spPr>
          <a:xfrm>
            <a:off x="5015620" y="3847460"/>
            <a:ext cx="4766647" cy="850802"/>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Se procede a nombra el proyecto del cliente consola nuevo</a:t>
            </a:r>
            <a:endParaRPr lang="es-ES" sz="2000" dirty="0">
              <a:latin typeface="Cambria"/>
              <a:ea typeface="Cambria"/>
              <a:cs typeface="Cambria"/>
              <a:sym typeface="Cambria"/>
            </a:endParaRPr>
          </a:p>
        </p:txBody>
      </p:sp>
      <p:pic>
        <p:nvPicPr>
          <p:cNvPr id="10" name="Imagen 9">
            <a:extLst>
              <a:ext uri="{FF2B5EF4-FFF2-40B4-BE49-F238E27FC236}">
                <a16:creationId xmlns:a16="http://schemas.microsoft.com/office/drawing/2014/main" id="{D8385698-EE51-8C6B-1470-AF4EBB8C434E}"/>
              </a:ext>
            </a:extLst>
          </p:cNvPr>
          <p:cNvPicPr>
            <a:picLocks noChangeAspect="1"/>
          </p:cNvPicPr>
          <p:nvPr/>
        </p:nvPicPr>
        <p:blipFill>
          <a:blip r:embed="rId4"/>
          <a:stretch>
            <a:fillRect/>
          </a:stretch>
        </p:blipFill>
        <p:spPr>
          <a:xfrm>
            <a:off x="5463564" y="4712329"/>
            <a:ext cx="3307721" cy="206469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45CCCFA3-FF11-1E56-F31F-FC68EA5D205D}"/>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3E98F38C-EA25-D62D-256F-808A2691095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18" name="Google Shape;318;p39">
            <a:extLst>
              <a:ext uri="{FF2B5EF4-FFF2-40B4-BE49-F238E27FC236}">
                <a16:creationId xmlns:a16="http://schemas.microsoft.com/office/drawing/2014/main" id="{52A1DE7A-163C-EB48-0F61-A427FB6CA05A}"/>
              </a:ext>
            </a:extLst>
          </p:cNvPr>
          <p:cNvSpPr txBox="1">
            <a:spLocks noGrp="1"/>
          </p:cNvSpPr>
          <p:nvPr>
            <p:ph type="body" idx="1"/>
          </p:nvPr>
        </p:nvSpPr>
        <p:spPr>
          <a:xfrm>
            <a:off x="513032" y="2416703"/>
            <a:ext cx="8581500" cy="850802"/>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Dentro del proyecto, se añade nuestro proyecto “Compartido” para poder modificarlo paralelamente.</a:t>
            </a:r>
            <a:endParaRPr sz="2000" dirty="0">
              <a:latin typeface="Cambria"/>
              <a:ea typeface="Cambria"/>
              <a:cs typeface="Cambria"/>
              <a:sym typeface="Cambria"/>
            </a:endParaRPr>
          </a:p>
        </p:txBody>
      </p:sp>
      <p:sp>
        <p:nvSpPr>
          <p:cNvPr id="3" name="CuadroTexto 2">
            <a:extLst>
              <a:ext uri="{FF2B5EF4-FFF2-40B4-BE49-F238E27FC236}">
                <a16:creationId xmlns:a16="http://schemas.microsoft.com/office/drawing/2014/main" id="{3A0C3C5C-5724-4E68-AF91-9CEB9D4DC0A9}"/>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cliente consola</a:t>
            </a:r>
          </a:p>
        </p:txBody>
      </p:sp>
      <p:sp>
        <p:nvSpPr>
          <p:cNvPr id="8" name="Elipse 7">
            <a:extLst>
              <a:ext uri="{FF2B5EF4-FFF2-40B4-BE49-F238E27FC236}">
                <a16:creationId xmlns:a16="http://schemas.microsoft.com/office/drawing/2014/main" id="{DF832C42-AAEE-DBFA-3BA7-A1C796A3500B}"/>
              </a:ext>
            </a:extLst>
          </p:cNvPr>
          <p:cNvSpPr/>
          <p:nvPr/>
        </p:nvSpPr>
        <p:spPr>
          <a:xfrm>
            <a:off x="4375372" y="2170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3</a:t>
            </a:r>
            <a:endParaRPr lang="es-EC" b="1" dirty="0"/>
          </a:p>
        </p:txBody>
      </p:sp>
      <p:pic>
        <p:nvPicPr>
          <p:cNvPr id="7" name="Imagen 6">
            <a:extLst>
              <a:ext uri="{FF2B5EF4-FFF2-40B4-BE49-F238E27FC236}">
                <a16:creationId xmlns:a16="http://schemas.microsoft.com/office/drawing/2014/main" id="{8C32F70B-8E76-7E26-AA4F-C0D58DBF1A9D}"/>
              </a:ext>
            </a:extLst>
          </p:cNvPr>
          <p:cNvPicPr>
            <a:picLocks noChangeAspect="1"/>
          </p:cNvPicPr>
          <p:nvPr/>
        </p:nvPicPr>
        <p:blipFill>
          <a:blip r:embed="rId3"/>
          <a:stretch>
            <a:fillRect/>
          </a:stretch>
        </p:blipFill>
        <p:spPr>
          <a:xfrm>
            <a:off x="404391" y="3362087"/>
            <a:ext cx="3623882" cy="3296798"/>
          </a:xfrm>
          <a:prstGeom prst="rect">
            <a:avLst/>
          </a:prstGeom>
        </p:spPr>
      </p:pic>
      <p:pic>
        <p:nvPicPr>
          <p:cNvPr id="11" name="Imagen 10">
            <a:extLst>
              <a:ext uri="{FF2B5EF4-FFF2-40B4-BE49-F238E27FC236}">
                <a16:creationId xmlns:a16="http://schemas.microsoft.com/office/drawing/2014/main" id="{6E8F0E6C-A16E-75E3-9A43-D9157FF81A8E}"/>
              </a:ext>
            </a:extLst>
          </p:cNvPr>
          <p:cNvPicPr>
            <a:picLocks noChangeAspect="1"/>
          </p:cNvPicPr>
          <p:nvPr/>
        </p:nvPicPr>
        <p:blipFill>
          <a:blip r:embed="rId4"/>
          <a:stretch>
            <a:fillRect/>
          </a:stretch>
        </p:blipFill>
        <p:spPr>
          <a:xfrm>
            <a:off x="4375372" y="3732977"/>
            <a:ext cx="4790928" cy="2312363"/>
          </a:xfrm>
          <a:prstGeom prst="rect">
            <a:avLst/>
          </a:prstGeom>
        </p:spPr>
      </p:pic>
      <p:sp>
        <p:nvSpPr>
          <p:cNvPr id="12" name="Google Shape;116;p15">
            <a:extLst>
              <a:ext uri="{FF2B5EF4-FFF2-40B4-BE49-F238E27FC236}">
                <a16:creationId xmlns:a16="http://schemas.microsoft.com/office/drawing/2014/main" id="{9C545F51-73D3-A8CF-82D0-9D5AF2E4E8B7}"/>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00392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5FE3C1F4-BBC2-1560-83D5-FBDE308A0103}"/>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5072C0E8-1A83-AB49-4E3D-A2FE02B17952}"/>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18" name="Google Shape;318;p39">
            <a:extLst>
              <a:ext uri="{FF2B5EF4-FFF2-40B4-BE49-F238E27FC236}">
                <a16:creationId xmlns:a16="http://schemas.microsoft.com/office/drawing/2014/main" id="{FDDA9BD9-62B9-8787-E3E2-92B2D0F01002}"/>
              </a:ext>
            </a:extLst>
          </p:cNvPr>
          <p:cNvSpPr txBox="1">
            <a:spLocks noGrp="1"/>
          </p:cNvSpPr>
          <p:nvPr>
            <p:ph type="body" idx="1"/>
          </p:nvPr>
        </p:nvSpPr>
        <p:spPr>
          <a:xfrm>
            <a:off x="494925" y="2299015"/>
            <a:ext cx="8581500" cy="850802"/>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Se añade nuestro proyecto “Compartido” para poder modificarlo paralelamente.</a:t>
            </a:r>
          </a:p>
        </p:txBody>
      </p:sp>
      <p:sp>
        <p:nvSpPr>
          <p:cNvPr id="3" name="CuadroTexto 2">
            <a:extLst>
              <a:ext uri="{FF2B5EF4-FFF2-40B4-BE49-F238E27FC236}">
                <a16:creationId xmlns:a16="http://schemas.microsoft.com/office/drawing/2014/main" id="{A1E704CD-765B-B424-FD03-9E3A82687D1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cliente consola</a:t>
            </a:r>
          </a:p>
        </p:txBody>
      </p:sp>
      <p:sp>
        <p:nvSpPr>
          <p:cNvPr id="8" name="Elipse 7">
            <a:extLst>
              <a:ext uri="{FF2B5EF4-FFF2-40B4-BE49-F238E27FC236}">
                <a16:creationId xmlns:a16="http://schemas.microsoft.com/office/drawing/2014/main" id="{56215907-D69C-1B1E-C146-4E4C2CD8DAC5}"/>
              </a:ext>
            </a:extLst>
          </p:cNvPr>
          <p:cNvSpPr/>
          <p:nvPr/>
        </p:nvSpPr>
        <p:spPr>
          <a:xfrm>
            <a:off x="4375372" y="2170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4</a:t>
            </a:r>
            <a:endParaRPr lang="es-EC" b="1" dirty="0"/>
          </a:p>
        </p:txBody>
      </p:sp>
      <p:pic>
        <p:nvPicPr>
          <p:cNvPr id="6" name="Imagen 5">
            <a:extLst>
              <a:ext uri="{FF2B5EF4-FFF2-40B4-BE49-F238E27FC236}">
                <a16:creationId xmlns:a16="http://schemas.microsoft.com/office/drawing/2014/main" id="{F77BDAC8-427D-F55E-23F1-5E2E161D6440}"/>
              </a:ext>
            </a:extLst>
          </p:cNvPr>
          <p:cNvPicPr>
            <a:picLocks noChangeAspect="1"/>
          </p:cNvPicPr>
          <p:nvPr/>
        </p:nvPicPr>
        <p:blipFill>
          <a:blip r:embed="rId3"/>
          <a:stretch>
            <a:fillRect/>
          </a:stretch>
        </p:blipFill>
        <p:spPr>
          <a:xfrm>
            <a:off x="304139" y="3065162"/>
            <a:ext cx="4161202" cy="3480493"/>
          </a:xfrm>
          <a:prstGeom prst="rect">
            <a:avLst/>
          </a:prstGeom>
        </p:spPr>
      </p:pic>
      <p:pic>
        <p:nvPicPr>
          <p:cNvPr id="9" name="Imagen 8">
            <a:extLst>
              <a:ext uri="{FF2B5EF4-FFF2-40B4-BE49-F238E27FC236}">
                <a16:creationId xmlns:a16="http://schemas.microsoft.com/office/drawing/2014/main" id="{71C5E573-5243-EF3E-2FB1-5C1C003B5FD4}"/>
              </a:ext>
            </a:extLst>
          </p:cNvPr>
          <p:cNvPicPr>
            <a:picLocks noChangeAspect="1"/>
          </p:cNvPicPr>
          <p:nvPr/>
        </p:nvPicPr>
        <p:blipFill>
          <a:blip r:embed="rId4"/>
          <a:stretch>
            <a:fillRect/>
          </a:stretch>
        </p:blipFill>
        <p:spPr>
          <a:xfrm>
            <a:off x="4683801" y="3149817"/>
            <a:ext cx="4583410" cy="3145940"/>
          </a:xfrm>
          <a:prstGeom prst="rect">
            <a:avLst/>
          </a:prstGeom>
        </p:spPr>
      </p:pic>
      <p:sp>
        <p:nvSpPr>
          <p:cNvPr id="10" name="Google Shape;116;p15">
            <a:extLst>
              <a:ext uri="{FF2B5EF4-FFF2-40B4-BE49-F238E27FC236}">
                <a16:creationId xmlns:a16="http://schemas.microsoft.com/office/drawing/2014/main" id="{D167820A-4C28-1E0A-DC84-368BD730B5FC}"/>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72880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E8FA8258-6387-07F3-43AC-C70EDA78C383}"/>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5A939DBF-4232-78FC-F1B7-9E6F8DF6D87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18" name="Google Shape;318;p39">
            <a:extLst>
              <a:ext uri="{FF2B5EF4-FFF2-40B4-BE49-F238E27FC236}">
                <a16:creationId xmlns:a16="http://schemas.microsoft.com/office/drawing/2014/main" id="{886E3455-BD9E-559D-F24F-96343959EEEA}"/>
              </a:ext>
            </a:extLst>
          </p:cNvPr>
          <p:cNvSpPr txBox="1">
            <a:spLocks noGrp="1"/>
          </p:cNvSpPr>
          <p:nvPr>
            <p:ph type="body" idx="1"/>
          </p:nvPr>
        </p:nvSpPr>
        <p:spPr>
          <a:xfrm>
            <a:off x="581192" y="2418012"/>
            <a:ext cx="8581500" cy="850802"/>
          </a:xfrm>
          <a:prstGeom prst="rect">
            <a:avLst/>
          </a:prstGeom>
          <a:noFill/>
          <a:ln>
            <a:noFill/>
          </a:ln>
        </p:spPr>
        <p:txBody>
          <a:bodyPr spcFirstLastPara="1" wrap="square" lIns="91425" tIns="45700" rIns="91425" bIns="45700" anchor="ctr" anchorCtr="0">
            <a:normAutofit fontScale="925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Una vez se tiene la lógica lista, se procede a codificar la interfaz del cliente, que sencillamente consume los servicios en una consola solicitando los datos respectivamente.</a:t>
            </a:r>
          </a:p>
        </p:txBody>
      </p:sp>
      <p:sp>
        <p:nvSpPr>
          <p:cNvPr id="3" name="CuadroTexto 2">
            <a:extLst>
              <a:ext uri="{FF2B5EF4-FFF2-40B4-BE49-F238E27FC236}">
                <a16:creationId xmlns:a16="http://schemas.microsoft.com/office/drawing/2014/main" id="{4631F0D0-4CFA-A7CB-5627-F3580361C96C}"/>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cliente consola</a:t>
            </a:r>
          </a:p>
        </p:txBody>
      </p:sp>
      <p:sp>
        <p:nvSpPr>
          <p:cNvPr id="8" name="Elipse 7">
            <a:extLst>
              <a:ext uri="{FF2B5EF4-FFF2-40B4-BE49-F238E27FC236}">
                <a16:creationId xmlns:a16="http://schemas.microsoft.com/office/drawing/2014/main" id="{FAC20F1A-E890-FF70-7353-33BF3A41BF0E}"/>
              </a:ext>
            </a:extLst>
          </p:cNvPr>
          <p:cNvSpPr/>
          <p:nvPr/>
        </p:nvSpPr>
        <p:spPr>
          <a:xfrm>
            <a:off x="4375372" y="2170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5</a:t>
            </a:r>
            <a:endParaRPr lang="es-EC" b="1" dirty="0"/>
          </a:p>
        </p:txBody>
      </p:sp>
      <p:pic>
        <p:nvPicPr>
          <p:cNvPr id="5" name="Imagen 4">
            <a:extLst>
              <a:ext uri="{FF2B5EF4-FFF2-40B4-BE49-F238E27FC236}">
                <a16:creationId xmlns:a16="http://schemas.microsoft.com/office/drawing/2014/main" id="{6A819142-A9E4-EDF8-68B8-966604297C5E}"/>
              </a:ext>
            </a:extLst>
          </p:cNvPr>
          <p:cNvPicPr>
            <a:picLocks noChangeAspect="1"/>
          </p:cNvPicPr>
          <p:nvPr/>
        </p:nvPicPr>
        <p:blipFill>
          <a:blip r:embed="rId3"/>
          <a:stretch>
            <a:fillRect/>
          </a:stretch>
        </p:blipFill>
        <p:spPr>
          <a:xfrm>
            <a:off x="172016" y="3429000"/>
            <a:ext cx="5769011" cy="2930188"/>
          </a:xfrm>
          <a:prstGeom prst="rect">
            <a:avLst/>
          </a:prstGeom>
        </p:spPr>
      </p:pic>
      <p:pic>
        <p:nvPicPr>
          <p:cNvPr id="10" name="Imagen 9">
            <a:extLst>
              <a:ext uri="{FF2B5EF4-FFF2-40B4-BE49-F238E27FC236}">
                <a16:creationId xmlns:a16="http://schemas.microsoft.com/office/drawing/2014/main" id="{A01D8FAB-9170-D74C-FB0E-4D2EB6AFE928}"/>
              </a:ext>
            </a:extLst>
          </p:cNvPr>
          <p:cNvPicPr>
            <a:picLocks noChangeAspect="1"/>
          </p:cNvPicPr>
          <p:nvPr/>
        </p:nvPicPr>
        <p:blipFill>
          <a:blip r:embed="rId4"/>
          <a:stretch>
            <a:fillRect/>
          </a:stretch>
        </p:blipFill>
        <p:spPr>
          <a:xfrm>
            <a:off x="6162032" y="3268814"/>
            <a:ext cx="2378741" cy="3418190"/>
          </a:xfrm>
          <a:prstGeom prst="rect">
            <a:avLst/>
          </a:prstGeom>
        </p:spPr>
      </p:pic>
      <p:sp>
        <p:nvSpPr>
          <p:cNvPr id="11" name="Google Shape;116;p15">
            <a:extLst>
              <a:ext uri="{FF2B5EF4-FFF2-40B4-BE49-F238E27FC236}">
                <a16:creationId xmlns:a16="http://schemas.microsoft.com/office/drawing/2014/main" id="{B1E1B139-2AD2-2CF2-E56B-3B38F653B5A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611402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C74886A0-8908-B7A5-6BEC-93D9B5F2A812}"/>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45387047-2AFA-96D3-BCCB-60E2205AD11E}"/>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18" name="Google Shape;318;p39">
            <a:extLst>
              <a:ext uri="{FF2B5EF4-FFF2-40B4-BE49-F238E27FC236}">
                <a16:creationId xmlns:a16="http://schemas.microsoft.com/office/drawing/2014/main" id="{7205D014-A3C3-371D-A675-70826446B133}"/>
              </a:ext>
            </a:extLst>
          </p:cNvPr>
          <p:cNvSpPr txBox="1">
            <a:spLocks noGrp="1"/>
          </p:cNvSpPr>
          <p:nvPr>
            <p:ph type="body" idx="1"/>
          </p:nvPr>
        </p:nvSpPr>
        <p:spPr>
          <a:xfrm>
            <a:off x="581192" y="2418012"/>
            <a:ext cx="8581500" cy="850802"/>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Con el cliente consola codificado, se procede a ejecutar y en las Figuras X-Y se puede observar la ejecución con las funcionalidades.</a:t>
            </a:r>
          </a:p>
        </p:txBody>
      </p:sp>
      <p:sp>
        <p:nvSpPr>
          <p:cNvPr id="3" name="CuadroTexto 2">
            <a:extLst>
              <a:ext uri="{FF2B5EF4-FFF2-40B4-BE49-F238E27FC236}">
                <a16:creationId xmlns:a16="http://schemas.microsoft.com/office/drawing/2014/main" id="{060E149E-75B4-1C47-B9BE-EC7CE7B17059}"/>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Creación del cliente consola</a:t>
            </a:r>
          </a:p>
        </p:txBody>
      </p:sp>
      <p:sp>
        <p:nvSpPr>
          <p:cNvPr id="8" name="Elipse 7">
            <a:extLst>
              <a:ext uri="{FF2B5EF4-FFF2-40B4-BE49-F238E27FC236}">
                <a16:creationId xmlns:a16="http://schemas.microsoft.com/office/drawing/2014/main" id="{ECBB9466-AFB6-EDD2-778F-CD7510813063}"/>
              </a:ext>
            </a:extLst>
          </p:cNvPr>
          <p:cNvSpPr/>
          <p:nvPr/>
        </p:nvSpPr>
        <p:spPr>
          <a:xfrm>
            <a:off x="4375372" y="2170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6</a:t>
            </a:r>
            <a:endParaRPr lang="es-EC" b="1" dirty="0"/>
          </a:p>
        </p:txBody>
      </p:sp>
      <p:pic>
        <p:nvPicPr>
          <p:cNvPr id="4" name="Imagen 3">
            <a:extLst>
              <a:ext uri="{FF2B5EF4-FFF2-40B4-BE49-F238E27FC236}">
                <a16:creationId xmlns:a16="http://schemas.microsoft.com/office/drawing/2014/main" id="{7A5A83F2-08F1-99D1-2962-F57F1066A4E5}"/>
              </a:ext>
            </a:extLst>
          </p:cNvPr>
          <p:cNvPicPr>
            <a:picLocks noChangeAspect="1"/>
          </p:cNvPicPr>
          <p:nvPr/>
        </p:nvPicPr>
        <p:blipFill>
          <a:blip r:embed="rId3"/>
          <a:stretch>
            <a:fillRect/>
          </a:stretch>
        </p:blipFill>
        <p:spPr>
          <a:xfrm>
            <a:off x="2353900" y="3364705"/>
            <a:ext cx="5609169" cy="3380727"/>
          </a:xfrm>
          <a:prstGeom prst="rect">
            <a:avLst/>
          </a:prstGeom>
        </p:spPr>
      </p:pic>
      <p:sp>
        <p:nvSpPr>
          <p:cNvPr id="6" name="Google Shape;116;p15">
            <a:extLst>
              <a:ext uri="{FF2B5EF4-FFF2-40B4-BE49-F238E27FC236}">
                <a16:creationId xmlns:a16="http://schemas.microsoft.com/office/drawing/2014/main" id="{DF2032C9-5CB5-5CC4-5D04-B78C548494CC}"/>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20111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9BD4DFCC-6461-33DF-CC47-1A8935BB8FE5}"/>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35DEC2DD-6058-DFB2-BA6B-636ABF9C96A1}"/>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 name="CuadroTexto 2">
            <a:extLst>
              <a:ext uri="{FF2B5EF4-FFF2-40B4-BE49-F238E27FC236}">
                <a16:creationId xmlns:a16="http://schemas.microsoft.com/office/drawing/2014/main" id="{206CFB27-AAAB-2C87-6A2D-50DAC73A0D7A}"/>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Resultado del cliente consola</a:t>
            </a:r>
          </a:p>
        </p:txBody>
      </p:sp>
      <p:pic>
        <p:nvPicPr>
          <p:cNvPr id="11" name="Imagen 10">
            <a:extLst>
              <a:ext uri="{FF2B5EF4-FFF2-40B4-BE49-F238E27FC236}">
                <a16:creationId xmlns:a16="http://schemas.microsoft.com/office/drawing/2014/main" id="{8CAB749E-239D-20E2-D12A-C28694D2A794}"/>
              </a:ext>
            </a:extLst>
          </p:cNvPr>
          <p:cNvPicPr>
            <a:picLocks noChangeAspect="1"/>
          </p:cNvPicPr>
          <p:nvPr/>
        </p:nvPicPr>
        <p:blipFill>
          <a:blip r:embed="rId3"/>
          <a:stretch>
            <a:fillRect/>
          </a:stretch>
        </p:blipFill>
        <p:spPr>
          <a:xfrm>
            <a:off x="483646" y="2567390"/>
            <a:ext cx="4163006" cy="3677163"/>
          </a:xfrm>
          <a:prstGeom prst="rect">
            <a:avLst/>
          </a:prstGeom>
        </p:spPr>
      </p:pic>
      <p:pic>
        <p:nvPicPr>
          <p:cNvPr id="13" name="Imagen 12">
            <a:extLst>
              <a:ext uri="{FF2B5EF4-FFF2-40B4-BE49-F238E27FC236}">
                <a16:creationId xmlns:a16="http://schemas.microsoft.com/office/drawing/2014/main" id="{DD1BB4C9-7B68-0ADA-4F19-C58CB83FD356}"/>
              </a:ext>
            </a:extLst>
          </p:cNvPr>
          <p:cNvPicPr>
            <a:picLocks noChangeAspect="1"/>
          </p:cNvPicPr>
          <p:nvPr/>
        </p:nvPicPr>
        <p:blipFill>
          <a:blip r:embed="rId4"/>
          <a:stretch>
            <a:fillRect/>
          </a:stretch>
        </p:blipFill>
        <p:spPr>
          <a:xfrm>
            <a:off x="5220732" y="2567390"/>
            <a:ext cx="3837039" cy="3677163"/>
          </a:xfrm>
          <a:prstGeom prst="rect">
            <a:avLst/>
          </a:prstGeom>
        </p:spPr>
      </p:pic>
      <p:sp>
        <p:nvSpPr>
          <p:cNvPr id="14" name="Google Shape;116;p15">
            <a:extLst>
              <a:ext uri="{FF2B5EF4-FFF2-40B4-BE49-F238E27FC236}">
                <a16:creationId xmlns:a16="http://schemas.microsoft.com/office/drawing/2014/main" id="{A98B52C1-CAB7-51DA-575D-D8E021968B97}"/>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09284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968452F6-7868-63CE-A285-24509A80ED49}"/>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8E7C4893-2C00-B868-C33F-6D1399F13C47}"/>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CONSOLA</a:t>
            </a:r>
            <a:endParaRPr dirty="0"/>
          </a:p>
        </p:txBody>
      </p:sp>
      <p:sp>
        <p:nvSpPr>
          <p:cNvPr id="3" name="CuadroTexto 2">
            <a:extLst>
              <a:ext uri="{FF2B5EF4-FFF2-40B4-BE49-F238E27FC236}">
                <a16:creationId xmlns:a16="http://schemas.microsoft.com/office/drawing/2014/main" id="{69D73BA8-DD7A-3278-290C-F83B5FE23D11}"/>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sym typeface="Gill Sans"/>
              </a:rPr>
              <a:t> </a:t>
            </a:r>
            <a:r>
              <a:rPr lang="es-ES" sz="1800" b="1" dirty="0">
                <a:latin typeface="Cambria"/>
                <a:ea typeface="Cambria"/>
                <a:cs typeface="Cambria"/>
                <a:sym typeface="Cambria"/>
              </a:rPr>
              <a:t>Resultado del cliente consola</a:t>
            </a:r>
          </a:p>
        </p:txBody>
      </p:sp>
      <p:pic>
        <p:nvPicPr>
          <p:cNvPr id="7" name="Imagen 6">
            <a:extLst>
              <a:ext uri="{FF2B5EF4-FFF2-40B4-BE49-F238E27FC236}">
                <a16:creationId xmlns:a16="http://schemas.microsoft.com/office/drawing/2014/main" id="{86DD2CF7-7841-326D-8CE8-841ACBC32A0B}"/>
              </a:ext>
            </a:extLst>
          </p:cNvPr>
          <p:cNvPicPr>
            <a:picLocks noChangeAspect="1"/>
          </p:cNvPicPr>
          <p:nvPr/>
        </p:nvPicPr>
        <p:blipFill>
          <a:blip r:embed="rId3"/>
          <a:stretch>
            <a:fillRect/>
          </a:stretch>
        </p:blipFill>
        <p:spPr>
          <a:xfrm>
            <a:off x="1108794" y="2567390"/>
            <a:ext cx="3256254" cy="4196281"/>
          </a:xfrm>
          <a:prstGeom prst="rect">
            <a:avLst/>
          </a:prstGeom>
        </p:spPr>
      </p:pic>
      <p:pic>
        <p:nvPicPr>
          <p:cNvPr id="9" name="Imagen 8">
            <a:extLst>
              <a:ext uri="{FF2B5EF4-FFF2-40B4-BE49-F238E27FC236}">
                <a16:creationId xmlns:a16="http://schemas.microsoft.com/office/drawing/2014/main" id="{C6319E79-E113-529D-B302-F49E14A8F0BF}"/>
              </a:ext>
            </a:extLst>
          </p:cNvPr>
          <p:cNvPicPr>
            <a:picLocks noChangeAspect="1"/>
          </p:cNvPicPr>
          <p:nvPr/>
        </p:nvPicPr>
        <p:blipFill>
          <a:blip r:embed="rId4"/>
          <a:stretch>
            <a:fillRect/>
          </a:stretch>
        </p:blipFill>
        <p:spPr>
          <a:xfrm>
            <a:off x="5375917" y="2668176"/>
            <a:ext cx="3256254" cy="4095495"/>
          </a:xfrm>
          <a:prstGeom prst="rect">
            <a:avLst/>
          </a:prstGeom>
        </p:spPr>
      </p:pic>
      <p:sp>
        <p:nvSpPr>
          <p:cNvPr id="10" name="Google Shape;116;p15">
            <a:extLst>
              <a:ext uri="{FF2B5EF4-FFF2-40B4-BE49-F238E27FC236}">
                <a16:creationId xmlns:a16="http://schemas.microsoft.com/office/drawing/2014/main" id="{7A3D0FCE-6106-B6D6-C389-676F6F96C34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CONSOLA</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00850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99E5165A-59D7-A4D0-DA0F-17FF42EFBCEF}"/>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3C96D46F-DD7E-AADC-C07E-07B5572F81C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D104ADA2-A58C-67F9-B5D8-AF0F586EF05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49D26D56-6FA2-94D2-C112-4C48179BE650}"/>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móvil</a:t>
            </a:r>
          </a:p>
        </p:txBody>
      </p:sp>
      <p:sp>
        <p:nvSpPr>
          <p:cNvPr id="4" name="Google Shape;318;p39">
            <a:extLst>
              <a:ext uri="{FF2B5EF4-FFF2-40B4-BE49-F238E27FC236}">
                <a16:creationId xmlns:a16="http://schemas.microsoft.com/office/drawing/2014/main" id="{3D89930A-FBBD-80DD-B92F-82C38D75AF72}"/>
              </a:ext>
            </a:extLst>
          </p:cNvPr>
          <p:cNvSpPr txBox="1">
            <a:spLocks noGrp="1"/>
          </p:cNvSpPr>
          <p:nvPr>
            <p:ph type="body" idx="1"/>
          </p:nvPr>
        </p:nvSpPr>
        <p:spPr>
          <a:xfrm>
            <a:off x="404391" y="2227152"/>
            <a:ext cx="8581500" cy="850802"/>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Una vez codificada la clase que contiene la lógica que comparten entre clientes, se procede a continuar con el cliente móvil.</a:t>
            </a:r>
            <a:endParaRPr sz="2000" dirty="0">
              <a:latin typeface="Cambria"/>
              <a:ea typeface="Cambria"/>
              <a:cs typeface="Cambria"/>
              <a:sym typeface="Cambria"/>
            </a:endParaRPr>
          </a:p>
        </p:txBody>
      </p:sp>
      <p:sp>
        <p:nvSpPr>
          <p:cNvPr id="5" name="Elipse 4">
            <a:extLst>
              <a:ext uri="{FF2B5EF4-FFF2-40B4-BE49-F238E27FC236}">
                <a16:creationId xmlns:a16="http://schemas.microsoft.com/office/drawing/2014/main" id="{55AF40C9-5079-90BD-30E1-3803523A3410}"/>
              </a:ext>
            </a:extLst>
          </p:cNvPr>
          <p:cNvSpPr/>
          <p:nvPr/>
        </p:nvSpPr>
        <p:spPr>
          <a:xfrm>
            <a:off x="3455408" y="3429000"/>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sp>
        <p:nvSpPr>
          <p:cNvPr id="6" name="Google Shape;318;p39">
            <a:extLst>
              <a:ext uri="{FF2B5EF4-FFF2-40B4-BE49-F238E27FC236}">
                <a16:creationId xmlns:a16="http://schemas.microsoft.com/office/drawing/2014/main" id="{8DBD350F-0DEB-F641-10E1-DC69A096766A}"/>
              </a:ext>
            </a:extLst>
          </p:cNvPr>
          <p:cNvSpPr txBox="1">
            <a:spLocks/>
          </p:cNvSpPr>
          <p:nvPr/>
        </p:nvSpPr>
        <p:spPr>
          <a:xfrm>
            <a:off x="248973" y="3861527"/>
            <a:ext cx="8885974" cy="850802"/>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En primer lugar, se crea un proyecto “MAUI Blazor”. Este permite crear un proyecto multiplataforma</a:t>
            </a:r>
            <a:endParaRPr lang="es-ES" sz="2000" dirty="0">
              <a:latin typeface="Cambria"/>
              <a:ea typeface="Cambria"/>
              <a:cs typeface="Cambria"/>
              <a:sym typeface="Cambria"/>
            </a:endParaRPr>
          </a:p>
        </p:txBody>
      </p:sp>
      <p:pic>
        <p:nvPicPr>
          <p:cNvPr id="12" name="Imagen 11">
            <a:extLst>
              <a:ext uri="{FF2B5EF4-FFF2-40B4-BE49-F238E27FC236}">
                <a16:creationId xmlns:a16="http://schemas.microsoft.com/office/drawing/2014/main" id="{E2AE5003-2CF0-AC89-ACE1-0EB787B0432D}"/>
              </a:ext>
            </a:extLst>
          </p:cNvPr>
          <p:cNvPicPr>
            <a:picLocks noChangeAspect="1"/>
          </p:cNvPicPr>
          <p:nvPr/>
        </p:nvPicPr>
        <p:blipFill>
          <a:blip r:embed="rId3"/>
          <a:stretch>
            <a:fillRect/>
          </a:stretch>
        </p:blipFill>
        <p:spPr>
          <a:xfrm>
            <a:off x="2212000" y="4540916"/>
            <a:ext cx="6625206" cy="2160251"/>
          </a:xfrm>
          <a:prstGeom prst="rect">
            <a:avLst/>
          </a:prstGeom>
        </p:spPr>
      </p:pic>
    </p:spTree>
    <p:extLst>
      <p:ext uri="{BB962C8B-B14F-4D97-AF65-F5344CB8AC3E}">
        <p14:creationId xmlns:p14="http://schemas.microsoft.com/office/powerpoint/2010/main" val="17915979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B88DC707-CC64-D266-8C5E-38D3F7E958E9}"/>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F3865B84-228D-9210-B39F-751193C358E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8434B07A-9CB3-5908-68C8-898331CF66C0}"/>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FF3E8E1A-6CE5-99F4-AC30-6ED7CFC2F917}"/>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móvil</a:t>
            </a:r>
          </a:p>
        </p:txBody>
      </p:sp>
      <p:sp>
        <p:nvSpPr>
          <p:cNvPr id="5" name="Elipse 4">
            <a:extLst>
              <a:ext uri="{FF2B5EF4-FFF2-40B4-BE49-F238E27FC236}">
                <a16:creationId xmlns:a16="http://schemas.microsoft.com/office/drawing/2014/main" id="{69548009-6A45-A0D2-EC1C-C104EAF6FE8E}"/>
              </a:ext>
            </a:extLst>
          </p:cNvPr>
          <p:cNvSpPr/>
          <p:nvPr/>
        </p:nvSpPr>
        <p:spPr>
          <a:xfrm>
            <a:off x="1532499" y="2395245"/>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sp>
        <p:nvSpPr>
          <p:cNvPr id="6" name="Google Shape;318;p39">
            <a:extLst>
              <a:ext uri="{FF2B5EF4-FFF2-40B4-BE49-F238E27FC236}">
                <a16:creationId xmlns:a16="http://schemas.microsoft.com/office/drawing/2014/main" id="{F9C71E1D-DAD7-1EFE-E28C-054E30842666}"/>
              </a:ext>
            </a:extLst>
          </p:cNvPr>
          <p:cNvSpPr txBox="1">
            <a:spLocks/>
          </p:cNvSpPr>
          <p:nvPr/>
        </p:nvSpPr>
        <p:spPr>
          <a:xfrm>
            <a:off x="5067270" y="2352914"/>
            <a:ext cx="4316427" cy="131171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Dentro del proyecto, se añade el proyecto “Compartido” para poder modificarlo paralelamente</a:t>
            </a:r>
            <a:endParaRPr lang="es-ES" sz="2000" dirty="0">
              <a:latin typeface="Cambria"/>
              <a:ea typeface="Cambria"/>
              <a:cs typeface="Cambria"/>
              <a:sym typeface="Cambria"/>
            </a:endParaRPr>
          </a:p>
        </p:txBody>
      </p:sp>
      <p:pic>
        <p:nvPicPr>
          <p:cNvPr id="9" name="Imagen 8">
            <a:extLst>
              <a:ext uri="{FF2B5EF4-FFF2-40B4-BE49-F238E27FC236}">
                <a16:creationId xmlns:a16="http://schemas.microsoft.com/office/drawing/2014/main" id="{8ECFEAAC-A26B-E7E0-6BD1-74E3EC2324B9}"/>
              </a:ext>
            </a:extLst>
          </p:cNvPr>
          <p:cNvPicPr>
            <a:picLocks noChangeAspect="1"/>
          </p:cNvPicPr>
          <p:nvPr/>
        </p:nvPicPr>
        <p:blipFill>
          <a:blip r:embed="rId3"/>
          <a:stretch>
            <a:fillRect/>
          </a:stretch>
        </p:blipFill>
        <p:spPr>
          <a:xfrm>
            <a:off x="253678" y="3835910"/>
            <a:ext cx="4400314" cy="2612470"/>
          </a:xfrm>
          <a:prstGeom prst="rect">
            <a:avLst/>
          </a:prstGeom>
        </p:spPr>
      </p:pic>
      <p:sp>
        <p:nvSpPr>
          <p:cNvPr id="10" name="Elipse 9">
            <a:extLst>
              <a:ext uri="{FF2B5EF4-FFF2-40B4-BE49-F238E27FC236}">
                <a16:creationId xmlns:a16="http://schemas.microsoft.com/office/drawing/2014/main" id="{AE55E7CA-0A19-B71E-8185-79CE0BDC693F}"/>
              </a:ext>
            </a:extLst>
          </p:cNvPr>
          <p:cNvSpPr/>
          <p:nvPr/>
        </p:nvSpPr>
        <p:spPr>
          <a:xfrm>
            <a:off x="6506425" y="2076553"/>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3</a:t>
            </a:r>
            <a:endParaRPr lang="es-EC" b="1" dirty="0"/>
          </a:p>
        </p:txBody>
      </p:sp>
      <p:sp>
        <p:nvSpPr>
          <p:cNvPr id="11" name="Google Shape;318;p39">
            <a:extLst>
              <a:ext uri="{FF2B5EF4-FFF2-40B4-BE49-F238E27FC236}">
                <a16:creationId xmlns:a16="http://schemas.microsoft.com/office/drawing/2014/main" id="{A95E8743-1BFA-3C13-A0BC-34403CCC15CA}"/>
              </a:ext>
            </a:extLst>
          </p:cNvPr>
          <p:cNvSpPr txBox="1">
            <a:spLocks/>
          </p:cNvSpPr>
          <p:nvPr/>
        </p:nvSpPr>
        <p:spPr>
          <a:xfrm>
            <a:off x="632925" y="2647591"/>
            <a:ext cx="3946620" cy="131171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Se nombra el proyecto, y se lo guarda en la carpeta raíz correspondiente</a:t>
            </a:r>
            <a:endParaRPr lang="es-ES" sz="2000" dirty="0">
              <a:latin typeface="Cambria"/>
              <a:ea typeface="Cambria"/>
              <a:cs typeface="Cambria"/>
              <a:sym typeface="Cambria"/>
            </a:endParaRPr>
          </a:p>
        </p:txBody>
      </p:sp>
      <p:pic>
        <p:nvPicPr>
          <p:cNvPr id="13" name="Imagen 12">
            <a:extLst>
              <a:ext uri="{FF2B5EF4-FFF2-40B4-BE49-F238E27FC236}">
                <a16:creationId xmlns:a16="http://schemas.microsoft.com/office/drawing/2014/main" id="{D067FBC0-8C83-ABC7-F15C-5D1CCCA77973}"/>
              </a:ext>
            </a:extLst>
          </p:cNvPr>
          <p:cNvPicPr>
            <a:picLocks noChangeAspect="1"/>
          </p:cNvPicPr>
          <p:nvPr/>
        </p:nvPicPr>
        <p:blipFill>
          <a:blip r:embed="rId4"/>
          <a:stretch>
            <a:fillRect/>
          </a:stretch>
        </p:blipFill>
        <p:spPr>
          <a:xfrm>
            <a:off x="5794218" y="3533784"/>
            <a:ext cx="3297736" cy="2819662"/>
          </a:xfrm>
          <a:prstGeom prst="rect">
            <a:avLst/>
          </a:prstGeom>
        </p:spPr>
      </p:pic>
    </p:spTree>
    <p:extLst>
      <p:ext uri="{BB962C8B-B14F-4D97-AF65-F5344CB8AC3E}">
        <p14:creationId xmlns:p14="http://schemas.microsoft.com/office/powerpoint/2010/main" val="1099314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7A61772D-2E6A-2F45-FB0B-3F76157A63A7}"/>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344EC464-D503-0656-BB11-8C6A591165E8}"/>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3B16DAA4-F010-EC94-5A4D-380D2F81BC08}"/>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E6A25EE0-233F-53B4-3F91-7D2B0D4EB3C1}"/>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móvil</a:t>
            </a:r>
          </a:p>
        </p:txBody>
      </p:sp>
      <p:sp>
        <p:nvSpPr>
          <p:cNvPr id="5" name="Elipse 4">
            <a:extLst>
              <a:ext uri="{FF2B5EF4-FFF2-40B4-BE49-F238E27FC236}">
                <a16:creationId xmlns:a16="http://schemas.microsoft.com/office/drawing/2014/main" id="{675092D5-DF5D-79EC-BD35-289E7C34D213}"/>
              </a:ext>
            </a:extLst>
          </p:cNvPr>
          <p:cNvSpPr/>
          <p:nvPr/>
        </p:nvSpPr>
        <p:spPr>
          <a:xfrm>
            <a:off x="3768299" y="2322121"/>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4</a:t>
            </a:r>
            <a:endParaRPr lang="es-EC" b="1" dirty="0"/>
          </a:p>
        </p:txBody>
      </p:sp>
      <p:sp>
        <p:nvSpPr>
          <p:cNvPr id="11" name="Google Shape;318;p39">
            <a:extLst>
              <a:ext uri="{FF2B5EF4-FFF2-40B4-BE49-F238E27FC236}">
                <a16:creationId xmlns:a16="http://schemas.microsoft.com/office/drawing/2014/main" id="{D0371AB1-F981-64A0-273F-94009464C9A1}"/>
              </a:ext>
            </a:extLst>
          </p:cNvPr>
          <p:cNvSpPr txBox="1">
            <a:spLocks/>
          </p:cNvSpPr>
          <p:nvPr/>
        </p:nvSpPr>
        <p:spPr>
          <a:xfrm>
            <a:off x="794807" y="2567390"/>
            <a:ext cx="8375273" cy="131171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Una vez añadido, este agregado implica un uso dentro de la misma solución independiente, no que el proyecto Consola puede consumir su lógica. Por tanto, dentro de Dependencias se añade una referencia del proyecto.</a:t>
            </a:r>
            <a:endParaRPr lang="es-ES" sz="2000" dirty="0">
              <a:latin typeface="Cambria"/>
              <a:ea typeface="Cambria"/>
              <a:cs typeface="Cambria"/>
              <a:sym typeface="Cambria"/>
            </a:endParaRPr>
          </a:p>
        </p:txBody>
      </p:sp>
      <p:pic>
        <p:nvPicPr>
          <p:cNvPr id="4" name="Imagen 3">
            <a:extLst>
              <a:ext uri="{FF2B5EF4-FFF2-40B4-BE49-F238E27FC236}">
                <a16:creationId xmlns:a16="http://schemas.microsoft.com/office/drawing/2014/main" id="{0FD09552-B0C0-9EC3-EAF0-847B98141253}"/>
              </a:ext>
            </a:extLst>
          </p:cNvPr>
          <p:cNvPicPr>
            <a:picLocks noChangeAspect="1"/>
          </p:cNvPicPr>
          <p:nvPr/>
        </p:nvPicPr>
        <p:blipFill>
          <a:blip r:embed="rId3"/>
          <a:stretch>
            <a:fillRect/>
          </a:stretch>
        </p:blipFill>
        <p:spPr>
          <a:xfrm>
            <a:off x="1153610" y="4124369"/>
            <a:ext cx="3011018" cy="1929662"/>
          </a:xfrm>
          <a:prstGeom prst="rect">
            <a:avLst/>
          </a:prstGeom>
        </p:spPr>
      </p:pic>
      <p:pic>
        <p:nvPicPr>
          <p:cNvPr id="7" name="Imagen 6">
            <a:extLst>
              <a:ext uri="{FF2B5EF4-FFF2-40B4-BE49-F238E27FC236}">
                <a16:creationId xmlns:a16="http://schemas.microsoft.com/office/drawing/2014/main" id="{6C003A74-D904-30DD-AA39-652BA727B9EB}"/>
              </a:ext>
            </a:extLst>
          </p:cNvPr>
          <p:cNvPicPr>
            <a:picLocks noChangeAspect="1"/>
          </p:cNvPicPr>
          <p:nvPr/>
        </p:nvPicPr>
        <p:blipFill>
          <a:blip r:embed="rId4"/>
          <a:stretch>
            <a:fillRect/>
          </a:stretch>
        </p:blipFill>
        <p:spPr>
          <a:xfrm>
            <a:off x="5069618" y="3879100"/>
            <a:ext cx="3744032" cy="2895817"/>
          </a:xfrm>
          <a:prstGeom prst="rect">
            <a:avLst/>
          </a:prstGeom>
        </p:spPr>
      </p:pic>
    </p:spTree>
    <p:extLst>
      <p:ext uri="{BB962C8B-B14F-4D97-AF65-F5344CB8AC3E}">
        <p14:creationId xmlns:p14="http://schemas.microsoft.com/office/powerpoint/2010/main" val="3595926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57D9597C-7610-D8BF-3628-52870BE934A8}"/>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B88DB872-AD11-B268-57C9-6FB0B00AA4F0}"/>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B698C62B-A421-809F-FA97-929A9EC4B577}"/>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38FD6AD5-3712-8FE0-7EC5-63F74A7F08F2}"/>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móvil</a:t>
            </a:r>
          </a:p>
        </p:txBody>
      </p:sp>
      <p:sp>
        <p:nvSpPr>
          <p:cNvPr id="5" name="Elipse 4">
            <a:extLst>
              <a:ext uri="{FF2B5EF4-FFF2-40B4-BE49-F238E27FC236}">
                <a16:creationId xmlns:a16="http://schemas.microsoft.com/office/drawing/2014/main" id="{199D3177-FEAF-557F-AE94-6ADBC7D54F3A}"/>
              </a:ext>
            </a:extLst>
          </p:cNvPr>
          <p:cNvSpPr/>
          <p:nvPr/>
        </p:nvSpPr>
        <p:spPr>
          <a:xfrm>
            <a:off x="1432505" y="261247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5</a:t>
            </a:r>
            <a:endParaRPr lang="es-EC" b="1" dirty="0"/>
          </a:p>
        </p:txBody>
      </p:sp>
      <p:sp>
        <p:nvSpPr>
          <p:cNvPr id="11" name="Google Shape;318;p39">
            <a:extLst>
              <a:ext uri="{FF2B5EF4-FFF2-40B4-BE49-F238E27FC236}">
                <a16:creationId xmlns:a16="http://schemas.microsoft.com/office/drawing/2014/main" id="{E599E3CB-41EF-FA9E-353C-6F746AD7FF21}"/>
              </a:ext>
            </a:extLst>
          </p:cNvPr>
          <p:cNvSpPr txBox="1">
            <a:spLocks/>
          </p:cNvSpPr>
          <p:nvPr/>
        </p:nvSpPr>
        <p:spPr>
          <a:xfrm>
            <a:off x="314974" y="3074294"/>
            <a:ext cx="4112171" cy="3081550"/>
          </a:xfrm>
          <a:prstGeom prst="rect">
            <a:avLst/>
          </a:prstGeom>
          <a:noFill/>
          <a:ln>
            <a:noFill/>
          </a:ln>
        </p:spPr>
        <p:txBody>
          <a:bodyPr spcFirstLastPara="1" wrap="square" lIns="91425" tIns="45700" rIns="91425" bIns="45700" anchor="ctr" anchorCtr="0">
            <a:normAutofit fontScale="925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Se procede a codificar la GUI y las llamadas a los servicios de la biblioteca de clases. La clase </a:t>
            </a:r>
            <a:r>
              <a:rPr lang="es-ES" dirty="0" err="1">
                <a:latin typeface="Cambria"/>
                <a:ea typeface="Cambria"/>
                <a:cs typeface="Cambria"/>
                <a:sym typeface="Cambria"/>
              </a:rPr>
              <a:t>AppServices</a:t>
            </a:r>
            <a:r>
              <a:rPr lang="es-ES" dirty="0">
                <a:latin typeface="Cambria"/>
                <a:ea typeface="Cambria"/>
                <a:cs typeface="Cambria"/>
                <a:sym typeface="Cambria"/>
              </a:rPr>
              <a:t> sirve para consumir los servicios del proyecto Compartido, definiendo las </a:t>
            </a:r>
            <a:r>
              <a:rPr lang="es-ES" dirty="0" err="1">
                <a:latin typeface="Cambria"/>
                <a:ea typeface="Cambria"/>
                <a:cs typeface="Cambria"/>
                <a:sym typeface="Cambria"/>
              </a:rPr>
              <a:t>URLs</a:t>
            </a:r>
            <a:r>
              <a:rPr lang="es-ES" dirty="0">
                <a:latin typeface="Cambria"/>
                <a:ea typeface="Cambria"/>
                <a:cs typeface="Cambria"/>
                <a:sym typeface="Cambria"/>
              </a:rPr>
              <a:t>. La clase </a:t>
            </a:r>
            <a:r>
              <a:rPr lang="es-ES" dirty="0" err="1">
                <a:latin typeface="Cambria"/>
                <a:ea typeface="Cambria"/>
                <a:cs typeface="Cambria"/>
                <a:sym typeface="Cambria"/>
              </a:rPr>
              <a:t>MainPage</a:t>
            </a:r>
            <a:r>
              <a:rPr lang="es-ES" dirty="0">
                <a:latin typeface="Cambria"/>
                <a:ea typeface="Cambria"/>
                <a:cs typeface="Cambria"/>
                <a:sym typeface="Cambria"/>
              </a:rPr>
              <a:t> define el componente principal llamando a las otras páginas y dentro de estas invocando las funciones de los servicios respectivamente.</a:t>
            </a:r>
            <a:endParaRPr lang="es-ES" sz="2000" dirty="0">
              <a:latin typeface="Cambria"/>
              <a:ea typeface="Cambria"/>
              <a:cs typeface="Cambria"/>
              <a:sym typeface="Cambria"/>
            </a:endParaRPr>
          </a:p>
        </p:txBody>
      </p:sp>
      <p:pic>
        <p:nvPicPr>
          <p:cNvPr id="8" name="Imagen 7">
            <a:extLst>
              <a:ext uri="{FF2B5EF4-FFF2-40B4-BE49-F238E27FC236}">
                <a16:creationId xmlns:a16="http://schemas.microsoft.com/office/drawing/2014/main" id="{965165C1-364D-AE6F-ACB8-6CACF3DCE51F}"/>
              </a:ext>
            </a:extLst>
          </p:cNvPr>
          <p:cNvPicPr>
            <a:picLocks noChangeAspect="1"/>
          </p:cNvPicPr>
          <p:nvPr/>
        </p:nvPicPr>
        <p:blipFill>
          <a:blip r:embed="rId3"/>
          <a:stretch>
            <a:fillRect/>
          </a:stretch>
        </p:blipFill>
        <p:spPr>
          <a:xfrm>
            <a:off x="4500172" y="2872847"/>
            <a:ext cx="4810497" cy="3650353"/>
          </a:xfrm>
          <a:prstGeom prst="rect">
            <a:avLst/>
          </a:prstGeom>
        </p:spPr>
      </p:pic>
    </p:spTree>
    <p:extLst>
      <p:ext uri="{BB962C8B-B14F-4D97-AF65-F5344CB8AC3E}">
        <p14:creationId xmlns:p14="http://schemas.microsoft.com/office/powerpoint/2010/main" val="1597621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A3B5FD52-69E4-6D7E-41E3-EF9A1C7800B5}"/>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74515C34-12E4-E7B2-7B02-C196AF0D98E7}"/>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4FD6DF70-DC8A-3B53-C352-2383CD1A625E}"/>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60CC5776-483C-31C9-8ED1-45870FA9670C}"/>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móvil</a:t>
            </a:r>
          </a:p>
        </p:txBody>
      </p:sp>
      <p:pic>
        <p:nvPicPr>
          <p:cNvPr id="4" name="Imagen 3">
            <a:extLst>
              <a:ext uri="{FF2B5EF4-FFF2-40B4-BE49-F238E27FC236}">
                <a16:creationId xmlns:a16="http://schemas.microsoft.com/office/drawing/2014/main" id="{0ABF11CB-8A07-A4DC-3DCA-1B0295A978A1}"/>
              </a:ext>
            </a:extLst>
          </p:cNvPr>
          <p:cNvPicPr>
            <a:picLocks noChangeAspect="1"/>
          </p:cNvPicPr>
          <p:nvPr/>
        </p:nvPicPr>
        <p:blipFill>
          <a:blip r:embed="rId3"/>
          <a:stretch>
            <a:fillRect/>
          </a:stretch>
        </p:blipFill>
        <p:spPr>
          <a:xfrm>
            <a:off x="797121" y="2315886"/>
            <a:ext cx="1959685" cy="4439988"/>
          </a:xfrm>
          <a:prstGeom prst="rect">
            <a:avLst/>
          </a:prstGeom>
        </p:spPr>
      </p:pic>
      <p:pic>
        <p:nvPicPr>
          <p:cNvPr id="6" name="Imagen 5">
            <a:extLst>
              <a:ext uri="{FF2B5EF4-FFF2-40B4-BE49-F238E27FC236}">
                <a16:creationId xmlns:a16="http://schemas.microsoft.com/office/drawing/2014/main" id="{EB549F31-40A1-BB50-CE82-C882B4471621}"/>
              </a:ext>
            </a:extLst>
          </p:cNvPr>
          <p:cNvPicPr>
            <a:picLocks noChangeAspect="1"/>
          </p:cNvPicPr>
          <p:nvPr/>
        </p:nvPicPr>
        <p:blipFill>
          <a:blip r:embed="rId4"/>
          <a:stretch>
            <a:fillRect/>
          </a:stretch>
        </p:blipFill>
        <p:spPr>
          <a:xfrm>
            <a:off x="3638800" y="2322121"/>
            <a:ext cx="1959685" cy="4451570"/>
          </a:xfrm>
          <a:prstGeom prst="rect">
            <a:avLst/>
          </a:prstGeom>
        </p:spPr>
      </p:pic>
      <p:pic>
        <p:nvPicPr>
          <p:cNvPr id="7" name="Imagen 6">
            <a:extLst>
              <a:ext uri="{FF2B5EF4-FFF2-40B4-BE49-F238E27FC236}">
                <a16:creationId xmlns:a16="http://schemas.microsoft.com/office/drawing/2014/main" id="{3928CE80-8285-E6DC-E90C-579029EA4611}"/>
              </a:ext>
            </a:extLst>
          </p:cNvPr>
          <p:cNvPicPr>
            <a:picLocks noChangeAspect="1"/>
          </p:cNvPicPr>
          <p:nvPr/>
        </p:nvPicPr>
        <p:blipFill>
          <a:blip r:embed="rId5"/>
          <a:stretch>
            <a:fillRect/>
          </a:stretch>
        </p:blipFill>
        <p:spPr>
          <a:xfrm>
            <a:off x="6650229" y="2315886"/>
            <a:ext cx="1968339" cy="4418404"/>
          </a:xfrm>
          <a:prstGeom prst="rect">
            <a:avLst/>
          </a:prstGeom>
        </p:spPr>
      </p:pic>
    </p:spTree>
    <p:extLst>
      <p:ext uri="{BB962C8B-B14F-4D97-AF65-F5344CB8AC3E}">
        <p14:creationId xmlns:p14="http://schemas.microsoft.com/office/powerpoint/2010/main" val="2126865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6A114E52-6C81-284E-F926-5C5F261CE82D}"/>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487E47C0-7048-0503-BDC0-709D7DE1C43C}"/>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MÓVIL</a:t>
            </a:r>
            <a:endParaRPr dirty="0"/>
          </a:p>
        </p:txBody>
      </p:sp>
      <p:sp>
        <p:nvSpPr>
          <p:cNvPr id="2" name="Google Shape;116;p15">
            <a:extLst>
              <a:ext uri="{FF2B5EF4-FFF2-40B4-BE49-F238E27FC236}">
                <a16:creationId xmlns:a16="http://schemas.microsoft.com/office/drawing/2014/main" id="{EEC3A467-8B97-948E-60FB-4C57C2BA276E}"/>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MÓVIL</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B6F09BEF-D2B8-6627-D6D3-A1223D09026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móvil</a:t>
            </a:r>
          </a:p>
        </p:txBody>
      </p:sp>
      <p:pic>
        <p:nvPicPr>
          <p:cNvPr id="5" name="Imagen 4">
            <a:extLst>
              <a:ext uri="{FF2B5EF4-FFF2-40B4-BE49-F238E27FC236}">
                <a16:creationId xmlns:a16="http://schemas.microsoft.com/office/drawing/2014/main" id="{2911E4C2-D2FD-2B15-D3AD-57E09AC7DAAF}"/>
              </a:ext>
            </a:extLst>
          </p:cNvPr>
          <p:cNvPicPr>
            <a:picLocks noChangeAspect="1"/>
          </p:cNvPicPr>
          <p:nvPr/>
        </p:nvPicPr>
        <p:blipFill>
          <a:blip r:embed="rId3"/>
          <a:stretch>
            <a:fillRect/>
          </a:stretch>
        </p:blipFill>
        <p:spPr>
          <a:xfrm>
            <a:off x="323386" y="2318889"/>
            <a:ext cx="1959685" cy="4433982"/>
          </a:xfrm>
          <a:prstGeom prst="rect">
            <a:avLst/>
          </a:prstGeom>
        </p:spPr>
      </p:pic>
      <p:pic>
        <p:nvPicPr>
          <p:cNvPr id="8" name="Imagen 7">
            <a:extLst>
              <a:ext uri="{FF2B5EF4-FFF2-40B4-BE49-F238E27FC236}">
                <a16:creationId xmlns:a16="http://schemas.microsoft.com/office/drawing/2014/main" id="{314288E5-C143-17F1-0E3C-349BEF615150}"/>
              </a:ext>
            </a:extLst>
          </p:cNvPr>
          <p:cNvPicPr>
            <a:picLocks noChangeAspect="1"/>
          </p:cNvPicPr>
          <p:nvPr/>
        </p:nvPicPr>
        <p:blipFill>
          <a:blip r:embed="rId4"/>
          <a:stretch>
            <a:fillRect/>
          </a:stretch>
        </p:blipFill>
        <p:spPr>
          <a:xfrm>
            <a:off x="2581267" y="2318889"/>
            <a:ext cx="1959685" cy="4433982"/>
          </a:xfrm>
          <a:prstGeom prst="rect">
            <a:avLst/>
          </a:prstGeom>
        </p:spPr>
      </p:pic>
      <p:pic>
        <p:nvPicPr>
          <p:cNvPr id="9" name="Imagen 8">
            <a:extLst>
              <a:ext uri="{FF2B5EF4-FFF2-40B4-BE49-F238E27FC236}">
                <a16:creationId xmlns:a16="http://schemas.microsoft.com/office/drawing/2014/main" id="{FF723DD5-C9AC-853F-F25A-FA3713BCC58C}"/>
              </a:ext>
            </a:extLst>
          </p:cNvPr>
          <p:cNvPicPr>
            <a:picLocks noChangeAspect="1"/>
          </p:cNvPicPr>
          <p:nvPr/>
        </p:nvPicPr>
        <p:blipFill>
          <a:blip r:embed="rId5"/>
          <a:stretch>
            <a:fillRect/>
          </a:stretch>
        </p:blipFill>
        <p:spPr>
          <a:xfrm>
            <a:off x="4850648" y="2318889"/>
            <a:ext cx="1965473" cy="4433982"/>
          </a:xfrm>
          <a:prstGeom prst="rect">
            <a:avLst/>
          </a:prstGeom>
        </p:spPr>
      </p:pic>
      <p:pic>
        <p:nvPicPr>
          <p:cNvPr id="10" name="Imagen 9">
            <a:extLst>
              <a:ext uri="{FF2B5EF4-FFF2-40B4-BE49-F238E27FC236}">
                <a16:creationId xmlns:a16="http://schemas.microsoft.com/office/drawing/2014/main" id="{6FEB16CB-7666-E344-48B8-AAFDF89D5E9E}"/>
              </a:ext>
            </a:extLst>
          </p:cNvPr>
          <p:cNvPicPr>
            <a:picLocks noChangeAspect="1"/>
          </p:cNvPicPr>
          <p:nvPr/>
        </p:nvPicPr>
        <p:blipFill>
          <a:blip r:embed="rId6"/>
          <a:stretch>
            <a:fillRect/>
          </a:stretch>
        </p:blipFill>
        <p:spPr>
          <a:xfrm>
            <a:off x="7140905" y="2318889"/>
            <a:ext cx="1982251" cy="4433982"/>
          </a:xfrm>
          <a:prstGeom prst="rect">
            <a:avLst/>
          </a:prstGeom>
        </p:spPr>
      </p:pic>
    </p:spTree>
    <p:extLst>
      <p:ext uri="{BB962C8B-B14F-4D97-AF65-F5344CB8AC3E}">
        <p14:creationId xmlns:p14="http://schemas.microsoft.com/office/powerpoint/2010/main" val="1376538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B70C2357-9DBB-F4EA-8219-0B5969715DFE}"/>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98EBF3E2-49CF-16EB-E2A2-6C7CCC7B9942}"/>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ESCRITORIO</a:t>
            </a:r>
            <a:endParaRPr dirty="0"/>
          </a:p>
        </p:txBody>
      </p:sp>
      <p:sp>
        <p:nvSpPr>
          <p:cNvPr id="2" name="Google Shape;116;p15">
            <a:extLst>
              <a:ext uri="{FF2B5EF4-FFF2-40B4-BE49-F238E27FC236}">
                <a16:creationId xmlns:a16="http://schemas.microsoft.com/office/drawing/2014/main" id="{B66CD908-A742-6F30-B188-688ECC45224B}"/>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ESCRITORIO</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219EC343-22A8-F187-55C2-4B0144A310DA}"/>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escritorio</a:t>
            </a:r>
          </a:p>
        </p:txBody>
      </p:sp>
      <p:sp>
        <p:nvSpPr>
          <p:cNvPr id="4" name="Google Shape;318;p39">
            <a:extLst>
              <a:ext uri="{FF2B5EF4-FFF2-40B4-BE49-F238E27FC236}">
                <a16:creationId xmlns:a16="http://schemas.microsoft.com/office/drawing/2014/main" id="{08DEC08A-2E88-681A-E5CE-0DF58768813C}"/>
              </a:ext>
            </a:extLst>
          </p:cNvPr>
          <p:cNvSpPr txBox="1">
            <a:spLocks noGrp="1"/>
          </p:cNvSpPr>
          <p:nvPr>
            <p:ph type="body" idx="1"/>
          </p:nvPr>
        </p:nvSpPr>
        <p:spPr>
          <a:xfrm>
            <a:off x="494925" y="2505658"/>
            <a:ext cx="8581500" cy="1520983"/>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Para el cliente escritorio sencillamente se copia el proyecto generado en el directorio del proyecto móvil, ya que utilizan exactamente lo mismo, solo que sencillamente se alterna entre el cliente</a:t>
            </a:r>
            <a:endParaRPr sz="2000" dirty="0">
              <a:latin typeface="Cambria"/>
              <a:ea typeface="Cambria"/>
              <a:cs typeface="Cambria"/>
              <a:sym typeface="Cambria"/>
            </a:endParaRPr>
          </a:p>
        </p:txBody>
      </p:sp>
      <p:sp>
        <p:nvSpPr>
          <p:cNvPr id="6" name="Elipse 5">
            <a:extLst>
              <a:ext uri="{FF2B5EF4-FFF2-40B4-BE49-F238E27FC236}">
                <a16:creationId xmlns:a16="http://schemas.microsoft.com/office/drawing/2014/main" id="{B097B8B5-9BAC-D09A-C9DB-E9F041BCECF3}"/>
              </a:ext>
            </a:extLst>
          </p:cNvPr>
          <p:cNvSpPr/>
          <p:nvPr/>
        </p:nvSpPr>
        <p:spPr>
          <a:xfrm>
            <a:off x="3917135" y="2383299"/>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pic>
        <p:nvPicPr>
          <p:cNvPr id="7" name="Imagen 6">
            <a:extLst>
              <a:ext uri="{FF2B5EF4-FFF2-40B4-BE49-F238E27FC236}">
                <a16:creationId xmlns:a16="http://schemas.microsoft.com/office/drawing/2014/main" id="{56BF358D-0E6C-A7AC-B4B5-9F224B4A0BEB}"/>
              </a:ext>
            </a:extLst>
          </p:cNvPr>
          <p:cNvPicPr>
            <a:picLocks noChangeAspect="1"/>
          </p:cNvPicPr>
          <p:nvPr/>
        </p:nvPicPr>
        <p:blipFill>
          <a:blip r:embed="rId3"/>
          <a:stretch>
            <a:fillRect/>
          </a:stretch>
        </p:blipFill>
        <p:spPr>
          <a:xfrm>
            <a:off x="1681845" y="3945038"/>
            <a:ext cx="6207659" cy="2517130"/>
          </a:xfrm>
          <a:prstGeom prst="rect">
            <a:avLst/>
          </a:prstGeom>
        </p:spPr>
      </p:pic>
    </p:spTree>
    <p:extLst>
      <p:ext uri="{BB962C8B-B14F-4D97-AF65-F5344CB8AC3E}">
        <p14:creationId xmlns:p14="http://schemas.microsoft.com/office/powerpoint/2010/main" val="3221825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98195CF8-9661-DE12-BDC0-50B86A7A92CF}"/>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DBCA561E-DD9C-0974-F65B-DD9498860695}"/>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ESCRITORIO</a:t>
            </a:r>
            <a:endParaRPr dirty="0"/>
          </a:p>
        </p:txBody>
      </p:sp>
      <p:sp>
        <p:nvSpPr>
          <p:cNvPr id="2" name="Google Shape;116;p15">
            <a:extLst>
              <a:ext uri="{FF2B5EF4-FFF2-40B4-BE49-F238E27FC236}">
                <a16:creationId xmlns:a16="http://schemas.microsoft.com/office/drawing/2014/main" id="{BC12815B-BB11-D75B-154B-C02134E5407E}"/>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ESCRITORIO</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B5749B28-156D-ED03-F0E0-D6C070D5F3FD}"/>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escritorio</a:t>
            </a:r>
          </a:p>
        </p:txBody>
      </p:sp>
      <p:pic>
        <p:nvPicPr>
          <p:cNvPr id="9" name="Imagen 8">
            <a:extLst>
              <a:ext uri="{FF2B5EF4-FFF2-40B4-BE49-F238E27FC236}">
                <a16:creationId xmlns:a16="http://schemas.microsoft.com/office/drawing/2014/main" id="{55C52CC4-B010-0771-AB5A-6D4AA2CD9FC3}"/>
              </a:ext>
            </a:extLst>
          </p:cNvPr>
          <p:cNvPicPr>
            <a:picLocks noChangeAspect="1"/>
          </p:cNvPicPr>
          <p:nvPr/>
        </p:nvPicPr>
        <p:blipFill>
          <a:blip r:embed="rId3"/>
          <a:stretch>
            <a:fillRect/>
          </a:stretch>
        </p:blipFill>
        <p:spPr>
          <a:xfrm>
            <a:off x="172016" y="2567390"/>
            <a:ext cx="4417470" cy="2375802"/>
          </a:xfrm>
          <a:prstGeom prst="rect">
            <a:avLst/>
          </a:prstGeom>
        </p:spPr>
      </p:pic>
      <p:pic>
        <p:nvPicPr>
          <p:cNvPr id="10" name="Imagen 9">
            <a:extLst>
              <a:ext uri="{FF2B5EF4-FFF2-40B4-BE49-F238E27FC236}">
                <a16:creationId xmlns:a16="http://schemas.microsoft.com/office/drawing/2014/main" id="{EE804EDF-64EF-27EC-5B75-E501F32F99FB}"/>
              </a:ext>
            </a:extLst>
          </p:cNvPr>
          <p:cNvPicPr>
            <a:picLocks noChangeAspect="1"/>
          </p:cNvPicPr>
          <p:nvPr/>
        </p:nvPicPr>
        <p:blipFill>
          <a:blip r:embed="rId4"/>
          <a:stretch>
            <a:fillRect/>
          </a:stretch>
        </p:blipFill>
        <p:spPr>
          <a:xfrm>
            <a:off x="4739070" y="4126978"/>
            <a:ext cx="4495043" cy="2419867"/>
          </a:xfrm>
          <a:prstGeom prst="rect">
            <a:avLst/>
          </a:prstGeom>
        </p:spPr>
      </p:pic>
    </p:spTree>
    <p:extLst>
      <p:ext uri="{BB962C8B-B14F-4D97-AF65-F5344CB8AC3E}">
        <p14:creationId xmlns:p14="http://schemas.microsoft.com/office/powerpoint/2010/main" val="1125391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765F4C2A-B128-BF29-DD34-D32200F06296}"/>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33B5B536-8D61-80AD-4D2A-448CC9958042}"/>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ESCRITORIO</a:t>
            </a:r>
            <a:endParaRPr dirty="0"/>
          </a:p>
        </p:txBody>
      </p:sp>
      <p:sp>
        <p:nvSpPr>
          <p:cNvPr id="2" name="Google Shape;116;p15">
            <a:extLst>
              <a:ext uri="{FF2B5EF4-FFF2-40B4-BE49-F238E27FC236}">
                <a16:creationId xmlns:a16="http://schemas.microsoft.com/office/drawing/2014/main" id="{10AE5377-3575-A236-E3BB-3B3B0E1FD791}"/>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ESCRITORIO</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EADB8527-E16B-2BD9-24BD-E48277DB0AB2}"/>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escritorio</a:t>
            </a:r>
          </a:p>
        </p:txBody>
      </p:sp>
      <p:pic>
        <p:nvPicPr>
          <p:cNvPr id="4" name="Imagen 3">
            <a:extLst>
              <a:ext uri="{FF2B5EF4-FFF2-40B4-BE49-F238E27FC236}">
                <a16:creationId xmlns:a16="http://schemas.microsoft.com/office/drawing/2014/main" id="{30C4E4AB-1BC9-7498-8B5A-23C0EC140067}"/>
              </a:ext>
            </a:extLst>
          </p:cNvPr>
          <p:cNvPicPr>
            <a:picLocks noChangeAspect="1"/>
          </p:cNvPicPr>
          <p:nvPr/>
        </p:nvPicPr>
        <p:blipFill>
          <a:blip r:embed="rId3"/>
          <a:stretch>
            <a:fillRect/>
          </a:stretch>
        </p:blipFill>
        <p:spPr>
          <a:xfrm>
            <a:off x="169235" y="2567390"/>
            <a:ext cx="4495043" cy="2410318"/>
          </a:xfrm>
          <a:prstGeom prst="rect">
            <a:avLst/>
          </a:prstGeom>
        </p:spPr>
      </p:pic>
      <p:pic>
        <p:nvPicPr>
          <p:cNvPr id="5" name="Imagen 4">
            <a:extLst>
              <a:ext uri="{FF2B5EF4-FFF2-40B4-BE49-F238E27FC236}">
                <a16:creationId xmlns:a16="http://schemas.microsoft.com/office/drawing/2014/main" id="{4BEA4F11-F95C-A24D-3ABA-AED66F360C4D}"/>
              </a:ext>
            </a:extLst>
          </p:cNvPr>
          <p:cNvPicPr>
            <a:picLocks noChangeAspect="1"/>
          </p:cNvPicPr>
          <p:nvPr/>
        </p:nvPicPr>
        <p:blipFill>
          <a:blip r:embed="rId4"/>
          <a:stretch>
            <a:fillRect/>
          </a:stretch>
        </p:blipFill>
        <p:spPr>
          <a:xfrm>
            <a:off x="4713788" y="3903377"/>
            <a:ext cx="4620398" cy="2477535"/>
          </a:xfrm>
          <a:prstGeom prst="rect">
            <a:avLst/>
          </a:prstGeom>
        </p:spPr>
      </p:pic>
    </p:spTree>
    <p:extLst>
      <p:ext uri="{BB962C8B-B14F-4D97-AF65-F5344CB8AC3E}">
        <p14:creationId xmlns:p14="http://schemas.microsoft.com/office/powerpoint/2010/main" val="3470021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AD7AE640-A922-3059-6B10-1E0396025F98}"/>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55494568-4225-C80F-A640-4F8BD0F0C8F2}"/>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ESCRITORIO</a:t>
            </a:r>
            <a:endParaRPr dirty="0"/>
          </a:p>
        </p:txBody>
      </p:sp>
      <p:sp>
        <p:nvSpPr>
          <p:cNvPr id="2" name="Google Shape;116;p15">
            <a:extLst>
              <a:ext uri="{FF2B5EF4-FFF2-40B4-BE49-F238E27FC236}">
                <a16:creationId xmlns:a16="http://schemas.microsoft.com/office/drawing/2014/main" id="{62268D3C-47A6-6761-4510-109FD84112C4}"/>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ESCRITORIO</a:t>
            </a:r>
            <a:endParaRPr sz="1200" b="1" dirty="0">
              <a:solidFill>
                <a:srgbClr val="FFFF00"/>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B37CC537-6F79-B5FF-E7F3-F8D0982991FB}"/>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escritorio</a:t>
            </a:r>
          </a:p>
        </p:txBody>
      </p:sp>
      <p:pic>
        <p:nvPicPr>
          <p:cNvPr id="6" name="Imagen 5">
            <a:extLst>
              <a:ext uri="{FF2B5EF4-FFF2-40B4-BE49-F238E27FC236}">
                <a16:creationId xmlns:a16="http://schemas.microsoft.com/office/drawing/2014/main" id="{7F7056FD-D853-3F95-C86A-34E7FEB21670}"/>
              </a:ext>
            </a:extLst>
          </p:cNvPr>
          <p:cNvPicPr>
            <a:picLocks noChangeAspect="1"/>
          </p:cNvPicPr>
          <p:nvPr/>
        </p:nvPicPr>
        <p:blipFill>
          <a:blip r:embed="rId3"/>
          <a:stretch>
            <a:fillRect/>
          </a:stretch>
        </p:blipFill>
        <p:spPr>
          <a:xfrm>
            <a:off x="128428" y="2418012"/>
            <a:ext cx="4535849" cy="2436925"/>
          </a:xfrm>
          <a:prstGeom prst="rect">
            <a:avLst/>
          </a:prstGeom>
        </p:spPr>
      </p:pic>
      <p:pic>
        <p:nvPicPr>
          <p:cNvPr id="7" name="Imagen 6">
            <a:extLst>
              <a:ext uri="{FF2B5EF4-FFF2-40B4-BE49-F238E27FC236}">
                <a16:creationId xmlns:a16="http://schemas.microsoft.com/office/drawing/2014/main" id="{608FC7A0-89A7-FB5A-4741-789A9B952A85}"/>
              </a:ext>
            </a:extLst>
          </p:cNvPr>
          <p:cNvPicPr>
            <a:picLocks noChangeAspect="1"/>
          </p:cNvPicPr>
          <p:nvPr/>
        </p:nvPicPr>
        <p:blipFill>
          <a:blip r:embed="rId4"/>
          <a:stretch>
            <a:fillRect/>
          </a:stretch>
        </p:blipFill>
        <p:spPr>
          <a:xfrm>
            <a:off x="4805888" y="3944672"/>
            <a:ext cx="4436198" cy="2394946"/>
          </a:xfrm>
          <a:prstGeom prst="rect">
            <a:avLst/>
          </a:prstGeom>
        </p:spPr>
      </p:pic>
    </p:spTree>
    <p:extLst>
      <p:ext uri="{BB962C8B-B14F-4D97-AF65-F5344CB8AC3E}">
        <p14:creationId xmlns:p14="http://schemas.microsoft.com/office/powerpoint/2010/main" val="22311346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A8686624-5064-C9D2-EC9E-A2DB032BFE79}"/>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8AFFE823-4530-C886-7B5C-49EE64E8F626}"/>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4B21F61E-3924-FA68-1575-086E33D13B85}"/>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B33F9365-F7BB-1E2F-E8A0-6B170809C080}"/>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web</a:t>
            </a:r>
          </a:p>
        </p:txBody>
      </p:sp>
      <p:sp>
        <p:nvSpPr>
          <p:cNvPr id="4" name="Google Shape;318;p39">
            <a:extLst>
              <a:ext uri="{FF2B5EF4-FFF2-40B4-BE49-F238E27FC236}">
                <a16:creationId xmlns:a16="http://schemas.microsoft.com/office/drawing/2014/main" id="{55E55780-AE4E-E771-38A2-07B915B69112}"/>
              </a:ext>
            </a:extLst>
          </p:cNvPr>
          <p:cNvSpPr txBox="1">
            <a:spLocks noGrp="1"/>
          </p:cNvSpPr>
          <p:nvPr>
            <p:ph type="body" idx="1"/>
          </p:nvPr>
        </p:nvSpPr>
        <p:spPr>
          <a:xfrm>
            <a:off x="404391" y="2418012"/>
            <a:ext cx="8581500" cy="1244594"/>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En primer lugar, se crea un proyecto “Aplicación web Blazor”.</a:t>
            </a:r>
            <a:endParaRPr sz="2000" dirty="0">
              <a:latin typeface="Cambria"/>
              <a:ea typeface="Cambria"/>
              <a:cs typeface="Cambria"/>
              <a:sym typeface="Cambria"/>
            </a:endParaRPr>
          </a:p>
        </p:txBody>
      </p:sp>
      <p:sp>
        <p:nvSpPr>
          <p:cNvPr id="5" name="Elipse 4">
            <a:extLst>
              <a:ext uri="{FF2B5EF4-FFF2-40B4-BE49-F238E27FC236}">
                <a16:creationId xmlns:a16="http://schemas.microsoft.com/office/drawing/2014/main" id="{DB7C2D8E-0ECF-106D-5172-2A7F58CF02A9}"/>
              </a:ext>
            </a:extLst>
          </p:cNvPr>
          <p:cNvSpPr/>
          <p:nvPr/>
        </p:nvSpPr>
        <p:spPr>
          <a:xfrm>
            <a:off x="4256498" y="2193981"/>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1</a:t>
            </a:r>
            <a:endParaRPr lang="es-EC" b="1" dirty="0"/>
          </a:p>
        </p:txBody>
      </p:sp>
      <p:pic>
        <p:nvPicPr>
          <p:cNvPr id="8" name="Imagen 7">
            <a:extLst>
              <a:ext uri="{FF2B5EF4-FFF2-40B4-BE49-F238E27FC236}">
                <a16:creationId xmlns:a16="http://schemas.microsoft.com/office/drawing/2014/main" id="{2EE8A7B2-B45D-161E-BF72-61E2E3B3719C}"/>
              </a:ext>
            </a:extLst>
          </p:cNvPr>
          <p:cNvPicPr>
            <a:picLocks noChangeAspect="1"/>
          </p:cNvPicPr>
          <p:nvPr/>
        </p:nvPicPr>
        <p:blipFill>
          <a:blip r:embed="rId3"/>
          <a:stretch>
            <a:fillRect/>
          </a:stretch>
        </p:blipFill>
        <p:spPr>
          <a:xfrm>
            <a:off x="1367074" y="3810892"/>
            <a:ext cx="6992994" cy="2662506"/>
          </a:xfrm>
          <a:prstGeom prst="rect">
            <a:avLst/>
          </a:prstGeom>
        </p:spPr>
      </p:pic>
    </p:spTree>
    <p:extLst>
      <p:ext uri="{BB962C8B-B14F-4D97-AF65-F5344CB8AC3E}">
        <p14:creationId xmlns:p14="http://schemas.microsoft.com/office/powerpoint/2010/main" val="921781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CD17769D-179A-1686-DF82-DBD1266EAB56}"/>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A500F6B3-E2BE-1BB7-3B35-59B191EF9984}"/>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618FC937-DF40-312F-C681-BE03A3C13C6D}"/>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8D327D84-EA1B-317A-E9AA-4D53836F8C8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web</a:t>
            </a:r>
          </a:p>
        </p:txBody>
      </p:sp>
      <p:sp>
        <p:nvSpPr>
          <p:cNvPr id="4" name="Google Shape;318;p39">
            <a:extLst>
              <a:ext uri="{FF2B5EF4-FFF2-40B4-BE49-F238E27FC236}">
                <a16:creationId xmlns:a16="http://schemas.microsoft.com/office/drawing/2014/main" id="{C0504364-CEAF-A647-7409-1D69CC3B8ABE}"/>
              </a:ext>
            </a:extLst>
          </p:cNvPr>
          <p:cNvSpPr txBox="1">
            <a:spLocks noGrp="1"/>
          </p:cNvSpPr>
          <p:nvPr>
            <p:ph type="body" idx="1"/>
          </p:nvPr>
        </p:nvSpPr>
        <p:spPr>
          <a:xfrm>
            <a:off x="359107" y="2780385"/>
            <a:ext cx="4430176" cy="10137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Se coloca un nombre al proyecto web y se lo guarda en la carpeta raíz.</a:t>
            </a:r>
            <a:endParaRPr sz="2000" dirty="0">
              <a:latin typeface="Cambria"/>
              <a:ea typeface="Cambria"/>
              <a:cs typeface="Cambria"/>
              <a:sym typeface="Cambria"/>
            </a:endParaRPr>
          </a:p>
        </p:txBody>
      </p:sp>
      <p:sp>
        <p:nvSpPr>
          <p:cNvPr id="5" name="Elipse 4">
            <a:extLst>
              <a:ext uri="{FF2B5EF4-FFF2-40B4-BE49-F238E27FC236}">
                <a16:creationId xmlns:a16="http://schemas.microsoft.com/office/drawing/2014/main" id="{8B643191-A346-A4ED-8228-1EBBAEACBFBE}"/>
              </a:ext>
            </a:extLst>
          </p:cNvPr>
          <p:cNvSpPr/>
          <p:nvPr/>
        </p:nvSpPr>
        <p:spPr>
          <a:xfrm>
            <a:off x="1627136" y="2523184"/>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2</a:t>
            </a:r>
            <a:endParaRPr lang="es-EC" b="1" dirty="0"/>
          </a:p>
        </p:txBody>
      </p:sp>
      <p:pic>
        <p:nvPicPr>
          <p:cNvPr id="6" name="Imagen 5">
            <a:extLst>
              <a:ext uri="{FF2B5EF4-FFF2-40B4-BE49-F238E27FC236}">
                <a16:creationId xmlns:a16="http://schemas.microsoft.com/office/drawing/2014/main" id="{43E40EF6-5B95-CB66-99A9-BC0003F35AF6}"/>
              </a:ext>
            </a:extLst>
          </p:cNvPr>
          <p:cNvPicPr>
            <a:picLocks noChangeAspect="1"/>
          </p:cNvPicPr>
          <p:nvPr/>
        </p:nvPicPr>
        <p:blipFill>
          <a:blip r:embed="rId3"/>
          <a:stretch>
            <a:fillRect/>
          </a:stretch>
        </p:blipFill>
        <p:spPr>
          <a:xfrm>
            <a:off x="404391" y="4051286"/>
            <a:ext cx="4176662" cy="2548698"/>
          </a:xfrm>
          <a:prstGeom prst="rect">
            <a:avLst/>
          </a:prstGeom>
        </p:spPr>
      </p:pic>
      <p:sp>
        <p:nvSpPr>
          <p:cNvPr id="7" name="Google Shape;318;p39">
            <a:extLst>
              <a:ext uri="{FF2B5EF4-FFF2-40B4-BE49-F238E27FC236}">
                <a16:creationId xmlns:a16="http://schemas.microsoft.com/office/drawing/2014/main" id="{24505AFD-BC6C-A396-7ECA-6F0C9265558D}"/>
              </a:ext>
            </a:extLst>
          </p:cNvPr>
          <p:cNvSpPr txBox="1">
            <a:spLocks/>
          </p:cNvSpPr>
          <p:nvPr/>
        </p:nvSpPr>
        <p:spPr>
          <a:xfrm>
            <a:off x="5189860" y="2780385"/>
            <a:ext cx="4082939" cy="1013700"/>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Dentro del proyecto, se añade el proyecto “Compartido” para poder modificarlo paralelamente.</a:t>
            </a:r>
            <a:endParaRPr lang="es-ES" sz="2000" dirty="0">
              <a:latin typeface="Cambria"/>
              <a:ea typeface="Cambria"/>
              <a:cs typeface="Cambria"/>
              <a:sym typeface="Cambria"/>
            </a:endParaRPr>
          </a:p>
        </p:txBody>
      </p:sp>
      <p:sp>
        <p:nvSpPr>
          <p:cNvPr id="9" name="Elipse 8">
            <a:extLst>
              <a:ext uri="{FF2B5EF4-FFF2-40B4-BE49-F238E27FC236}">
                <a16:creationId xmlns:a16="http://schemas.microsoft.com/office/drawing/2014/main" id="{A42ED9D2-14CA-F121-F0D8-48BB5709246E}"/>
              </a:ext>
            </a:extLst>
          </p:cNvPr>
          <p:cNvSpPr/>
          <p:nvPr/>
        </p:nvSpPr>
        <p:spPr>
          <a:xfrm>
            <a:off x="6581240" y="2418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3</a:t>
            </a:r>
            <a:endParaRPr lang="es-EC" b="1" dirty="0"/>
          </a:p>
        </p:txBody>
      </p:sp>
      <p:pic>
        <p:nvPicPr>
          <p:cNvPr id="10" name="Imagen 9">
            <a:extLst>
              <a:ext uri="{FF2B5EF4-FFF2-40B4-BE49-F238E27FC236}">
                <a16:creationId xmlns:a16="http://schemas.microsoft.com/office/drawing/2014/main" id="{E4F2CB38-95C7-89B0-E174-B6966C01845D}"/>
              </a:ext>
            </a:extLst>
          </p:cNvPr>
          <p:cNvPicPr>
            <a:picLocks noChangeAspect="1"/>
          </p:cNvPicPr>
          <p:nvPr/>
        </p:nvPicPr>
        <p:blipFill>
          <a:blip r:embed="rId4"/>
          <a:stretch>
            <a:fillRect/>
          </a:stretch>
        </p:blipFill>
        <p:spPr>
          <a:xfrm>
            <a:off x="5784162" y="3794085"/>
            <a:ext cx="2808303" cy="2962805"/>
          </a:xfrm>
          <a:prstGeom prst="rect">
            <a:avLst/>
          </a:prstGeom>
        </p:spPr>
      </p:pic>
    </p:spTree>
    <p:extLst>
      <p:ext uri="{BB962C8B-B14F-4D97-AF65-F5344CB8AC3E}">
        <p14:creationId xmlns:p14="http://schemas.microsoft.com/office/powerpoint/2010/main" val="7081698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8CB57865-BE75-D819-C950-9213AC03EB56}"/>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7E7FB322-5549-29CA-0926-C34F61C60F9A}"/>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FD0B4314-33B2-095F-FBB2-42D388454F4A}"/>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57541898-99CA-49B9-6A53-B1EB22AE76D4}"/>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Creación </a:t>
            </a:r>
            <a:r>
              <a:rPr lang="es-ES" sz="1800" b="1" dirty="0">
                <a:latin typeface="Cambria"/>
                <a:ea typeface="Cambria"/>
                <a:cs typeface="Cambria"/>
                <a:sym typeface="Cambria"/>
              </a:rPr>
              <a:t>del cliente web</a:t>
            </a:r>
          </a:p>
        </p:txBody>
      </p:sp>
      <p:sp>
        <p:nvSpPr>
          <p:cNvPr id="4" name="Google Shape;318;p39">
            <a:extLst>
              <a:ext uri="{FF2B5EF4-FFF2-40B4-BE49-F238E27FC236}">
                <a16:creationId xmlns:a16="http://schemas.microsoft.com/office/drawing/2014/main" id="{E8BE2726-E93C-04AB-7A80-4D8043665EEB}"/>
              </a:ext>
            </a:extLst>
          </p:cNvPr>
          <p:cNvSpPr txBox="1">
            <a:spLocks noGrp="1"/>
          </p:cNvSpPr>
          <p:nvPr>
            <p:ph type="body" idx="1"/>
          </p:nvPr>
        </p:nvSpPr>
        <p:spPr>
          <a:xfrm>
            <a:off x="359107" y="2780385"/>
            <a:ext cx="4430176" cy="1013700"/>
          </a:xfrm>
          <a:prstGeom prst="rect">
            <a:avLst/>
          </a:prstGeom>
          <a:noFill/>
          <a:ln>
            <a:noFill/>
          </a:ln>
        </p:spPr>
        <p:txBody>
          <a:bodyPr spcFirstLastPara="1" wrap="square" lIns="91425" tIns="45700" rIns="91425" bIns="45700" anchor="ctr" anchorCtr="0">
            <a:normAutofit fontScale="92500" lnSpcReduction="20000"/>
          </a:bodyPr>
          <a:lstStyle/>
          <a:p>
            <a:pPr marL="0" lvl="0" indent="0" algn="l" rtl="0">
              <a:lnSpc>
                <a:spcPct val="115000"/>
              </a:lnSpc>
              <a:spcBef>
                <a:spcPts val="1200"/>
              </a:spcBef>
              <a:spcAft>
                <a:spcPts val="0"/>
              </a:spcAft>
              <a:buClr>
                <a:schemeClr val="dk1"/>
              </a:buClr>
              <a:buSzPts val="1100"/>
              <a:buFont typeface="Arial"/>
              <a:buNone/>
            </a:pPr>
            <a:r>
              <a:rPr lang="es-ES" dirty="0">
                <a:latin typeface="Cambria"/>
                <a:ea typeface="Cambria"/>
                <a:cs typeface="Cambria"/>
                <a:sym typeface="Cambria"/>
              </a:rPr>
              <a:t>Una vez añadido, este agregado implica un uso dentro de la misma solución independiente</a:t>
            </a:r>
            <a:endParaRPr sz="2000" dirty="0">
              <a:latin typeface="Cambria"/>
              <a:ea typeface="Cambria"/>
              <a:cs typeface="Cambria"/>
              <a:sym typeface="Cambria"/>
            </a:endParaRPr>
          </a:p>
        </p:txBody>
      </p:sp>
      <p:sp>
        <p:nvSpPr>
          <p:cNvPr id="5" name="Elipse 4">
            <a:extLst>
              <a:ext uri="{FF2B5EF4-FFF2-40B4-BE49-F238E27FC236}">
                <a16:creationId xmlns:a16="http://schemas.microsoft.com/office/drawing/2014/main" id="{0D8474DD-7200-87F0-0D60-08A7485FCE97}"/>
              </a:ext>
            </a:extLst>
          </p:cNvPr>
          <p:cNvSpPr/>
          <p:nvPr/>
        </p:nvSpPr>
        <p:spPr>
          <a:xfrm>
            <a:off x="1627136" y="2523184"/>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4</a:t>
            </a:r>
            <a:endParaRPr lang="es-EC" b="1" dirty="0"/>
          </a:p>
        </p:txBody>
      </p:sp>
      <p:sp>
        <p:nvSpPr>
          <p:cNvPr id="7" name="Google Shape;318;p39">
            <a:extLst>
              <a:ext uri="{FF2B5EF4-FFF2-40B4-BE49-F238E27FC236}">
                <a16:creationId xmlns:a16="http://schemas.microsoft.com/office/drawing/2014/main" id="{CAB36CD9-B8F1-D514-0ED5-31BAD53BB104}"/>
              </a:ext>
            </a:extLst>
          </p:cNvPr>
          <p:cNvSpPr txBox="1">
            <a:spLocks/>
          </p:cNvSpPr>
          <p:nvPr/>
        </p:nvSpPr>
        <p:spPr>
          <a:xfrm>
            <a:off x="5189860" y="2780385"/>
            <a:ext cx="4082939" cy="1013700"/>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nSpc>
                <a:spcPct val="115000"/>
              </a:lnSpc>
              <a:spcBef>
                <a:spcPts val="1200"/>
              </a:spcBef>
              <a:buClr>
                <a:schemeClr val="dk1"/>
              </a:buClr>
              <a:buSzPts val="1100"/>
              <a:buFont typeface="Arial"/>
              <a:buNone/>
            </a:pPr>
            <a:r>
              <a:rPr lang="es-ES" dirty="0">
                <a:latin typeface="Cambria"/>
                <a:ea typeface="Cambria"/>
                <a:cs typeface="Cambria"/>
                <a:sym typeface="Cambria"/>
              </a:rPr>
              <a:t>Finalmente, se procede a codificar la GUI y las llamadas a los servicios de la biblioteca de clases. </a:t>
            </a:r>
            <a:endParaRPr lang="es-ES" sz="2000" dirty="0">
              <a:latin typeface="Cambria"/>
              <a:ea typeface="Cambria"/>
              <a:cs typeface="Cambria"/>
              <a:sym typeface="Cambria"/>
            </a:endParaRPr>
          </a:p>
        </p:txBody>
      </p:sp>
      <p:sp>
        <p:nvSpPr>
          <p:cNvPr id="9" name="Elipse 8">
            <a:extLst>
              <a:ext uri="{FF2B5EF4-FFF2-40B4-BE49-F238E27FC236}">
                <a16:creationId xmlns:a16="http://schemas.microsoft.com/office/drawing/2014/main" id="{CDCF9EA3-3AB6-2DF9-F3B3-03847270E308}"/>
              </a:ext>
            </a:extLst>
          </p:cNvPr>
          <p:cNvSpPr/>
          <p:nvPr/>
        </p:nvSpPr>
        <p:spPr>
          <a:xfrm>
            <a:off x="6581240" y="2418012"/>
            <a:ext cx="1214145" cy="4480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Paso 5</a:t>
            </a:r>
            <a:endParaRPr lang="es-EC" b="1" dirty="0"/>
          </a:p>
        </p:txBody>
      </p:sp>
      <p:pic>
        <p:nvPicPr>
          <p:cNvPr id="8" name="Imagen 7">
            <a:extLst>
              <a:ext uri="{FF2B5EF4-FFF2-40B4-BE49-F238E27FC236}">
                <a16:creationId xmlns:a16="http://schemas.microsoft.com/office/drawing/2014/main" id="{8D43B638-F88F-F14E-E8FD-9340996C1FB0}"/>
              </a:ext>
            </a:extLst>
          </p:cNvPr>
          <p:cNvPicPr>
            <a:picLocks noChangeAspect="1"/>
          </p:cNvPicPr>
          <p:nvPr/>
        </p:nvPicPr>
        <p:blipFill>
          <a:blip r:embed="rId3"/>
          <a:stretch>
            <a:fillRect/>
          </a:stretch>
        </p:blipFill>
        <p:spPr>
          <a:xfrm>
            <a:off x="274987" y="3886756"/>
            <a:ext cx="4519257" cy="2361759"/>
          </a:xfrm>
          <a:prstGeom prst="rect">
            <a:avLst/>
          </a:prstGeom>
        </p:spPr>
      </p:pic>
      <p:pic>
        <p:nvPicPr>
          <p:cNvPr id="12" name="Imagen 11">
            <a:extLst>
              <a:ext uri="{FF2B5EF4-FFF2-40B4-BE49-F238E27FC236}">
                <a16:creationId xmlns:a16="http://schemas.microsoft.com/office/drawing/2014/main" id="{F63AA446-0EF9-0A21-3B39-210A04C44BF6}"/>
              </a:ext>
            </a:extLst>
          </p:cNvPr>
          <p:cNvPicPr>
            <a:picLocks noChangeAspect="1"/>
          </p:cNvPicPr>
          <p:nvPr/>
        </p:nvPicPr>
        <p:blipFill>
          <a:blip r:embed="rId4"/>
          <a:stretch>
            <a:fillRect/>
          </a:stretch>
        </p:blipFill>
        <p:spPr>
          <a:xfrm>
            <a:off x="6096000" y="3695697"/>
            <a:ext cx="2808303" cy="2701077"/>
          </a:xfrm>
          <a:prstGeom prst="rect">
            <a:avLst/>
          </a:prstGeom>
        </p:spPr>
      </p:pic>
    </p:spTree>
    <p:extLst>
      <p:ext uri="{BB962C8B-B14F-4D97-AF65-F5344CB8AC3E}">
        <p14:creationId xmlns:p14="http://schemas.microsoft.com/office/powerpoint/2010/main" val="213626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B75A36C4-D0A8-2839-A3EF-1A0E07DB8BD2}"/>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21052990-4192-30A4-0F3D-4D70FF39CC2D}"/>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727D7788-5D41-B05B-19C7-74FAC908FBA0}"/>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C375DD7C-BD24-B638-D0BC-3A43DB73DD88}"/>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web</a:t>
            </a:r>
          </a:p>
        </p:txBody>
      </p:sp>
      <p:pic>
        <p:nvPicPr>
          <p:cNvPr id="11" name="Imagen 10">
            <a:extLst>
              <a:ext uri="{FF2B5EF4-FFF2-40B4-BE49-F238E27FC236}">
                <a16:creationId xmlns:a16="http://schemas.microsoft.com/office/drawing/2014/main" id="{AFB98737-B591-ADB1-FC72-1517F01C218D}"/>
              </a:ext>
            </a:extLst>
          </p:cNvPr>
          <p:cNvPicPr>
            <a:picLocks noChangeAspect="1"/>
          </p:cNvPicPr>
          <p:nvPr/>
        </p:nvPicPr>
        <p:blipFill>
          <a:blip r:embed="rId3"/>
          <a:stretch>
            <a:fillRect/>
          </a:stretch>
        </p:blipFill>
        <p:spPr>
          <a:xfrm>
            <a:off x="176543" y="2499144"/>
            <a:ext cx="4155904" cy="2226765"/>
          </a:xfrm>
          <a:prstGeom prst="rect">
            <a:avLst/>
          </a:prstGeom>
        </p:spPr>
      </p:pic>
      <p:pic>
        <p:nvPicPr>
          <p:cNvPr id="13" name="Imagen 12">
            <a:extLst>
              <a:ext uri="{FF2B5EF4-FFF2-40B4-BE49-F238E27FC236}">
                <a16:creationId xmlns:a16="http://schemas.microsoft.com/office/drawing/2014/main" id="{C9E26F7A-66A9-9E42-13B8-71A7B559F701}"/>
              </a:ext>
            </a:extLst>
          </p:cNvPr>
          <p:cNvPicPr>
            <a:picLocks noChangeAspect="1"/>
          </p:cNvPicPr>
          <p:nvPr/>
        </p:nvPicPr>
        <p:blipFill>
          <a:blip r:embed="rId4"/>
          <a:stretch>
            <a:fillRect/>
          </a:stretch>
        </p:blipFill>
        <p:spPr>
          <a:xfrm>
            <a:off x="4698748" y="4128028"/>
            <a:ext cx="4390931" cy="2347785"/>
          </a:xfrm>
          <a:prstGeom prst="rect">
            <a:avLst/>
          </a:prstGeom>
        </p:spPr>
      </p:pic>
    </p:spTree>
    <p:extLst>
      <p:ext uri="{BB962C8B-B14F-4D97-AF65-F5344CB8AC3E}">
        <p14:creationId xmlns:p14="http://schemas.microsoft.com/office/powerpoint/2010/main" val="1559061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4C324608-7E02-A98A-D336-8B607EE86204}"/>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4451345A-91DA-670E-A272-84E3B04472C1}"/>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C977E272-01F1-FFCD-C838-CC6D25635797}"/>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EAD18545-FEC0-3E8B-0314-2ABBADD49DBA}"/>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web</a:t>
            </a:r>
          </a:p>
        </p:txBody>
      </p:sp>
      <p:pic>
        <p:nvPicPr>
          <p:cNvPr id="4" name="Imagen 3">
            <a:extLst>
              <a:ext uri="{FF2B5EF4-FFF2-40B4-BE49-F238E27FC236}">
                <a16:creationId xmlns:a16="http://schemas.microsoft.com/office/drawing/2014/main" id="{C7365F51-5F35-683A-DD1C-0971CA885BEC}"/>
              </a:ext>
            </a:extLst>
          </p:cNvPr>
          <p:cNvPicPr>
            <a:picLocks noChangeAspect="1"/>
          </p:cNvPicPr>
          <p:nvPr/>
        </p:nvPicPr>
        <p:blipFill>
          <a:blip r:embed="rId3"/>
          <a:stretch>
            <a:fillRect/>
          </a:stretch>
        </p:blipFill>
        <p:spPr>
          <a:xfrm>
            <a:off x="126748" y="2418012"/>
            <a:ext cx="4404102" cy="2347784"/>
          </a:xfrm>
          <a:prstGeom prst="rect">
            <a:avLst/>
          </a:prstGeom>
        </p:spPr>
      </p:pic>
      <p:pic>
        <p:nvPicPr>
          <p:cNvPr id="5" name="Imagen 4">
            <a:extLst>
              <a:ext uri="{FF2B5EF4-FFF2-40B4-BE49-F238E27FC236}">
                <a16:creationId xmlns:a16="http://schemas.microsoft.com/office/drawing/2014/main" id="{66ECFA86-D2F8-342E-EE72-0A43086D1974}"/>
              </a:ext>
            </a:extLst>
          </p:cNvPr>
          <p:cNvPicPr>
            <a:picLocks noChangeAspect="1"/>
          </p:cNvPicPr>
          <p:nvPr/>
        </p:nvPicPr>
        <p:blipFill>
          <a:blip r:embed="rId4"/>
          <a:stretch>
            <a:fillRect/>
          </a:stretch>
        </p:blipFill>
        <p:spPr>
          <a:xfrm>
            <a:off x="4843604" y="3963663"/>
            <a:ext cx="4404102" cy="2356964"/>
          </a:xfrm>
          <a:prstGeom prst="rect">
            <a:avLst/>
          </a:prstGeom>
        </p:spPr>
      </p:pic>
    </p:spTree>
    <p:extLst>
      <p:ext uri="{BB962C8B-B14F-4D97-AF65-F5344CB8AC3E}">
        <p14:creationId xmlns:p14="http://schemas.microsoft.com/office/powerpoint/2010/main" val="2206480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6198B4D9-8F7D-8F26-AFBE-11AF0D4B8931}"/>
            </a:ext>
          </a:extLst>
        </p:cNvPr>
        <p:cNvGrpSpPr/>
        <p:nvPr/>
      </p:nvGrpSpPr>
      <p:grpSpPr>
        <a:xfrm>
          <a:off x="0" y="0"/>
          <a:ext cx="0" cy="0"/>
          <a:chOff x="0" y="0"/>
          <a:chExt cx="0" cy="0"/>
        </a:xfrm>
      </p:grpSpPr>
      <p:sp>
        <p:nvSpPr>
          <p:cNvPr id="317" name="Google Shape;317;p39">
            <a:extLst>
              <a:ext uri="{FF2B5EF4-FFF2-40B4-BE49-F238E27FC236}">
                <a16:creationId xmlns:a16="http://schemas.microsoft.com/office/drawing/2014/main" id="{CA6FFE75-F463-2F42-13CD-650BA80EE36E}"/>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lvl="0">
              <a:buSzPts val="2800"/>
            </a:pPr>
            <a:r>
              <a:rPr lang="es-ES" dirty="0"/>
              <a:t>DESARROLLO - CREACIÓN DE CLIENTE WEB</a:t>
            </a:r>
            <a:endParaRPr dirty="0"/>
          </a:p>
        </p:txBody>
      </p:sp>
      <p:sp>
        <p:nvSpPr>
          <p:cNvPr id="2" name="Google Shape;116;p15">
            <a:extLst>
              <a:ext uri="{FF2B5EF4-FFF2-40B4-BE49-F238E27FC236}">
                <a16:creationId xmlns:a16="http://schemas.microsoft.com/office/drawing/2014/main" id="{F913593F-0719-0104-8192-4DF63B1FB99E}"/>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rgbClr val="FFFF00"/>
                </a:solidFill>
                <a:latin typeface="Gill Sans"/>
                <a:sym typeface="Gill Sans"/>
              </a:rPr>
              <a:t>CREACIÓN DEL PROYECTO – CLIENTE WEB</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 name="CuadroTexto 2">
            <a:extLst>
              <a:ext uri="{FF2B5EF4-FFF2-40B4-BE49-F238E27FC236}">
                <a16:creationId xmlns:a16="http://schemas.microsoft.com/office/drawing/2014/main" id="{236FF87D-85C7-AA57-4903-90123FDA774C}"/>
              </a:ext>
            </a:extLst>
          </p:cNvPr>
          <p:cNvSpPr txBox="1"/>
          <p:nvPr/>
        </p:nvSpPr>
        <p:spPr>
          <a:xfrm>
            <a:off x="404391" y="1961125"/>
            <a:ext cx="6102034" cy="360996"/>
          </a:xfrm>
          <a:prstGeom prst="rect">
            <a:avLst/>
          </a:prstGeom>
          <a:noFill/>
        </p:spPr>
        <p:txBody>
          <a:bodyPr wrap="square">
            <a:spAutoFit/>
          </a:bodyPr>
          <a:lstStyle/>
          <a:p>
            <a:pPr algn="just">
              <a:lnSpc>
                <a:spcPct val="97000"/>
              </a:lnSpc>
              <a:buClr>
                <a:schemeClr val="accent2"/>
              </a:buClr>
              <a:buSzPts val="1656"/>
            </a:pPr>
            <a:r>
              <a:rPr lang="es-ES" sz="1700" b="1" dirty="0">
                <a:solidFill>
                  <a:schemeClr val="dk2"/>
                </a:solidFill>
                <a:latin typeface="Cambria"/>
                <a:ea typeface="Cambria"/>
                <a:cs typeface="Cambria"/>
                <a:sym typeface="Gill Sans"/>
              </a:rPr>
              <a:t>Resultado </a:t>
            </a:r>
            <a:r>
              <a:rPr lang="es-ES" sz="1800" b="1" dirty="0">
                <a:latin typeface="Cambria"/>
                <a:ea typeface="Cambria"/>
                <a:cs typeface="Cambria"/>
                <a:sym typeface="Cambria"/>
              </a:rPr>
              <a:t>del cliente web</a:t>
            </a:r>
          </a:p>
        </p:txBody>
      </p:sp>
      <p:pic>
        <p:nvPicPr>
          <p:cNvPr id="6" name="Imagen 5">
            <a:extLst>
              <a:ext uri="{FF2B5EF4-FFF2-40B4-BE49-F238E27FC236}">
                <a16:creationId xmlns:a16="http://schemas.microsoft.com/office/drawing/2014/main" id="{3D9A27B7-2A87-F720-0458-6DB3836C2FC1}"/>
              </a:ext>
            </a:extLst>
          </p:cNvPr>
          <p:cNvPicPr>
            <a:picLocks noChangeAspect="1"/>
          </p:cNvPicPr>
          <p:nvPr/>
        </p:nvPicPr>
        <p:blipFill>
          <a:blip r:embed="rId3"/>
          <a:stretch>
            <a:fillRect/>
          </a:stretch>
        </p:blipFill>
        <p:spPr>
          <a:xfrm>
            <a:off x="172015" y="2418012"/>
            <a:ext cx="4146488" cy="2214773"/>
          </a:xfrm>
          <a:prstGeom prst="rect">
            <a:avLst/>
          </a:prstGeom>
        </p:spPr>
      </p:pic>
      <p:pic>
        <p:nvPicPr>
          <p:cNvPr id="7" name="Imagen 6">
            <a:extLst>
              <a:ext uri="{FF2B5EF4-FFF2-40B4-BE49-F238E27FC236}">
                <a16:creationId xmlns:a16="http://schemas.microsoft.com/office/drawing/2014/main" id="{345B9A15-3FFD-3C41-3FDD-8C33A0238A2D}"/>
              </a:ext>
            </a:extLst>
          </p:cNvPr>
          <p:cNvPicPr>
            <a:picLocks noChangeAspect="1"/>
          </p:cNvPicPr>
          <p:nvPr/>
        </p:nvPicPr>
        <p:blipFill>
          <a:blip r:embed="rId4"/>
          <a:stretch>
            <a:fillRect/>
          </a:stretch>
        </p:blipFill>
        <p:spPr>
          <a:xfrm>
            <a:off x="4454837" y="3863405"/>
            <a:ext cx="4806857" cy="2557478"/>
          </a:xfrm>
          <a:prstGeom prst="rect">
            <a:avLst/>
          </a:prstGeom>
        </p:spPr>
      </p:pic>
    </p:spTree>
    <p:extLst>
      <p:ext uri="{BB962C8B-B14F-4D97-AF65-F5344CB8AC3E}">
        <p14:creationId xmlns:p14="http://schemas.microsoft.com/office/powerpoint/2010/main" val="421568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CONCLUSIONES</a:t>
            </a:r>
            <a:endParaRPr dirty="0"/>
          </a:p>
        </p:txBody>
      </p:sp>
      <p:sp>
        <p:nvSpPr>
          <p:cNvPr id="761" name="Google Shape;761;p93"/>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fontScale="85000" lnSpcReduction="10000"/>
          </a:bodyPr>
          <a:lstStyle/>
          <a:p>
            <a:pPr marL="123444" indent="0" algn="just" rtl="0" fontAlgn="base">
              <a:buNone/>
            </a:pPr>
            <a:r>
              <a:rPr lang="es-ES" sz="1800" b="0" i="0" u="none" strike="noStrike" dirty="0">
                <a:solidFill>
                  <a:srgbClr val="000000"/>
                </a:solidFill>
                <a:effectLst/>
                <a:latin typeface="Cambria" panose="02040503050406030204" pitchFamily="18" charset="0"/>
                <a:ea typeface="Cambria" panose="02040503050406030204" pitchFamily="18" charset="0"/>
              </a:rPr>
              <a:t>Se concluye que la implementación de una arquitectura orientada a servicios (SOA) mediante Windows </a:t>
            </a:r>
            <a:r>
              <a:rPr lang="es-ES" sz="1800" b="0" i="0" u="none" strike="noStrike" dirty="0" err="1">
                <a:solidFill>
                  <a:srgbClr val="000000"/>
                </a:solidFill>
                <a:effectLst/>
                <a:latin typeface="Cambria" panose="02040503050406030204" pitchFamily="18" charset="0"/>
                <a:ea typeface="Cambria" panose="02040503050406030204" pitchFamily="18" charset="0"/>
              </a:rPr>
              <a:t>Communication</a:t>
            </a:r>
            <a:r>
              <a:rPr lang="es-ES" sz="1800" b="0" i="0" u="none" strike="noStrike" dirty="0">
                <a:solidFill>
                  <a:srgbClr val="000000"/>
                </a:solidFill>
                <a:effectLst/>
                <a:latin typeface="Cambria" panose="02040503050406030204" pitchFamily="18" charset="0"/>
                <a:ea typeface="Cambria" panose="02040503050406030204" pitchFamily="18" charset="0"/>
              </a:rPr>
              <a:t> </a:t>
            </a:r>
            <a:r>
              <a:rPr lang="es-ES" sz="1800" b="0" i="0" u="none" strike="noStrike" dirty="0" err="1">
                <a:solidFill>
                  <a:srgbClr val="000000"/>
                </a:solidFill>
                <a:effectLst/>
                <a:latin typeface="Cambria" panose="02040503050406030204" pitchFamily="18" charset="0"/>
                <a:ea typeface="Cambria" panose="02040503050406030204" pitchFamily="18" charset="0"/>
              </a:rPr>
              <a:t>Foundation</a:t>
            </a:r>
            <a:r>
              <a:rPr lang="es-ES" sz="1800" b="0" i="0" u="none" strike="noStrike" dirty="0">
                <a:solidFill>
                  <a:srgbClr val="000000"/>
                </a:solidFill>
                <a:effectLst/>
                <a:latin typeface="Cambria" panose="02040503050406030204" pitchFamily="18" charset="0"/>
                <a:ea typeface="Cambria" panose="02040503050406030204" pitchFamily="18" charset="0"/>
              </a:rPr>
              <a:t> (WCF) y el protocolo SOAP, permitió establecer una separación estricta y funcional entre el sistema de la Federación y el sistema de Ticket Premium. Esta separación garantizó que ambos entornos operen de manera Independiente, logrando al mismo tiempo una comunicación transaccional segura y en tiempo real para la consulta y el descuento de la disponibilidad de boletos, asegurando la integridad de los datos entre ambas plataformas.</a:t>
            </a:r>
          </a:p>
          <a:p>
            <a:pPr marL="123444" indent="0" algn="just" rtl="0" fontAlgn="base">
              <a:buNone/>
            </a:pPr>
            <a:endParaRPr lang="es-ES" sz="1800" b="0" i="0" u="none" strike="noStrike" dirty="0">
              <a:solidFill>
                <a:srgbClr val="000000"/>
              </a:solidFill>
              <a:effectLst/>
              <a:latin typeface="Cambria" panose="02040503050406030204" pitchFamily="18" charset="0"/>
              <a:ea typeface="Cambria" panose="02040503050406030204" pitchFamily="18" charset="0"/>
            </a:endParaRPr>
          </a:p>
          <a:p>
            <a:pPr marL="123444" indent="0" algn="just" rtl="0" fontAlgn="base">
              <a:buNone/>
            </a:pPr>
            <a:r>
              <a:rPr lang="es-ES" sz="1800" b="0" i="0" u="none" strike="noStrike" dirty="0">
                <a:solidFill>
                  <a:srgbClr val="000000"/>
                </a:solidFill>
                <a:effectLst/>
                <a:latin typeface="Cambria" panose="02040503050406030204" pitchFamily="18" charset="0"/>
                <a:ea typeface="Cambria" panose="02040503050406030204" pitchFamily="18" charset="0"/>
              </a:rPr>
              <a:t>La incorporación de algoritmos de encriptación de una sola vía, específicamente </a:t>
            </a:r>
            <a:r>
              <a:rPr lang="es-ES" sz="1800" b="0" i="0" u="none" strike="noStrike" dirty="0" err="1">
                <a:solidFill>
                  <a:srgbClr val="000000"/>
                </a:solidFill>
                <a:effectLst/>
                <a:latin typeface="Cambria" panose="02040503050406030204" pitchFamily="18" charset="0"/>
                <a:ea typeface="Cambria" panose="02040503050406030204" pitchFamily="18" charset="0"/>
              </a:rPr>
              <a:t>BCrypt</a:t>
            </a:r>
            <a:r>
              <a:rPr lang="es-ES" sz="1800" b="0" i="0" u="none" strike="noStrike" dirty="0">
                <a:solidFill>
                  <a:srgbClr val="000000"/>
                </a:solidFill>
                <a:effectLst/>
                <a:latin typeface="Cambria" panose="02040503050406030204" pitchFamily="18" charset="0"/>
                <a:ea typeface="Cambria" panose="02040503050406030204" pitchFamily="18" charset="0"/>
              </a:rPr>
              <a:t>, para la gestión de credenciales en la base de datos, demostró ser una medida altamente efectiva para proteger la confidencialidad de los usuarios. Esta implementación mitiga significativamente los riesgos de ataques de fuerza bruta, elevando los estándares de seguridad del sistema de Ticket Premium sin comprometer el rendimiento del proceso de autenticación.</a:t>
            </a:r>
          </a:p>
          <a:p>
            <a:pPr marL="123444" indent="0" algn="just" rtl="0" fontAlgn="base">
              <a:buNone/>
            </a:pPr>
            <a:endParaRPr lang="es-ES" sz="1800" b="0" i="0" u="none" strike="noStrike" dirty="0">
              <a:solidFill>
                <a:srgbClr val="000000"/>
              </a:solidFill>
              <a:effectLst/>
              <a:latin typeface="Cambria" panose="02040503050406030204" pitchFamily="18" charset="0"/>
              <a:ea typeface="Cambria" panose="02040503050406030204" pitchFamily="18" charset="0"/>
            </a:endParaRPr>
          </a:p>
          <a:p>
            <a:pPr marL="123444" indent="0" algn="just" rtl="0" fontAlgn="base">
              <a:spcAft>
                <a:spcPts val="1000"/>
              </a:spcAft>
              <a:buNone/>
            </a:pPr>
            <a:r>
              <a:rPr lang="es-ES" sz="1800" b="0" i="0" u="none" strike="noStrike" dirty="0">
                <a:solidFill>
                  <a:srgbClr val="000000"/>
                </a:solidFill>
                <a:effectLst/>
                <a:latin typeface="Cambria" panose="02040503050406030204" pitchFamily="18" charset="0"/>
                <a:ea typeface="Cambria" panose="02040503050406030204" pitchFamily="18" charset="0"/>
              </a:rPr>
              <a:t>El uso de </a:t>
            </a:r>
            <a:r>
              <a:rPr lang="es-ES" sz="1800" b="0" i="0" u="none" strike="noStrike" dirty="0" err="1">
                <a:solidFill>
                  <a:srgbClr val="000000"/>
                </a:solidFill>
                <a:effectLst/>
                <a:latin typeface="Cambria" panose="02040503050406030204" pitchFamily="18" charset="0"/>
                <a:ea typeface="Cambria" panose="02040503050406030204" pitchFamily="18" charset="0"/>
              </a:rPr>
              <a:t>Entity</a:t>
            </a:r>
            <a:r>
              <a:rPr lang="es-ES" sz="1800" b="0" i="0" u="none" strike="noStrike" dirty="0">
                <a:solidFill>
                  <a:srgbClr val="000000"/>
                </a:solidFill>
                <a:effectLst/>
                <a:latin typeface="Cambria" panose="02040503050406030204" pitchFamily="18" charset="0"/>
                <a:ea typeface="Cambria" panose="02040503050406030204" pitchFamily="18" charset="0"/>
              </a:rPr>
              <a:t> Framework bajo el enfoque </a:t>
            </a:r>
            <a:r>
              <a:rPr lang="es-ES" sz="1800" b="0" i="0" u="none" strike="noStrike" dirty="0" err="1">
                <a:solidFill>
                  <a:srgbClr val="000000"/>
                </a:solidFill>
                <a:effectLst/>
                <a:latin typeface="Cambria" panose="02040503050406030204" pitchFamily="18" charset="0"/>
                <a:ea typeface="Cambria" panose="02040503050406030204" pitchFamily="18" charset="0"/>
              </a:rPr>
              <a:t>Database</a:t>
            </a:r>
            <a:r>
              <a:rPr lang="es-ES" sz="1800" b="0" i="0" u="none" strike="noStrike" dirty="0">
                <a:solidFill>
                  <a:srgbClr val="000000"/>
                </a:solidFill>
                <a:effectLst/>
                <a:latin typeface="Cambria" panose="02040503050406030204" pitchFamily="18" charset="0"/>
                <a:ea typeface="Cambria" panose="02040503050406030204" pitchFamily="18" charset="0"/>
              </a:rPr>
              <a:t> First facilitó un manejo ágil y seguro de las operaciones hacia la base de datos SQL Server. Esta capa de abstracción (ORM) no solo optimizó el tiempo de desarrollo en la persistencia de las facturas, sino que también permitió utilizar consultas LINQ eficientes para combinar datos locales con la información consumida del servicio externo, logrando generar reportes de ventas consolidados y precisos.</a:t>
            </a:r>
          </a:p>
        </p:txBody>
      </p:sp>
      <p:sp>
        <p:nvSpPr>
          <p:cNvPr id="2" name="Google Shape;116;p15">
            <a:extLst>
              <a:ext uri="{FF2B5EF4-FFF2-40B4-BE49-F238E27FC236}">
                <a16:creationId xmlns:a16="http://schemas.microsoft.com/office/drawing/2014/main" id="{D8583E49-F0E2-3712-E72C-2D7FED1675BF}"/>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indent="-306000">
              <a:spcBef>
                <a:spcPts val="840"/>
              </a:spcBef>
              <a:buClr>
                <a:srgbClr val="4590B8"/>
              </a:buClr>
              <a:buSzPts val="1104"/>
              <a:buFont typeface="Noto Sans Symbols"/>
              <a:buChar char="◼"/>
            </a:pPr>
            <a:r>
              <a:rPr lang="es-ES" sz="1200" b="1" dirty="0">
                <a:solidFill>
                  <a:schemeClr val="lt1"/>
                </a:solidFill>
                <a:latin typeface="Gill Sans"/>
                <a:sym typeface="Gill Sans"/>
              </a:rPr>
              <a:t>DESARROLLO</a:t>
            </a:r>
            <a:endParaRPr sz="1200" b="1" dirty="0">
              <a:solidFill>
                <a:schemeClr val="lt1"/>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WEB</a:t>
            </a:r>
            <a:endParaRPr sz="1200" b="1" dirty="0">
              <a:solidFill>
                <a:schemeClr val="lt1"/>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rgbClr val="FFFF00"/>
                </a:solidFill>
                <a:latin typeface="Gill Sans"/>
                <a:sym typeface="Gill Sans"/>
              </a:rPr>
              <a:t>CONCLUSIONES</a:t>
            </a:r>
            <a:endParaRPr sz="1200" b="1" dirty="0">
              <a:solidFill>
                <a:srgbClr val="FFFF00"/>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59">
          <a:extLst>
            <a:ext uri="{FF2B5EF4-FFF2-40B4-BE49-F238E27FC236}">
              <a16:creationId xmlns:a16="http://schemas.microsoft.com/office/drawing/2014/main" id="{D928F175-0FB1-B353-2D2A-4604DDDF127B}"/>
            </a:ext>
          </a:extLst>
        </p:cNvPr>
        <p:cNvGrpSpPr/>
        <p:nvPr/>
      </p:nvGrpSpPr>
      <p:grpSpPr>
        <a:xfrm>
          <a:off x="0" y="0"/>
          <a:ext cx="0" cy="0"/>
          <a:chOff x="0" y="0"/>
          <a:chExt cx="0" cy="0"/>
        </a:xfrm>
      </p:grpSpPr>
      <p:sp>
        <p:nvSpPr>
          <p:cNvPr id="760" name="Google Shape;760;p93">
            <a:extLst>
              <a:ext uri="{FF2B5EF4-FFF2-40B4-BE49-F238E27FC236}">
                <a16:creationId xmlns:a16="http://schemas.microsoft.com/office/drawing/2014/main" id="{7232F41F-F8AD-DFE6-4FB4-BB52A45E94A4}"/>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RECOMENDACIONES</a:t>
            </a:r>
            <a:endParaRPr dirty="0"/>
          </a:p>
        </p:txBody>
      </p:sp>
      <p:sp>
        <p:nvSpPr>
          <p:cNvPr id="761" name="Google Shape;761;p93">
            <a:extLst>
              <a:ext uri="{FF2B5EF4-FFF2-40B4-BE49-F238E27FC236}">
                <a16:creationId xmlns:a16="http://schemas.microsoft.com/office/drawing/2014/main" id="{F62FFD58-2573-6025-AD4B-807D40D03869}"/>
              </a:ext>
            </a:extLst>
          </p:cNvPr>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fontScale="92500" lnSpcReduction="20000"/>
          </a:bodyPr>
          <a:lstStyle/>
          <a:p>
            <a:pPr marL="0" lvl="0" indent="0" algn="just" rtl="0">
              <a:lnSpc>
                <a:spcPct val="107000"/>
              </a:lnSpc>
              <a:spcBef>
                <a:spcPts val="0"/>
              </a:spcBef>
              <a:spcAft>
                <a:spcPts val="0"/>
              </a:spcAft>
              <a:buNone/>
            </a:pPr>
            <a:r>
              <a:rPr lang="es-ES" dirty="0">
                <a:latin typeface="Cambria"/>
                <a:ea typeface="Cambria"/>
                <a:cs typeface="Cambria"/>
                <a:sym typeface="Cambria"/>
              </a:rPr>
              <a:t>Dado que la lógica de negocio y la capa de servicios web han sido completamente terminadas, aisladas y probadas con éxito, se recomienda como trabajo futuro la implementación de aplicaciones cliente utilizando </a:t>
            </a:r>
            <a:r>
              <a:rPr lang="es-ES" dirty="0" err="1">
                <a:latin typeface="Cambria"/>
                <a:ea typeface="Cambria"/>
                <a:cs typeface="Cambria"/>
                <a:sym typeface="Cambria"/>
              </a:rPr>
              <a:t>frameworks</a:t>
            </a:r>
            <a:r>
              <a:rPr lang="es-ES" dirty="0">
                <a:latin typeface="Cambria"/>
                <a:ea typeface="Cambria"/>
                <a:cs typeface="Cambria"/>
                <a:sym typeface="Cambria"/>
              </a:rPr>
              <a:t> modernos como .NET MAUI. Esto permitirá consumir los servicios WCF existentes para desplegar interfaces gráficas nativas en entornos móviles, de escritorio y web, sin necesidad de alterar la arquitectura del backend.</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Aunque el protocolo SOAP cumple cabalmente con los requisitos de transaccionalidad y formalidad del proyecto, se sugiere evaluar a futuro la exposición de </a:t>
            </a:r>
            <a:r>
              <a:rPr lang="es-ES" dirty="0" err="1">
                <a:latin typeface="Cambria"/>
                <a:ea typeface="Cambria"/>
                <a:cs typeface="Cambria"/>
                <a:sym typeface="Cambria"/>
              </a:rPr>
              <a:t>endpoints</a:t>
            </a:r>
            <a:r>
              <a:rPr lang="es-ES" dirty="0">
                <a:latin typeface="Cambria"/>
                <a:ea typeface="Cambria"/>
                <a:cs typeface="Cambria"/>
                <a:sym typeface="Cambria"/>
              </a:rPr>
              <a:t> secundarios basados en el estilo arquitectónico REST. Retornar los datos en formato JSON facilitaría una integración más ligera y directa con aplicaciones </a:t>
            </a:r>
            <a:r>
              <a:rPr lang="es-ES" dirty="0" err="1">
                <a:latin typeface="Cambria"/>
                <a:ea typeface="Cambria"/>
                <a:cs typeface="Cambria"/>
                <a:sym typeface="Cambria"/>
              </a:rPr>
              <a:t>frontend</a:t>
            </a:r>
            <a:r>
              <a:rPr lang="es-ES" dirty="0">
                <a:latin typeface="Cambria"/>
                <a:ea typeface="Cambria"/>
                <a:cs typeface="Cambria"/>
                <a:sym typeface="Cambria"/>
              </a:rPr>
              <a:t> modernas (como </a:t>
            </a:r>
            <a:r>
              <a:rPr lang="es-ES" dirty="0" err="1">
                <a:latin typeface="Cambria"/>
                <a:ea typeface="Cambria"/>
                <a:cs typeface="Cambria"/>
                <a:sym typeface="Cambria"/>
              </a:rPr>
              <a:t>React</a:t>
            </a:r>
            <a:r>
              <a:rPr lang="es-ES" dirty="0">
                <a:latin typeface="Cambria"/>
                <a:ea typeface="Cambria"/>
                <a:cs typeface="Cambria"/>
                <a:sym typeface="Cambria"/>
              </a:rPr>
              <a:t> o Angular) de cara a una expansión del sistema comercial.</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Se recomienda que, al momento de construir las interfaces de usuario definitivas, se implemente un manejo riguroso del ciclo de vida del token de sesión entregado por el servicio de autenticación. El almacenamiento seguro de este token en la memoria local del dispositivo y su eliminación controlada al "Cerrar Sesión", garantizará que la arquitectura se mantenga </a:t>
            </a:r>
            <a:r>
              <a:rPr lang="es-ES" dirty="0" err="1">
                <a:latin typeface="Cambria"/>
                <a:ea typeface="Cambria"/>
                <a:cs typeface="Cambria"/>
                <a:sym typeface="Cambria"/>
              </a:rPr>
              <a:t>stateless</a:t>
            </a:r>
            <a:r>
              <a:rPr lang="es-ES" dirty="0">
                <a:latin typeface="Cambria"/>
                <a:ea typeface="Cambria"/>
                <a:cs typeface="Cambria"/>
                <a:sym typeface="Cambria"/>
              </a:rPr>
              <a:t> (sin estado en el servidor) operando de manera escalable.</a:t>
            </a:r>
          </a:p>
        </p:txBody>
      </p:sp>
      <p:sp>
        <p:nvSpPr>
          <p:cNvPr id="2" name="Google Shape;116;p15">
            <a:extLst>
              <a:ext uri="{FF2B5EF4-FFF2-40B4-BE49-F238E27FC236}">
                <a16:creationId xmlns:a16="http://schemas.microsoft.com/office/drawing/2014/main" id="{4B2D25BF-42CB-1938-6B83-3262802A04DB}"/>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indent="-306000">
              <a:spcBef>
                <a:spcPts val="840"/>
              </a:spcBef>
              <a:buClr>
                <a:srgbClr val="4590B8"/>
              </a:buClr>
              <a:buSzPts val="1104"/>
              <a:buFont typeface="Noto Sans Symbols"/>
              <a:buChar char="◼"/>
            </a:pPr>
            <a:r>
              <a:rPr lang="es-ES" sz="1200" b="1" dirty="0">
                <a:solidFill>
                  <a:schemeClr val="lt1"/>
                </a:solidFill>
                <a:latin typeface="Gill Sans"/>
                <a:sym typeface="Gill Sans"/>
              </a:rPr>
              <a:t>DESARROLLO</a:t>
            </a:r>
            <a:endParaRPr sz="1200" b="1" dirty="0">
              <a:solidFill>
                <a:schemeClr val="lt1"/>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WEB</a:t>
            </a:r>
            <a:endParaRPr sz="1200" b="1" dirty="0">
              <a:solidFill>
                <a:schemeClr val="lt1"/>
              </a:solidFill>
              <a:latin typeface="Gill Sans"/>
            </a:endParaRPr>
          </a:p>
          <a:p>
            <a:pPr marL="306000" indent="-306000">
              <a:spcBef>
                <a:spcPts val="840"/>
              </a:spcBef>
              <a:buClr>
                <a:srgbClr val="4590B8"/>
              </a:buClr>
              <a:buSzPts val="1104"/>
              <a:buFont typeface="Noto Sans Symbols"/>
              <a:buChar char="◼"/>
            </a:pPr>
            <a:r>
              <a:rPr lang="es-ES" sz="1200" b="1" dirty="0">
                <a:solidFill>
                  <a:schemeClr val="lt1"/>
                </a:solidFill>
                <a:latin typeface="Gill Sans"/>
                <a:sym typeface="Gill Sans"/>
              </a:rPr>
              <a:t>CONCLUSIONES</a:t>
            </a:r>
            <a:endParaRPr sz="1200" b="1" dirty="0">
              <a:solidFill>
                <a:schemeClr val="lt1"/>
              </a:solidFill>
              <a:latin typeface="Gill Sans"/>
            </a:endParaRPr>
          </a:p>
          <a:p>
            <a:pPr marL="306000" indent="-306000">
              <a:spcBef>
                <a:spcPts val="840"/>
              </a:spcBef>
              <a:buClr>
                <a:srgbClr val="4590B8"/>
              </a:buClr>
              <a:buSzPts val="1104"/>
              <a:buFont typeface="Noto Sans Symbols"/>
              <a:buChar char="◼"/>
            </a:pPr>
            <a:r>
              <a:rPr lang="es-ES" sz="1200" b="1" dirty="0">
                <a:solidFill>
                  <a:srgbClr val="FFFF00"/>
                </a:solidFill>
                <a:latin typeface="Gill Sans"/>
                <a:sym typeface="Gill Sans"/>
              </a:rPr>
              <a:t>RECOMENDACIONES</a:t>
            </a: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BIBLIOGRAFIA</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1192301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59">
          <a:extLst>
            <a:ext uri="{FF2B5EF4-FFF2-40B4-BE49-F238E27FC236}">
              <a16:creationId xmlns:a16="http://schemas.microsoft.com/office/drawing/2014/main" id="{A14E1A46-ECE6-E381-16ED-64DDF7C92E88}"/>
            </a:ext>
          </a:extLst>
        </p:cNvPr>
        <p:cNvGrpSpPr/>
        <p:nvPr/>
      </p:nvGrpSpPr>
      <p:grpSpPr>
        <a:xfrm>
          <a:off x="0" y="0"/>
          <a:ext cx="0" cy="0"/>
          <a:chOff x="0" y="0"/>
          <a:chExt cx="0" cy="0"/>
        </a:xfrm>
      </p:grpSpPr>
      <p:sp>
        <p:nvSpPr>
          <p:cNvPr id="760" name="Google Shape;760;p93">
            <a:extLst>
              <a:ext uri="{FF2B5EF4-FFF2-40B4-BE49-F238E27FC236}">
                <a16:creationId xmlns:a16="http://schemas.microsoft.com/office/drawing/2014/main" id="{E90A2F17-A0FA-148D-CB54-FB1CF1DE1855}"/>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BIBLIOGRAFÍA</a:t>
            </a:r>
            <a:endParaRPr dirty="0"/>
          </a:p>
        </p:txBody>
      </p:sp>
      <p:sp>
        <p:nvSpPr>
          <p:cNvPr id="761" name="Google Shape;761;p93">
            <a:extLst>
              <a:ext uri="{FF2B5EF4-FFF2-40B4-BE49-F238E27FC236}">
                <a16:creationId xmlns:a16="http://schemas.microsoft.com/office/drawing/2014/main" id="{589C4278-E8D2-861A-E266-9A17062B3E1D}"/>
              </a:ext>
            </a:extLst>
          </p:cNvPr>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fontScale="92500" lnSpcReduction="20000"/>
          </a:bodyPr>
          <a:lstStyle/>
          <a:p>
            <a:pPr marL="0" lvl="0" indent="0" algn="just" rtl="0">
              <a:lnSpc>
                <a:spcPct val="107000"/>
              </a:lnSpc>
              <a:spcBef>
                <a:spcPts val="0"/>
              </a:spcBef>
              <a:spcAft>
                <a:spcPts val="0"/>
              </a:spcAft>
              <a:buNone/>
            </a:pPr>
            <a:r>
              <a:rPr lang="es-ES" dirty="0">
                <a:latin typeface="Cambria"/>
                <a:ea typeface="Cambria"/>
                <a:cs typeface="Cambria"/>
                <a:sym typeface="Cambria"/>
              </a:rPr>
              <a:t>Fielding, R. T. (2000). </a:t>
            </a:r>
            <a:r>
              <a:rPr lang="es-ES" dirty="0" err="1">
                <a:latin typeface="Cambria"/>
                <a:ea typeface="Cambria"/>
                <a:cs typeface="Cambria"/>
                <a:sym typeface="Cambria"/>
              </a:rPr>
              <a:t>Architectural</a:t>
            </a:r>
            <a:r>
              <a:rPr lang="es-ES" dirty="0">
                <a:latin typeface="Cambria"/>
                <a:ea typeface="Cambria"/>
                <a:cs typeface="Cambria"/>
                <a:sym typeface="Cambria"/>
              </a:rPr>
              <a:t> </a:t>
            </a:r>
            <a:r>
              <a:rPr lang="es-ES" dirty="0" err="1">
                <a:latin typeface="Cambria"/>
                <a:ea typeface="Cambria"/>
                <a:cs typeface="Cambria"/>
                <a:sym typeface="Cambria"/>
              </a:rPr>
              <a:t>styles</a:t>
            </a:r>
            <a:r>
              <a:rPr lang="es-ES" dirty="0">
                <a:latin typeface="Cambria"/>
                <a:ea typeface="Cambria"/>
                <a:cs typeface="Cambria"/>
                <a:sym typeface="Cambria"/>
              </a:rPr>
              <a:t> and </a:t>
            </a:r>
            <a:r>
              <a:rPr lang="es-ES" dirty="0" err="1">
                <a:latin typeface="Cambria"/>
                <a:ea typeface="Cambria"/>
                <a:cs typeface="Cambria"/>
                <a:sym typeface="Cambria"/>
              </a:rPr>
              <a:t>the</a:t>
            </a:r>
            <a:r>
              <a:rPr lang="es-ES" dirty="0">
                <a:latin typeface="Cambria"/>
                <a:ea typeface="Cambria"/>
                <a:cs typeface="Cambria"/>
                <a:sym typeface="Cambria"/>
              </a:rPr>
              <a:t> </a:t>
            </a:r>
            <a:r>
              <a:rPr lang="es-ES" dirty="0" err="1">
                <a:latin typeface="Cambria"/>
                <a:ea typeface="Cambria"/>
                <a:cs typeface="Cambria"/>
                <a:sym typeface="Cambria"/>
              </a:rPr>
              <a:t>design</a:t>
            </a:r>
            <a:r>
              <a:rPr lang="es-ES" dirty="0">
                <a:latin typeface="Cambria"/>
                <a:ea typeface="Cambria"/>
                <a:cs typeface="Cambria"/>
                <a:sym typeface="Cambria"/>
              </a:rPr>
              <a:t> </a:t>
            </a:r>
            <a:r>
              <a:rPr lang="es-ES" dirty="0" err="1">
                <a:latin typeface="Cambria"/>
                <a:ea typeface="Cambria"/>
                <a:cs typeface="Cambria"/>
                <a:sym typeface="Cambria"/>
              </a:rPr>
              <a:t>of</a:t>
            </a:r>
            <a:r>
              <a:rPr lang="es-ES" dirty="0">
                <a:latin typeface="Cambria"/>
                <a:ea typeface="Cambria"/>
                <a:cs typeface="Cambria"/>
                <a:sym typeface="Cambria"/>
              </a:rPr>
              <a:t> </a:t>
            </a:r>
            <a:r>
              <a:rPr lang="es-ES" dirty="0" err="1">
                <a:latin typeface="Cambria"/>
                <a:ea typeface="Cambria"/>
                <a:cs typeface="Cambria"/>
                <a:sym typeface="Cambria"/>
              </a:rPr>
              <a:t>network-based</a:t>
            </a:r>
            <a:r>
              <a:rPr lang="es-ES" dirty="0">
                <a:latin typeface="Cambria"/>
                <a:ea typeface="Cambria"/>
                <a:cs typeface="Cambria"/>
                <a:sym typeface="Cambria"/>
              </a:rPr>
              <a:t> software 	</a:t>
            </a:r>
            <a:r>
              <a:rPr lang="es-ES" dirty="0" err="1">
                <a:latin typeface="Cambria"/>
                <a:ea typeface="Cambria"/>
                <a:cs typeface="Cambria"/>
                <a:sym typeface="Cambria"/>
              </a:rPr>
              <a:t>architectures</a:t>
            </a:r>
            <a:r>
              <a:rPr lang="es-ES" dirty="0">
                <a:latin typeface="Cambria"/>
                <a:ea typeface="Cambria"/>
                <a:cs typeface="Cambria"/>
                <a:sym typeface="Cambria"/>
              </a:rPr>
              <a:t>. Universidad de California, Irvine.</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Fowler, M. (2006). </a:t>
            </a:r>
            <a:r>
              <a:rPr lang="es-ES" dirty="0" err="1">
                <a:latin typeface="Cambria"/>
                <a:ea typeface="Cambria"/>
                <a:cs typeface="Cambria"/>
                <a:sym typeface="Cambria"/>
              </a:rPr>
              <a:t>Patterns</a:t>
            </a:r>
            <a:r>
              <a:rPr lang="es-ES" dirty="0">
                <a:latin typeface="Cambria"/>
                <a:ea typeface="Cambria"/>
                <a:cs typeface="Cambria"/>
                <a:sym typeface="Cambria"/>
              </a:rPr>
              <a:t> </a:t>
            </a:r>
            <a:r>
              <a:rPr lang="es-ES" dirty="0" err="1">
                <a:latin typeface="Cambria"/>
                <a:ea typeface="Cambria"/>
                <a:cs typeface="Cambria"/>
                <a:sym typeface="Cambria"/>
              </a:rPr>
              <a:t>of</a:t>
            </a:r>
            <a:r>
              <a:rPr lang="es-ES" dirty="0">
                <a:latin typeface="Cambria"/>
                <a:ea typeface="Cambria"/>
                <a:cs typeface="Cambria"/>
                <a:sym typeface="Cambria"/>
              </a:rPr>
              <a:t> Enterprise </a:t>
            </a:r>
            <a:r>
              <a:rPr lang="es-ES" dirty="0" err="1">
                <a:latin typeface="Cambria"/>
                <a:ea typeface="Cambria"/>
                <a:cs typeface="Cambria"/>
                <a:sym typeface="Cambria"/>
              </a:rPr>
              <a:t>Application</a:t>
            </a:r>
            <a:r>
              <a:rPr lang="es-ES" dirty="0">
                <a:latin typeface="Cambria"/>
                <a:ea typeface="Cambria"/>
                <a:cs typeface="Cambria"/>
                <a:sym typeface="Cambria"/>
              </a:rPr>
              <a:t> Architecture. Addison-Wesley 	Professional.</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Red </a:t>
            </a:r>
            <a:r>
              <a:rPr lang="es-ES" dirty="0" err="1">
                <a:latin typeface="Cambria"/>
                <a:ea typeface="Cambria"/>
                <a:cs typeface="Cambria"/>
                <a:sym typeface="Cambria"/>
              </a:rPr>
              <a:t>Hat</a:t>
            </a:r>
            <a:r>
              <a:rPr lang="es-ES" dirty="0">
                <a:latin typeface="Cambria"/>
                <a:ea typeface="Cambria"/>
                <a:cs typeface="Cambria"/>
                <a:sym typeface="Cambria"/>
              </a:rPr>
              <a:t>. (2026). ¿Qué es la arquitectura orientada a los servicios - SOA? Recuperado de los 	archivos del proyecto.</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Fowler, M. (2006). </a:t>
            </a:r>
            <a:r>
              <a:rPr lang="es-ES" dirty="0" err="1">
                <a:latin typeface="Cambria"/>
                <a:ea typeface="Cambria"/>
                <a:cs typeface="Cambria"/>
                <a:sym typeface="Cambria"/>
              </a:rPr>
              <a:t>Patterns</a:t>
            </a:r>
            <a:r>
              <a:rPr lang="es-ES" dirty="0">
                <a:latin typeface="Cambria"/>
                <a:ea typeface="Cambria"/>
                <a:cs typeface="Cambria"/>
                <a:sym typeface="Cambria"/>
              </a:rPr>
              <a:t> </a:t>
            </a:r>
            <a:r>
              <a:rPr lang="es-ES" dirty="0" err="1">
                <a:latin typeface="Cambria"/>
                <a:ea typeface="Cambria"/>
                <a:cs typeface="Cambria"/>
                <a:sym typeface="Cambria"/>
              </a:rPr>
              <a:t>of</a:t>
            </a:r>
            <a:r>
              <a:rPr lang="es-ES" dirty="0">
                <a:latin typeface="Cambria"/>
                <a:ea typeface="Cambria"/>
                <a:cs typeface="Cambria"/>
                <a:sym typeface="Cambria"/>
              </a:rPr>
              <a:t> Enterprise </a:t>
            </a:r>
            <a:r>
              <a:rPr lang="es-ES" dirty="0" err="1">
                <a:latin typeface="Cambria"/>
                <a:ea typeface="Cambria"/>
                <a:cs typeface="Cambria"/>
                <a:sym typeface="Cambria"/>
              </a:rPr>
              <a:t>Application</a:t>
            </a:r>
            <a:r>
              <a:rPr lang="es-ES" dirty="0">
                <a:latin typeface="Cambria"/>
                <a:ea typeface="Cambria"/>
                <a:cs typeface="Cambria"/>
                <a:sym typeface="Cambria"/>
              </a:rPr>
              <a:t> Architecture. Addison-Wesley 	Professional.</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Martínez, G. A. (2021). Qué es REST, </a:t>
            </a:r>
            <a:r>
              <a:rPr lang="es-ES" dirty="0" err="1">
                <a:latin typeface="Cambria"/>
                <a:ea typeface="Cambria"/>
                <a:cs typeface="Cambria"/>
                <a:sym typeface="Cambria"/>
              </a:rPr>
              <a:t>RESTFul</a:t>
            </a:r>
            <a:r>
              <a:rPr lang="es-ES" dirty="0">
                <a:latin typeface="Cambria"/>
                <a:ea typeface="Cambria"/>
                <a:cs typeface="Cambria"/>
                <a:sym typeface="Cambria"/>
              </a:rPr>
              <a:t>, API </a:t>
            </a:r>
            <a:r>
              <a:rPr lang="es-ES" dirty="0" err="1">
                <a:latin typeface="Cambria"/>
                <a:ea typeface="Cambria"/>
                <a:cs typeface="Cambria"/>
                <a:sym typeface="Cambria"/>
              </a:rPr>
              <a:t>RESTFul</a:t>
            </a:r>
            <a:r>
              <a:rPr lang="es-ES" dirty="0">
                <a:latin typeface="Cambria"/>
                <a:ea typeface="Cambria"/>
                <a:cs typeface="Cambria"/>
                <a:sym typeface="Cambria"/>
              </a:rPr>
              <a:t> y JSON. Brave </a:t>
            </a:r>
            <a:r>
              <a:rPr lang="es-ES" dirty="0" err="1">
                <a:latin typeface="Cambria"/>
                <a:ea typeface="Cambria"/>
                <a:cs typeface="Cambria"/>
                <a:sym typeface="Cambria"/>
              </a:rPr>
              <a:t>Developer</a:t>
            </a:r>
            <a:r>
              <a:rPr lang="es-ES" dirty="0">
                <a:latin typeface="Cambria"/>
                <a:ea typeface="Cambria"/>
                <a:cs typeface="Cambria"/>
                <a:sym typeface="Cambria"/>
              </a:rPr>
              <a:t>. 	Recuperado de los archivos del proyecto.</a:t>
            </a:r>
          </a:p>
          <a:p>
            <a:pPr marL="0" lvl="0" indent="0" algn="just" rtl="0">
              <a:lnSpc>
                <a:spcPct val="107000"/>
              </a:lnSpc>
              <a:spcBef>
                <a:spcPts val="0"/>
              </a:spcBef>
              <a:spcAft>
                <a:spcPts val="0"/>
              </a:spcAft>
              <a:buNone/>
            </a:pPr>
            <a:endParaRPr lang="es-ES"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Sumo Logic. (2026). </a:t>
            </a:r>
            <a:r>
              <a:rPr lang="es-ES" dirty="0" err="1">
                <a:latin typeface="Cambria"/>
                <a:ea typeface="Cambria"/>
                <a:cs typeface="Cambria"/>
                <a:sym typeface="Cambria"/>
              </a:rPr>
              <a:t>What</a:t>
            </a:r>
            <a:r>
              <a:rPr lang="es-ES" dirty="0">
                <a:latin typeface="Cambria"/>
                <a:ea typeface="Cambria"/>
                <a:cs typeface="Cambria"/>
                <a:sym typeface="Cambria"/>
              </a:rPr>
              <a:t> </a:t>
            </a:r>
            <a:r>
              <a:rPr lang="es-ES" dirty="0" err="1">
                <a:latin typeface="Cambria"/>
                <a:ea typeface="Cambria"/>
                <a:cs typeface="Cambria"/>
                <a:sym typeface="Cambria"/>
              </a:rPr>
              <a:t>is</a:t>
            </a:r>
            <a:r>
              <a:rPr lang="es-ES" dirty="0">
                <a:latin typeface="Cambria"/>
                <a:ea typeface="Cambria"/>
                <a:cs typeface="Cambria"/>
                <a:sym typeface="Cambria"/>
              </a:rPr>
              <a:t> </a:t>
            </a:r>
            <a:r>
              <a:rPr lang="es-ES" dirty="0" err="1">
                <a:latin typeface="Cambria"/>
                <a:ea typeface="Cambria"/>
                <a:cs typeface="Cambria"/>
                <a:sym typeface="Cambria"/>
              </a:rPr>
              <a:t>an</a:t>
            </a:r>
            <a:r>
              <a:rPr lang="es-ES" dirty="0">
                <a:latin typeface="Cambria"/>
                <a:ea typeface="Cambria"/>
                <a:cs typeface="Cambria"/>
                <a:sym typeface="Cambria"/>
              </a:rPr>
              <a:t> IIS server? – </a:t>
            </a:r>
            <a:r>
              <a:rPr lang="es-ES" dirty="0" err="1">
                <a:latin typeface="Cambria"/>
                <a:ea typeface="Cambria"/>
                <a:cs typeface="Cambria"/>
                <a:sym typeface="Cambria"/>
              </a:rPr>
              <a:t>Glossary</a:t>
            </a:r>
            <a:r>
              <a:rPr lang="es-ES" dirty="0">
                <a:latin typeface="Cambria"/>
                <a:ea typeface="Cambria"/>
                <a:cs typeface="Cambria"/>
                <a:sym typeface="Cambria"/>
              </a:rPr>
              <a:t>.</a:t>
            </a:r>
          </a:p>
          <a:p>
            <a:pPr marL="0" lvl="0" indent="0" algn="just" rtl="0">
              <a:lnSpc>
                <a:spcPct val="107000"/>
              </a:lnSpc>
              <a:spcBef>
                <a:spcPts val="0"/>
              </a:spcBef>
              <a:spcAft>
                <a:spcPts val="0"/>
              </a:spcAft>
              <a:buNone/>
            </a:pPr>
            <a:r>
              <a:rPr lang="es-ES" dirty="0">
                <a:latin typeface="Cambria"/>
                <a:ea typeface="Cambria"/>
                <a:cs typeface="Cambria"/>
                <a:sym typeface="Cambria"/>
              </a:rPr>
              <a:t>	</a:t>
            </a:r>
            <a:r>
              <a:rPr lang="es-ES" dirty="0" err="1">
                <a:latin typeface="Cambria"/>
                <a:ea typeface="Cambria"/>
                <a:cs typeface="Cambria"/>
                <a:sym typeface="Cambria"/>
              </a:rPr>
              <a:t>GeeksforGeeks</a:t>
            </a:r>
            <a:r>
              <a:rPr lang="es-ES" dirty="0">
                <a:latin typeface="Cambria"/>
                <a:ea typeface="Cambria"/>
                <a:cs typeface="Cambria"/>
                <a:sym typeface="Cambria"/>
              </a:rPr>
              <a:t>. (2025). </a:t>
            </a:r>
            <a:r>
              <a:rPr lang="es-ES" dirty="0" err="1">
                <a:latin typeface="Cambria"/>
                <a:ea typeface="Cambria"/>
                <a:cs typeface="Cambria"/>
                <a:sym typeface="Cambria"/>
              </a:rPr>
              <a:t>Difference</a:t>
            </a:r>
            <a:r>
              <a:rPr lang="es-ES" dirty="0">
                <a:latin typeface="Cambria"/>
                <a:ea typeface="Cambria"/>
                <a:cs typeface="Cambria"/>
                <a:sym typeface="Cambria"/>
              </a:rPr>
              <a:t> </a:t>
            </a:r>
            <a:r>
              <a:rPr lang="es-ES" dirty="0" err="1">
                <a:latin typeface="Cambria"/>
                <a:ea typeface="Cambria"/>
                <a:cs typeface="Cambria"/>
                <a:sym typeface="Cambria"/>
              </a:rPr>
              <a:t>between</a:t>
            </a:r>
            <a:r>
              <a:rPr lang="es-ES" dirty="0">
                <a:latin typeface="Cambria"/>
                <a:ea typeface="Cambria"/>
                <a:cs typeface="Cambria"/>
                <a:sym typeface="Cambria"/>
              </a:rPr>
              <a:t> SOAP and WSDL. Recuperado de los 	archivos del proyecto.</a:t>
            </a:r>
          </a:p>
        </p:txBody>
      </p:sp>
      <p:sp>
        <p:nvSpPr>
          <p:cNvPr id="2" name="Google Shape;116;p15">
            <a:extLst>
              <a:ext uri="{FF2B5EF4-FFF2-40B4-BE49-F238E27FC236}">
                <a16:creationId xmlns:a16="http://schemas.microsoft.com/office/drawing/2014/main" id="{D15B20C2-6678-4C44-75AD-A5CF5E05EB81}"/>
              </a:ext>
            </a:extLst>
          </p:cNvPr>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indent="-306000">
              <a:spcBef>
                <a:spcPts val="840"/>
              </a:spcBef>
              <a:buClr>
                <a:srgbClr val="4590B8"/>
              </a:buClr>
              <a:buSzPts val="1104"/>
              <a:buFont typeface="Noto Sans Symbols"/>
              <a:buChar char="◼"/>
            </a:pPr>
            <a:r>
              <a:rPr lang="es-ES" sz="1200" b="1" dirty="0">
                <a:solidFill>
                  <a:schemeClr val="lt1"/>
                </a:solidFill>
                <a:latin typeface="Gill Sans"/>
                <a:sym typeface="Gill Sans"/>
              </a:rPr>
              <a:t>DESARROLLO</a:t>
            </a:r>
            <a:endParaRPr sz="1200" b="1" dirty="0">
              <a:solidFill>
                <a:schemeClr val="lt1"/>
              </a:solidFill>
              <a:latin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dirty="0">
                <a:solidFill>
                  <a:schemeClr val="lt1"/>
                </a:solidFill>
                <a:latin typeface="Gill Sans"/>
                <a:sym typeface="Gill Sans"/>
              </a:rPr>
              <a:t>OBJETIVO</a:t>
            </a:r>
          </a:p>
          <a:p>
            <a:pPr marL="763200" lvl="1" indent="-306000">
              <a:spcBef>
                <a:spcPts val="840"/>
              </a:spcBef>
              <a:buClr>
                <a:srgbClr val="4590B8"/>
              </a:buClr>
              <a:buSzPts val="1104"/>
              <a:buFont typeface="Noto Sans Symbols"/>
              <a:buChar char="◼"/>
            </a:pPr>
            <a:r>
              <a:rPr lang="es-ES" sz="1200" b="1" dirty="0">
                <a:solidFill>
                  <a:schemeClr val="lt1"/>
                </a:solidFill>
                <a:latin typeface="Gill Sans"/>
              </a:rPr>
              <a:t>DISEÑO Y ARQUITECTURA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SERVIDOR SOAP</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CONSOLA</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MÓVIL</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ESCRITORIO</a:t>
            </a:r>
            <a:endParaRPr sz="1200" b="1" dirty="0">
              <a:solidFill>
                <a:schemeClr val="lt1"/>
              </a:solidFill>
              <a:latin typeface="Gill Sans"/>
            </a:endParaRPr>
          </a:p>
          <a:p>
            <a:pPr marL="763200" lvl="1" indent="-306000">
              <a:spcBef>
                <a:spcPts val="840"/>
              </a:spcBef>
              <a:buClr>
                <a:srgbClr val="4590B8"/>
              </a:buClr>
              <a:buSzPts val="1104"/>
              <a:buFont typeface="Noto Sans Symbols"/>
              <a:buChar char="◼"/>
            </a:pPr>
            <a:r>
              <a:rPr lang="es-ES" sz="1200" b="1" dirty="0">
                <a:solidFill>
                  <a:schemeClr val="lt1"/>
                </a:solidFill>
                <a:latin typeface="Gill Sans"/>
                <a:sym typeface="Gill Sans"/>
              </a:rPr>
              <a:t>CREACIÓN DEL PROYECTO – CLIENTE WEB</a:t>
            </a:r>
            <a:endParaRPr sz="1200" b="1" dirty="0">
              <a:solidFill>
                <a:schemeClr val="lt1"/>
              </a:solidFill>
              <a:latin typeface="Gill Sans"/>
            </a:endParaRPr>
          </a:p>
          <a:p>
            <a:pPr marL="306000" indent="-306000">
              <a:spcBef>
                <a:spcPts val="840"/>
              </a:spcBef>
              <a:buClr>
                <a:srgbClr val="4590B8"/>
              </a:buClr>
              <a:buSzPts val="1104"/>
              <a:buFont typeface="Noto Sans Symbols"/>
              <a:buChar char="◼"/>
            </a:pPr>
            <a:r>
              <a:rPr lang="es-ES" sz="1200" b="1" dirty="0">
                <a:solidFill>
                  <a:schemeClr val="lt1"/>
                </a:solidFill>
                <a:latin typeface="Gill Sans"/>
                <a:sym typeface="Gill Sans"/>
              </a:rPr>
              <a:t>CONCLUSIONES</a:t>
            </a:r>
            <a:endParaRPr sz="1200" b="1" dirty="0">
              <a:solidFill>
                <a:schemeClr val="lt1"/>
              </a:solidFill>
              <a:latin typeface="Gill Sans"/>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p>
          <a:p>
            <a:pPr marL="306000" indent="-306000">
              <a:spcBef>
                <a:spcPts val="840"/>
              </a:spcBef>
              <a:buClr>
                <a:srgbClr val="4590B8"/>
              </a:buClr>
              <a:buSzPts val="1104"/>
              <a:buFont typeface="Noto Sans Symbols"/>
              <a:buChar char="◼"/>
            </a:pPr>
            <a:r>
              <a:rPr lang="es-ES" sz="1200" b="1" dirty="0">
                <a:solidFill>
                  <a:srgbClr val="FFFF00"/>
                </a:solidFill>
                <a:latin typeface="Gill Sans"/>
                <a:sym typeface="Gill Sans"/>
              </a:rPr>
              <a:t>BIBLIOGRAFIA</a:t>
            </a:r>
            <a:endParaRPr sz="1200" b="1" dirty="0">
              <a:solidFill>
                <a:srgbClr val="FFFF00"/>
              </a:solidFill>
              <a:latin typeface="Gill Sans"/>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4534460"/>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4872</Words>
  <Application>Microsoft Office PowerPoint</Application>
  <PresentationFormat>Panorámica</PresentationFormat>
  <Paragraphs>916</Paragraphs>
  <Slides>55</Slides>
  <Notes>55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55</vt:i4>
      </vt:variant>
    </vt:vector>
  </HeadingPairs>
  <TitlesOfParts>
    <vt:vector size="60" baseType="lpstr">
      <vt:lpstr>Gill Sans</vt:lpstr>
      <vt:lpstr>Cambria</vt:lpstr>
      <vt:lpstr>Arial</vt:lpstr>
      <vt:lpstr>Noto Sans Symbols</vt:lpstr>
      <vt:lpstr>Dividendo</vt:lpstr>
      <vt:lpstr> SISTEMA TICKET PREMIUM MONSTER CON SOAP CON BDD LOCAL EN DOTNET</vt:lpstr>
      <vt:lpstr>Presentación de PowerPoint</vt:lpstr>
      <vt:lpstr>DESARROLLO - OBJETIVO</vt:lpstr>
      <vt:lpstr>DESARROLLO - OBJETIVO</vt:lpstr>
      <vt:lpstr>DESARROLLO – DISEÑO Y ARQUITECTURA</vt:lpstr>
      <vt:lpstr>DESARROLLO – DISEÑO Y ARQUITECTURA</vt:lpstr>
      <vt:lpstr>DESARROLLO – DISEÑO Y ARQUITECTURA</vt:lpstr>
      <vt:lpstr>DESARROLLO – DISEÑO Y ARQUITECTURA</vt:lpstr>
      <vt:lpstr>DESARROLLO – DISEÑO Y ARQUITECTURA</vt:lpstr>
      <vt:lpstr>DESARROLLO – DISEÑO Y ARQUITECTURA</vt:lpstr>
      <vt:lpstr>DESARROLLO – DISEÑO Y ARQUITECTURA</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DEL SERVIDOR SOAP</vt:lpstr>
      <vt:lpstr>DESARROLLO - CREACIÓN DE CLIENTE CONSOLA</vt:lpstr>
      <vt:lpstr>DESARROLLO - CREACIÓN DE CLIENTE CONSOLA</vt:lpstr>
      <vt:lpstr>DESARROLLO - CREACIÓN DE CLIENTE CONSOLA</vt:lpstr>
      <vt:lpstr>DESARROLLO - CREACIÓN DE CLIENTE CONSOLA</vt:lpstr>
      <vt:lpstr>DESARROLLO - CREACIÓN DE CLIENTE CONSOLA</vt:lpstr>
      <vt:lpstr>DESARROLLO - CREACIÓN DE CLIENTE CONSOLA</vt:lpstr>
      <vt:lpstr>DESARROLLO - CREACIÓN DE CLIENTE CONSOLA</vt:lpstr>
      <vt:lpstr>DESARROLLO - CREACIÓN DE CLIENTE MÓVIL</vt:lpstr>
      <vt:lpstr>DESARROLLO - CREACIÓN DE CLIENTE MÓVIL</vt:lpstr>
      <vt:lpstr>DESARROLLO - CREACIÓN DE CLIENTE MÓVIL</vt:lpstr>
      <vt:lpstr>DESARROLLO - CREACIÓN DE CLIENTE MÓVIL</vt:lpstr>
      <vt:lpstr>DESARROLLO - CREACIÓN DE CLIENTE MÓVIL</vt:lpstr>
      <vt:lpstr>DESARROLLO - CREACIÓN DE CLIENTE MÓVIL</vt:lpstr>
      <vt:lpstr>DESARROLLO - CREACIÓN DE CLIENTE ESCRITORIO</vt:lpstr>
      <vt:lpstr>DESARROLLO - CREACIÓN DE CLIENTE ESCRITORIO</vt:lpstr>
      <vt:lpstr>DESARROLLO - CREACIÓN DE CLIENTE ESCRITORIO</vt:lpstr>
      <vt:lpstr>DESARROLLO - CREACIÓN DE CLIENTE ESCRITORIO</vt:lpstr>
      <vt:lpstr>DESARROLLO - CREACIÓN DE CLIENTE WEB</vt:lpstr>
      <vt:lpstr>DESARROLLO - CREACIÓN DE CLIENTE WEB</vt:lpstr>
      <vt:lpstr>DESARROLLO - CREACIÓN DE CLIENTE WEB</vt:lpstr>
      <vt:lpstr>DESARROLLO - CREACIÓN DE CLIENTE WEB</vt:lpstr>
      <vt:lpstr>DESARROLLO - CREACIÓN DE CLIENTE WEB</vt:lpstr>
      <vt:lpstr>DESARROLLO - CREACIÓN DE CLIENTE WEB</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JHON ALEXANDER MUNARCO SANTOS</cp:lastModifiedBy>
  <cp:revision>16</cp:revision>
  <dcterms:modified xsi:type="dcterms:W3CDTF">2026-05-20T13:28:28Z</dcterms:modified>
</cp:coreProperties>
</file>